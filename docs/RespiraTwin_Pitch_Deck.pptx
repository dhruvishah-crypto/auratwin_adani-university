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8"/>
          <c:y val="0.03"/>
          <c:w val="0.86"/>
          <c:h val="0.91"/>
        </c:manualLayout>
      </c:layout>
      <c:barChart>
        <c:barDir val="col"/>
        <c:grouping val="clustered"/>
        <c:varyColors val="0"/>
        <c:ser>
          <c:idx val="0"/>
          <c:order val="0"/>
          <c:tx>
            <c:strRef>
              <c:f>Sheet1!$B$1</c:f>
              <c:strCache>
                <c:ptCount val="1"/>
                <c:pt idx="0">
                  <c:v>Observed event rate</c:v>
                </c:pt>
              </c:strCache>
            </c:strRef>
          </c:tx>
          <c:spPr>
            <a:solidFill>
              <a:srgbClr val="0E6671"/>
            </a:solidFill>
            <a:effectLst/>
          </c:spPr>
          <c:invertIfNegative val="0"/>
          <c:dLbls>
            <c:numFmt formatCode="0.0&quot;%&quot;" sourceLinked="0"/>
            <c:spPr>
              <a:noFill/>
              <a:ln>
                <a:noFill/>
              </a:ln>
              <a:effectLst/>
            </c:spPr>
            <c:txPr>
              <a:bodyPr/>
              <a:lstStyle/>
              <a:p>
                <a:pPr>
                  <a:defRPr sz="1500" b="1" i="0" u="none" strike="noStrike">
                    <a:solidFill>
                      <a:srgbClr val="113E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Low</c:v>
                </c:pt>
                <c:pt idx="1">
                  <c:v>Watch</c:v>
                </c:pt>
                <c:pt idx="2">
                  <c:v>High</c:v>
                </c:pt>
              </c:strCache>
            </c:strRef>
          </c:cat>
          <c:val>
            <c:numRef>
              <c:f>Sheet1!$B$2:$B$4</c:f>
              <c:numCache>
                <c:formatCode>General</c:formatCode>
                <c:ptCount val="3"/>
                <c:pt idx="0">
                  <c:v>2.6</c:v>
                </c:pt>
                <c:pt idx="1">
                  <c:v>9.3000000000000007</c:v>
                </c:pt>
                <c:pt idx="2">
                  <c:v>38.4</c:v>
                </c:pt>
              </c:numCache>
            </c:numRef>
          </c:val>
          <c:extLst>
            <c:ext xmlns:c16="http://schemas.microsoft.com/office/drawing/2014/chart" uri="{C3380CC4-5D6E-409C-BE32-E72D297353CC}">
              <c16:uniqueId val="{00000000-1E53-463D-BF55-89320557784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none"/>
        <c:minorTickMark val="none"/>
        <c:tickLblPos val="low"/>
        <c:spPr>
          <a:ln w="12700" cap="flat">
            <a:noFill/>
            <a:prstDash val="solid"/>
            <a:round/>
          </a:ln>
        </c:spPr>
        <c:txPr>
          <a:bodyPr/>
          <a:lstStyle/>
          <a:p>
            <a:pPr>
              <a:defRPr sz="1300" b="0" i="0" u="none" strike="noStrike">
                <a:solidFill>
                  <a:srgbClr val="172D33"/>
                </a:solidFill>
                <a:latin typeface="Calibri"/>
              </a:defRPr>
            </a:pPr>
            <a:endParaRPr lang="en-US"/>
          </a:p>
        </c:txPr>
        <c:crossAx val="2094734552"/>
        <c:crosses val="autoZero"/>
        <c:auto val="1"/>
        <c:lblAlgn val="ctr"/>
        <c:lblOffset val="100"/>
        <c:noMultiLvlLbl val="1"/>
      </c:catAx>
      <c:valAx>
        <c:axId val="2094734552"/>
        <c:scaling>
          <c:orientation val="minMax"/>
          <c:max val="45"/>
          <c:min val="0"/>
        </c:scaling>
        <c:delete val="1"/>
        <c:axPos val="l"/>
        <c:numFmt formatCode="General" sourceLinked="0"/>
        <c:majorTickMark val="out"/>
        <c:minorTickMark val="none"/>
        <c:tickLblPos val="nextTo"/>
        <c:crossAx val="2094734554"/>
        <c:crosses val="autoZero"/>
        <c:crossBetween val="between"/>
        <c:majorUnit val="10"/>
      </c:valAx>
      <c:spPr>
        <a:solidFill>
          <a:srgbClr val="F7F9FA">
            <a:alpha val="0"/>
          </a:srgbClr>
        </a:solidFill>
        <a:ln w="12700" cap="flat">
          <a:solidFill>
            <a:srgbClr val="F7F9FA"/>
          </a:solidFill>
        </a:ln>
        <a:effectLst/>
      </c:spPr>
    </c:plotArea>
    <c:plotVisOnly val="1"/>
    <c:dispBlanksAs val="span"/>
    <c:showDLblsOverMax val="1"/>
  </c:chart>
  <c:spPr>
    <a:solidFill>
      <a:srgbClr val="F7F9FA">
        <a:alpha val="0"/>
      </a:srgbClr>
    </a:solidFill>
    <a:ln w="12700" cap="flat">
      <a:solidFill>
        <a:srgbClr val="F7F9FA"/>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Onset status</c:v>
                </c:pt>
              </c:strCache>
            </c:strRef>
          </c:tx>
          <c:spPr>
            <a:solidFill>
              <a:schemeClr val="accent1"/>
            </a:solidFill>
            <a:ln w="9525" cap="flat">
              <a:solidFill>
                <a:srgbClr val="F9F9F9"/>
              </a:solidFill>
              <a:prstDash val="solid"/>
              <a:round/>
            </a:ln>
            <a:effectLst/>
          </c:spPr>
          <c:dPt>
            <c:idx val="0"/>
            <c:bubble3D val="0"/>
            <c:spPr>
              <a:solidFill>
                <a:srgbClr val="0E6671"/>
              </a:solidFill>
              <a:effectLst/>
            </c:spPr>
            <c:extLst>
              <c:ext xmlns:c16="http://schemas.microsoft.com/office/drawing/2014/chart" uri="{C3380CC4-5D6E-409C-BE32-E72D297353CC}">
                <c16:uniqueId val="{00000001-A263-4FAF-A585-37CCE72230B0}"/>
              </c:ext>
            </c:extLst>
          </c:dPt>
          <c:dPt>
            <c:idx val="1"/>
            <c:bubble3D val="0"/>
            <c:spPr>
              <a:solidFill>
                <a:srgbClr val="D97706"/>
              </a:solidFill>
              <a:effectLst/>
            </c:spPr>
            <c:extLst>
              <c:ext xmlns:c16="http://schemas.microsoft.com/office/drawing/2014/chart" uri="{C3380CC4-5D6E-409C-BE32-E72D297353CC}">
                <c16:uniqueId val="{00000003-A263-4FAF-A585-37CCE72230B0}"/>
              </c:ext>
            </c:extLst>
          </c:dPt>
          <c:dPt>
            <c:idx val="2"/>
            <c:bubble3D val="0"/>
            <c:spPr>
              <a:solidFill>
                <a:srgbClr val="B91C1C"/>
              </a:solidFill>
              <a:effectLst/>
            </c:spPr>
            <c:extLst>
              <c:ext xmlns:c16="http://schemas.microsoft.com/office/drawing/2014/chart" uri="{C3380CC4-5D6E-409C-BE32-E72D297353CC}">
                <c16:uniqueId val="{00000005-A263-4FAF-A585-37CCE72230B0}"/>
              </c:ext>
            </c:extLst>
          </c:dPt>
          <c:cat>
            <c:strRef>
              <c:f>Sheet1!$A$2:$A$4</c:f>
              <c:strCache>
                <c:ptCount val="3"/>
                <c:pt idx="0">
                  <c:v>Anticipated</c:v>
                </c:pt>
                <c:pt idx="1">
                  <c:v>Late detection</c:v>
                </c:pt>
                <c:pt idx="2">
                  <c:v>Missed</c:v>
                </c:pt>
              </c:strCache>
            </c:strRef>
          </c:cat>
          <c:val>
            <c:numRef>
              <c:f>Sheet1!$B$2:$B$4</c:f>
              <c:numCache>
                <c:formatCode>General</c:formatCode>
                <c:ptCount val="3"/>
                <c:pt idx="0">
                  <c:v>162</c:v>
                </c:pt>
                <c:pt idx="1">
                  <c:v>11</c:v>
                </c:pt>
                <c:pt idx="2">
                  <c:v>33</c:v>
                </c:pt>
              </c:numCache>
            </c:numRef>
          </c:val>
          <c:extLst>
            <c:ext xmlns:c16="http://schemas.microsoft.com/office/drawing/2014/chart" uri="{C3380CC4-5D6E-409C-BE32-E72D297353CC}">
              <c16:uniqueId val="{00000006-A263-4FAF-A585-37CCE72230B0}"/>
            </c:ext>
          </c:extLst>
        </c:ser>
        <c:dLbls>
          <c:showLegendKey val="0"/>
          <c:showVal val="0"/>
          <c:showCatName val="0"/>
          <c:showSerName val="0"/>
          <c:showPercent val="0"/>
          <c:showBubbleSize val="0"/>
          <c:showLeaderLines val="0"/>
        </c:dLbls>
        <c:firstSliceAng val="270"/>
        <c:holeSize val="64"/>
      </c:doughnutChart>
      <c:spPr>
        <a:solidFill>
          <a:srgbClr val="F7F9FA">
            <a:alpha val="0"/>
          </a:srgbClr>
        </a:solidFill>
        <a:ln w="12700" cap="flat">
          <a:solidFill>
            <a:srgbClr val="F7F9FA"/>
          </a:solidFill>
        </a:ln>
        <a:effectLst/>
      </c:spPr>
    </c:plotArea>
    <c:plotVisOnly val="1"/>
    <c:dispBlanksAs val="span"/>
    <c:showDLblsOverMax val="1"/>
  </c:chart>
  <c:spPr>
    <a:solidFill>
      <a:srgbClr val="F7F9FA">
        <a:alpha val="0"/>
      </a:srgbClr>
    </a:solidFill>
    <a:ln w="12700" cap="flat">
      <a:solidFill>
        <a:srgbClr val="F7F9FA"/>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03"/>
          <c:w val="0.82"/>
          <c:h val="0.92"/>
        </c:manualLayout>
      </c:layout>
      <c:barChart>
        <c:barDir val="bar"/>
        <c:grouping val="clustered"/>
        <c:varyColors val="0"/>
        <c:ser>
          <c:idx val="0"/>
          <c:order val="0"/>
          <c:tx>
            <c:strRef>
              <c:f>Sheet1!$B$1</c:f>
              <c:strCache>
                <c:ptCount val="1"/>
                <c:pt idx="0">
                  <c:v>Alert precision</c:v>
                </c:pt>
              </c:strCache>
            </c:strRef>
          </c:tx>
          <c:spPr>
            <a:solidFill>
              <a:srgbClr val="0E6671"/>
            </a:solidFill>
            <a:effectLst/>
          </c:spPr>
          <c:invertIfNegative val="0"/>
          <c:dLbls>
            <c:numFmt formatCode="0.0&quot;%&quot;" sourceLinked="0"/>
            <c:spPr>
              <a:noFill/>
              <a:ln>
                <a:noFill/>
              </a:ln>
              <a:effectLst/>
            </c:spPr>
            <c:txPr>
              <a:bodyPr/>
              <a:lstStyle/>
              <a:p>
                <a:pPr>
                  <a:defRPr sz="1300" b="1" i="0" u="none" strike="noStrike">
                    <a:solidFill>
                      <a:srgbClr val="113E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RespiraTwin</c:v>
                </c:pt>
                <c:pt idx="1">
                  <c:v>PM2.5 rule</c:v>
                </c:pt>
                <c:pt idx="2">
                  <c:v>PM2.5 + low adherence</c:v>
                </c:pt>
                <c:pt idx="3">
                  <c:v>Random schedule</c:v>
                </c:pt>
              </c:strCache>
            </c:strRef>
          </c:cat>
          <c:val>
            <c:numRef>
              <c:f>Sheet1!$B$2:$B$5</c:f>
              <c:numCache>
                <c:formatCode>General</c:formatCode>
                <c:ptCount val="4"/>
                <c:pt idx="0">
                  <c:v>48.9</c:v>
                </c:pt>
                <c:pt idx="1">
                  <c:v>9</c:v>
                </c:pt>
                <c:pt idx="2">
                  <c:v>12.9</c:v>
                </c:pt>
                <c:pt idx="3">
                  <c:v>7.7</c:v>
                </c:pt>
              </c:numCache>
            </c:numRef>
          </c:val>
          <c:extLst>
            <c:ext xmlns:c16="http://schemas.microsoft.com/office/drawing/2014/chart" uri="{C3380CC4-5D6E-409C-BE32-E72D297353CC}">
              <c16:uniqueId val="{00000000-BB35-4405-84AC-ECF52D7C123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172D33"/>
                </a:solidFill>
                <a:latin typeface="Calibri"/>
              </a:defRPr>
            </a:pPr>
            <a:endParaRPr lang="en-US"/>
          </a:p>
        </c:txPr>
        <c:crossAx val="2094734552"/>
        <c:crosses val="autoZero"/>
        <c:auto val="1"/>
        <c:lblAlgn val="ctr"/>
        <c:lblOffset val="100"/>
        <c:noMultiLvlLbl val="1"/>
      </c:catAx>
      <c:valAx>
        <c:axId val="2094734552"/>
        <c:scaling>
          <c:orientation val="minMax"/>
          <c:max val="55"/>
          <c:min val="0"/>
        </c:scaling>
        <c:delete val="1"/>
        <c:axPos val="b"/>
        <c:numFmt formatCode="General" sourceLinked="0"/>
        <c:majorTickMark val="out"/>
        <c:minorTickMark val="none"/>
        <c:tickLblPos val="low"/>
        <c:crossAx val="2094734554"/>
        <c:crosses val="autoZero"/>
        <c:crossBetween val="between"/>
      </c:valAx>
      <c:spPr>
        <a:solidFill>
          <a:srgbClr val="F7F9FA">
            <a:alpha val="0"/>
          </a:srgbClr>
        </a:solidFill>
        <a:ln w="12700" cap="flat">
          <a:solidFill>
            <a:srgbClr val="F7F9FA"/>
          </a:solidFill>
        </a:ln>
        <a:effectLst/>
      </c:spPr>
    </c:plotArea>
    <c:plotVisOnly val="1"/>
    <c:dispBlanksAs val="span"/>
    <c:showDLblsOverMax val="1"/>
  </c:chart>
  <c:spPr>
    <a:solidFill>
      <a:srgbClr val="F7F9FA">
        <a:alpha val="0"/>
      </a:srgbClr>
    </a:solidFill>
    <a:ln w="12700" cap="flat">
      <a:solidFill>
        <a:srgbClr val="F7F9FA"/>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02"/>
          <c:y val="0.03"/>
          <c:w val="0.82"/>
          <c:h val="0.92"/>
        </c:manualLayout>
      </c:layout>
      <c:barChart>
        <c:barDir val="bar"/>
        <c:grouping val="clustered"/>
        <c:varyColors val="0"/>
        <c:ser>
          <c:idx val="0"/>
          <c:order val="0"/>
          <c:tx>
            <c:strRef>
              <c:f>Sheet1!$B$1</c:f>
              <c:strCache>
                <c:ptCount val="1"/>
                <c:pt idx="0">
                  <c:v>False alert episodes</c:v>
                </c:pt>
              </c:strCache>
            </c:strRef>
          </c:tx>
          <c:spPr>
            <a:solidFill>
              <a:srgbClr val="0E6671"/>
            </a:solidFill>
            <a:effectLst/>
          </c:spPr>
          <c:invertIfNegative val="0"/>
          <c:dLbls>
            <c:numFmt formatCode="0.00" sourceLinked="0"/>
            <c:spPr>
              <a:noFill/>
              <a:ln>
                <a:noFill/>
              </a:ln>
              <a:effectLst/>
            </c:spPr>
            <c:txPr>
              <a:bodyPr/>
              <a:lstStyle/>
              <a:p>
                <a:pPr>
                  <a:defRPr sz="1300" b="1" i="0" u="none" strike="noStrike">
                    <a:solidFill>
                      <a:srgbClr val="113E47"/>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RespiraTwin</c:v>
                </c:pt>
                <c:pt idx="1">
                  <c:v>PM2.5 rule</c:v>
                </c:pt>
                <c:pt idx="2">
                  <c:v>PM2.5 + low adherence</c:v>
                </c:pt>
                <c:pt idx="3">
                  <c:v>Random schedule</c:v>
                </c:pt>
              </c:strCache>
            </c:strRef>
          </c:cat>
          <c:val>
            <c:numRef>
              <c:f>Sheet1!$B$2:$B$5</c:f>
              <c:numCache>
                <c:formatCode>General</c:formatCode>
                <c:ptCount val="4"/>
                <c:pt idx="0">
                  <c:v>3.72</c:v>
                </c:pt>
                <c:pt idx="1">
                  <c:v>54.62</c:v>
                </c:pt>
                <c:pt idx="2">
                  <c:v>9.7799999999999994</c:v>
                </c:pt>
                <c:pt idx="3">
                  <c:v>6.68</c:v>
                </c:pt>
              </c:numCache>
            </c:numRef>
          </c:val>
          <c:extLst>
            <c:ext xmlns:c16="http://schemas.microsoft.com/office/drawing/2014/chart" uri="{C3380CC4-5D6E-409C-BE32-E72D297353CC}">
              <c16:uniqueId val="{00000000-E502-495E-A26B-9F55D53B142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none"/>
        <c:minorTickMark val="none"/>
        <c:tickLblPos val="nextTo"/>
        <c:spPr>
          <a:ln w="12700" cap="flat">
            <a:noFill/>
            <a:prstDash val="solid"/>
            <a:round/>
          </a:ln>
        </c:spPr>
        <c:txPr>
          <a:bodyPr/>
          <a:lstStyle/>
          <a:p>
            <a:pPr>
              <a:defRPr sz="1200" b="0" i="0" u="none" strike="noStrike">
                <a:solidFill>
                  <a:srgbClr val="172D33"/>
                </a:solidFill>
                <a:latin typeface="Calibri"/>
              </a:defRPr>
            </a:pPr>
            <a:endParaRPr lang="en-US"/>
          </a:p>
        </c:txPr>
        <c:crossAx val="2094734552"/>
        <c:crosses val="autoZero"/>
        <c:auto val="1"/>
        <c:lblAlgn val="ctr"/>
        <c:lblOffset val="100"/>
        <c:noMultiLvlLbl val="1"/>
      </c:catAx>
      <c:valAx>
        <c:axId val="2094734552"/>
        <c:scaling>
          <c:orientation val="minMax"/>
          <c:max val="65"/>
          <c:min val="0"/>
        </c:scaling>
        <c:delete val="1"/>
        <c:axPos val="b"/>
        <c:numFmt formatCode="General" sourceLinked="0"/>
        <c:majorTickMark val="out"/>
        <c:minorTickMark val="none"/>
        <c:tickLblPos val="low"/>
        <c:crossAx val="2094734554"/>
        <c:crosses val="autoZero"/>
        <c:crossBetween val="between"/>
      </c:valAx>
      <c:spPr>
        <a:solidFill>
          <a:srgbClr val="F7F9FA">
            <a:alpha val="0"/>
          </a:srgbClr>
        </a:solidFill>
        <a:ln w="12700" cap="flat">
          <a:solidFill>
            <a:srgbClr val="F7F9FA"/>
          </a:solidFill>
        </a:ln>
        <a:effectLst/>
      </c:spPr>
    </c:plotArea>
    <c:plotVisOnly val="1"/>
    <c:dispBlanksAs val="span"/>
    <c:showDLblsOverMax val="1"/>
  </c:chart>
  <c:spPr>
    <a:solidFill>
      <a:srgbClr val="F7F9FA">
        <a:alpha val="0"/>
      </a:srgbClr>
    </a:solidFill>
    <a:ln w="12700" cap="flat">
      <a:solidFill>
        <a:srgbClr val="F7F9FA"/>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369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Hello, and thank you for reviewing RespiraTwin. This project is our prototype for the Happiest Health Digital Twin Challenge 2026. Our focus is asthma exacerbation early warning: how a patient-specific representation can combine historical health context with changing daily signals and estimate risk over the next twenty-four hours. The key word is prototype. Every patient record, wearable value, pollution series, and event label in this demonstration is simulated. We do not use real patient data, and the results do not represent clinical performance. We built the project to demonstrate an end-to-end pipeline: data generation, time-aware feature engineering, a constrained predictive model, a stateful virtual patient, explanations, replay, and what-if scenarios. The goal is to make the pipeline inspectable and reproducible, rather than to claim that a simulated system is ready for clinical use. In the presentation, I will explain the problem, the digital-twin workflow, the assumptions behind the simulator, the reported evaluation results, and the work that would be required before real-world testing. We welcome the evaluation team's review of this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Asthma can change between appointments. A clinic visit captures a point in time, while a person's day-to-day environment, symptoms, medication adherence, sleep, and physiological signals may change between visits. Air pollution is a relevant context for respiratory health in India, but a pollution reading alone does not tell us how a specific virtual patient may respond. The gap we are exploring is how to organize historical context and changing observations into a patient-specific state that can be inspected over time. This context highlights the importance of environmental triggers alongside clinical history. Early warning matters because it may help a care team notice a changing pattern sooner and decide whether further review is appropriate. This project does not claim that an alert prevents an exacerbation, and it does not diagnose or prescribe treatment. It is a research and decision-support prototype designed to demonstrate the engineering workflow and make its assumptions visible.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describe the system as a digital twin because it maintains a patient-specific state and updates that state as new observations arrive. The flow begins by loading the historical electronic health record profile. The next step ingests hourly inputs: the synthetic pollution series, simulated wearable signals, adherence events, and symptom diary. The fusion layer checks and aligns those inputs, then calculates past-looking features so the model does not use information from the future. The twin engine updates the current virtual state and generates a forecast for the next twenty-four hours. It also produces reason codes grouped by signal family and records the prediction in the state history. Finally, the what-if laboratory lets a user change hypothetical inputs and observe the model response without overwriting the original data. This last distinction matters: a scenario is not a real intervention and does not prove that an intervention would change a patient's outcome. Each step is designed to be visible in the dashboard so that a reviewer can follow the path from source data to the displayed forecast.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architecture slide summarizes the path from data to interface. The historical EHR stream provides context such as asthma severity, prior exacerbations, and the patient's baseline. The dynamic stream supplies the synthetic pollution series and simulated wearable, adherence, and symptom observations. Validation checks provenance, timestamps, missingness, and quality before feature fusion. The feature layer calculates past-looking rolling summaries and deviations from each virtual patient's baseline. The twin engine then holds the current virtual state, runs the forecast, groups the explanatory signals, and records the prediction history. The clinician dashboard presents this information and supports replay and what-if exploration. Training and evaluation are separate from the live prediction path: the saved model artifact is loaded by the application rather than retrained in the middle of every interaction. The diagram is intended to show the implemented concept, not to imply that every external integration is already live. The pollution stream used for this demonstration is synthetic, and no real patient data is used. The architecture can later be extended to supported environmental data and appropriately governed clinical datasets, but those would require separate engineering, provenance checks, and validation.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data streams in this prototype are simulated. The EHR profiles represent a synthetic cohort of three hundred patients. The pollution input is a synthetic series with illustrative urban Delhi-range levels; it is not a measurement downloaded from an air-quality station. Wearable signals such as respiratory rate, oxygen saturation, heart rate, heart-rate variability, sleep, and steps are generated for the demo. Medication adherence, rescue inhaler use, and symptom diary entries are also simulated. The cohort spans sixty days at hourly resolution, giving the pipeline a consistent timeline on which to demonstrate rolling features, state updates, and event replay. The purpose of simulation is to make the project reproducible without handling real patient data. It also lets us control the event-generation assumptions and test whether the model learns the synthetic process that produced the labels. That convenience creates a major limitation: model performance on this dataset is not evidence of clinical accuracy. The prominent note on this slide is deliberately direct. No real patient data is used. Before any real-world experiment, the team would need data-use permissions, appropriate consent and de-identification, secure handling, and a clearly governed validation protocol.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simulator is the source of the outcome labels, so its assumptions are central to interpreting every metric. An hourly hazard is influenced by pollution, asthma severity, previous exacerbations, trigger sensitivity, adherence, and a hidden vulnerability variable. In the generated sequences, a simulated onset may have a prodrome lasting six to twenty-four hours, with respiratory rate rising, oxygen saturation falling, rescue use increasing, and symptoms worsening. The simulator also includes silent episodes: thirty percent are designed to have weak or no prodrome. A seventy-two-hour refractory period limits repeated event generation after an onset, and the resulting run contains one thousand three hundred ninety-eight episodes with a positive label rate of seven point seven seven percent. These are modelling assumptions, not clinical facts. They describe how the training and test labels are generated, rather than a claim about the natural history of asthma. This distinction is important because the model is learning patterns created by this simulator. If we change the simulator, the metrics could change. A future research version would need externally sourced outcome labels and careful validation before any claims about real patients could be made.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model pipeline uses fifty-two past-looking features. We compare candidate models and use a monotone-constrained gradient-boosting model for the operational forecast. The model has twenty-five constraints so that selected relationships behave consistently with the intended direction: increasing pollution, rescue use, symptoms, or respiratory rate cannot reduce risk through the constrained relationship, while improvements in adherence or oxygen saturation cannot raise risk through the constrained relationship. Isotonic calibration is applied to the output probabilities. A higher-scoring relaxed-constraint variant was rejected after failing what-if consistency checks. Patient-level splitting keeps the same synthetic patient's records from being spread across training and held-out evaluation groups: two hundred ten patients for training, forty-five for validation, and forty-five for test. We also run a strict temporal-leakage test to detect the accidental use of future information. The repository documents forty-nine automated tests. These safeguards improve reproducibility and make the training pipeline more defensible, but they do not remove the simulation-to-reality gap. A constrained model can still learn simulator-specific patterns, and calibration on synthetic validation data is not clinical calibration. The next requirement would be to repeat this approach with real, appropriately governed data, while preserving patient-level and temporal separation.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reports the held-out test performance on forty-five synthetic patients and two thousand seven hundred patient-days. The ROC-AUC is zero point eight two, with the confidence interval shown here. The PR-AUC is zero point four five, with its interval shown next to it; the base event rate is about seven to eight percent, so precision-recall performance is particularly relevant. The Brier score is zero point zero five two six, compared with zero point zero seven zero five for a model that always predicts the base rate. The chart shows the observed event rate in the demonstration risk bands: Low at two point six percent, Watch at nine point three percent, and High at thirty-eight point four percent. These bands are dashboard categories, not clinical thresholds. The metrics should be read as evidence that the pipeline learns a relationship in the synthetic process and separates the simulated risk groups. They are not evidence of performance in clinical settings. The data slide and simulator slide explain how the labels were created, and the limitations slide returns to the fact that all data and outcomes are simulated. We would need an external dataset and clinical evaluation before making any real-world performance claim.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evaluation counts two hundred six true simulated onsets in the test set. An onset is anticipated when an alert occurs at least one hour before it. The system anticipated one hundred sixty-two onsets, which is seventy-eight point six percent. Eleven onsets, or five point three percent, were detected late within six hours after onset. Thirty-three, or sixteen point zero percent, were missed. Among anticipated events, the median lead time was twelve hours. The lower split is especially important: all of the non-silent episodes in this test set were anticipated, while silent episodes were much harder. Of the sixty-eight silent episodes, twenty-four were anticipated, eleven were late, and thirty-three were missed. These results illustrate a behavior of this specific simulator: the model performs better when there is a recognizable prodrome and struggles when the simulator generates weak or no warning signals. That is an important limitation, not a detail to hide. These figures describe simulated onsets only. They do not estimate how often a real asthma event would be forecast, missed, or detected late. The prototype's replay interface is designed to let reviewers inspect examples of both anticipated events and misses rather than looking only at aggregate metrics.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the operational model with simple baselines using the same alert definitions. Alert precision is the share of alert episodes followed by a simulated onset within twenty-four hours. RespiraTwin reports forty-eight point nine percent, compared with nine point zero percent for a PM2.5 rule, twelve point nine percent for a PM2.5 plus low-adherence rule, and seven point seven percent for a random schedule. The false-alert burden is three point seven two episodes per patient-month for RespiraTwin, fifty-four point six two for the PM2.5 rule, and nine point seven eight for the PM2.5 plus low-adherence rule. A plain pollution rule anticipates eighty-three point zero percent of onsets, compared with seventy-eight point six percent for RespiraTwin. So the trade-off is visible: coverage is similar but not identical, and the model's alert burden is lower in this simulation. The takeaway is about the synthetic operating point, not a promise for deployment. Real alert usefulness depends on the event definitions, the population, the data quality, and how the alert is used. We would not claim clinical benefit without evaluation on properly governed external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two panels illustrate key views from the Streamlit application: the Risk Forecast tab and the Replay or Early-Warning tab. The dashboard makes synthetic provenance visible through a patient banner and provenance badges near the relevant signals. A clinician-facing prototype view includes time-series charts, a risk score from zero to one hundred, demo Low, Watch, and High bands, signal-family reason codes, and a timeline of state updates. Replay makes it possible to step through held-out simulated episodes, including a missed episode, so a reviewer can see what the model did before and after an onset. The dashboard should not imply that an alert diagnoses asthma or directs a medication change. Instead, it shows the internal state of the prototype and why the model output changed. The view presents interactive controls and inspectable state rather than a static design. In the demonstration, reviewers can switch patients, inspect the timeline, and step through episode replay to verify that the interface is directly connected to the prediction pipeline.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what-if laboratory is for model exploration, not intervention advice. A user can choose scenario presets or use sliders to alter hypothetical values such as pollution, adherence, respiratory rate, rescue puffs, or oxygen saturation. The stored original observations are not overwritten; the app labels the result as the model response to a hypothetical input. The documented test includes five sweeps across those input families. The relationships were monotone in the expected direction for one hundred percent of two hundred test patient-hours. This is a consistency check against the model's constraints, not a statement that the model has learned clinical causal effects. The explanation view uses personal-baseline occlusion grouped into pollution, breathing and oxygenation, rescue use and symptoms, adherence, and history. One caveat is especially important: adherence alone has a small effect in this model. About seventy-seven percent of test-set hours have one hundred percent adherence, and the model rarely splits on adherence. The slide makes that limitation visible rather than presenting the what-if tool as more powerful than the training data supports. A future model could explore different adherence distributions, but its scenario behavior would need to be tested again before making stronger statements.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limitations are part of the result, not a footnote. Every patient profile, wearable signal, pollution value, event label, and outcome in the prototype is simulated. The model learns the process encoded in the event generator, so its results reflect simulator assumptions. Silent episodes are mostly missed or caught late, showing a clear weak point in early warning. There is also a precision-recall operating-point trade-off: an alert threshold changes how many events are anticipated and how many false alerts are produced. The project has no external clinical validation. It is not for clinical use and must not be used to diagnose, recommend treatment, or change medication. No real patient data is used in the current prototype. If the project moves beyond simulation, data access, consent, de-identification, security, and lawful processing would need a formal plan aligned with applicable DPDP and HIPAA considerations where relevant. The prototype uses synthetic data only; it does not certify compliance for future real-data processing. The correct conclusion is that this is an engineering proof of concept with clearly stated boundaries, not a finished clinical product.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stage is validation, not a stronger claim. First, the project would need appropriately consented and de-identified data reviewed with clinicians, along with a defined protocol and appropriate governance. The synthetic pollution sequence should then be replaced with properly sourced CPCB or OpenAQ data, with source and timestamp provenance preserved. A future implementation could integrate real wearable streams, subject to device reliability, permission, security, and consent. Prospective evaluation would be required to understand performance and usefulness outside the simulator. A relaxed-constraint variant scored higher on validation but failed our what-if consistency check (respiratory rate shift was consistent in only 57.5% of hours—a 42.5% failure rate—and SpO2 desaturation was consistent in only 7.5% of hours—a 92.5% failure rate), so the constrained model was kept, and any future model would need the same check. The project repository and team contact are shown as the submission handoff. The presentation closes with the main contribution: a reproducible multimodal pipeline, a patient-specific state, a defined forecast horizon, explicit evaluation, and a what-if interface, together with transparent limitations. Thank you for reviewing RespiraTwin. We welcome questions about the assumptions, implementation, metrics, and the work required to move from synthetic proof of concept to responsible evaluation with real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appendix illustrates the detailed system architecture for RespiraTwin. The pipeline comprises four stages: synthetic data ingestion and range checks, past-only rolling feature engineering, a twenty-five-constraint XGBoost model with isotonic calibration, and an interactive virtual patient digital twin with what-if exploration. All historical states remain immutable during what-if analysis, and every synthetic signal family is tracked with explicit provenance.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566928" y="6473952"/>
            <a:ext cx="11045952" cy="0"/>
          </a:xfrm>
          <a:prstGeom prst="line">
            <a:avLst/>
          </a:prstGeom>
          <a:noFill/>
          <a:ln w="8890">
            <a:solidFill>
              <a:srgbClr val="DCE3E6"/>
            </a:solidFill>
            <a:prstDash val="solid"/>
          </a:ln>
        </p:spPr>
      </p:sp>
      <p:sp>
        <p:nvSpPr>
          <p:cNvPr id="3" name="Text 1"/>
          <p:cNvSpPr/>
          <p:nvPr/>
        </p:nvSpPr>
        <p:spPr>
          <a:xfrm>
            <a:off x="594360" y="6510528"/>
            <a:ext cx="7955280" cy="164592"/>
          </a:xfrm>
          <a:prstGeom prst="rect">
            <a:avLst/>
          </a:prstGeom>
          <a:noFill/>
          <a:ln/>
        </p:spPr>
        <p:txBody>
          <a:bodyPr wrap="square" lIns="0" tIns="0" rIns="0" bIns="0" rtlCol="0" anchor="ctr"/>
          <a:lstStyle/>
          <a:p>
            <a:pPr marL="0" indent="0">
              <a:buNone/>
            </a:pPr>
            <a:r>
              <a:rPr lang="en-US" sz="800" dirty="0">
                <a:solidFill>
                  <a:srgbClr val="708087"/>
                </a:solidFill>
                <a:latin typeface="Calibri" pitchFamily="34" charset="0"/>
                <a:ea typeface="Calibri" pitchFamily="34" charset="-122"/>
                <a:cs typeface="Calibri" pitchFamily="34" charset="-120"/>
              </a:rPr>
              <a:t>RESPIRATWIN  •  SIMULATION-BASED RESEARCH PROTOTYPE</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0E6671"/>
          </a:solidFill>
          <a:ln w="10160">
            <a:solidFill>
              <a:srgbClr val="0E6671"/>
            </a:solidFill>
            <a:prstDash val="solid"/>
          </a:ln>
        </p:spPr>
      </p:sp>
      <p:sp>
        <p:nvSpPr>
          <p:cNvPr id="3" name="Shape 1"/>
          <p:cNvSpPr/>
          <p:nvPr/>
        </p:nvSpPr>
        <p:spPr>
          <a:xfrm>
            <a:off x="749808" y="713232"/>
            <a:ext cx="2697480" cy="292608"/>
          </a:xfrm>
          <a:prstGeom prst="roundRect">
            <a:avLst>
              <a:gd name="adj" fmla="val 25000"/>
            </a:avLst>
          </a:prstGeom>
          <a:solidFill>
            <a:srgbClr val="DDECEF"/>
          </a:solidFill>
          <a:ln w="1270">
            <a:solidFill>
              <a:srgbClr val="DDECEF"/>
            </a:solidFill>
            <a:prstDash val="solid"/>
          </a:ln>
        </p:spPr>
      </p:sp>
      <p:sp>
        <p:nvSpPr>
          <p:cNvPr id="4" name="Text 2"/>
          <p:cNvSpPr txBox="1"/>
          <p:nvPr/>
        </p:nvSpPr>
        <p:spPr>
          <a:xfrm>
            <a:off x="813816" y="726948"/>
            <a:ext cx="2569464" cy="246888"/>
          </a:xfrm>
          <a:prstGeom prst="rect">
            <a:avLst/>
          </a:prstGeom>
          <a:noFill/>
          <a:ln/>
        </p:spPr>
        <p:txBody>
          <a:bodyPr wrap="square" lIns="0" tIns="0" rIns="0" bIns="0" rtlCol="0" anchor="ctr">
            <a:normAutofit/>
          </a:bodyPr>
          <a:lstStyle/>
          <a:p>
            <a:pPr marL="0" indent="0" algn="ctr">
              <a:buNone/>
            </a:pPr>
            <a:r>
              <a:rPr lang="en-US" sz="1100" b="1" dirty="0">
                <a:solidFill>
                  <a:srgbClr val="0E6671"/>
                </a:solidFill>
                <a:latin typeface="Calibri" pitchFamily="34" charset="0"/>
                <a:ea typeface="Calibri" pitchFamily="34" charset="-122"/>
                <a:cs typeface="Calibri" pitchFamily="34" charset="-120"/>
              </a:rPr>
              <a:t>DIGITAL TWIN CHALLENGE 2026</a:t>
            </a:r>
            <a:endParaRPr lang="en-US" sz="1100" dirty="0"/>
          </a:p>
        </p:txBody>
      </p:sp>
      <p:sp>
        <p:nvSpPr>
          <p:cNvPr id="5" name="Text 3"/>
          <p:cNvSpPr txBox="1"/>
          <p:nvPr/>
        </p:nvSpPr>
        <p:spPr>
          <a:xfrm>
            <a:off x="731520" y="1417320"/>
            <a:ext cx="10607040" cy="658368"/>
          </a:xfrm>
          <a:prstGeom prst="rect">
            <a:avLst/>
          </a:prstGeom>
          <a:noFill/>
          <a:ln/>
        </p:spPr>
        <p:txBody>
          <a:bodyPr wrap="square" lIns="0" tIns="0" rIns="0" bIns="0" rtlCol="0" anchor="ctr">
            <a:normAutofit lnSpcReduction="10000"/>
          </a:bodyPr>
          <a:lstStyle/>
          <a:p>
            <a:pPr marL="0" indent="0" algn="l">
              <a:buNone/>
            </a:pPr>
            <a:r>
              <a:rPr lang="en-US" sz="4400" b="1" dirty="0">
                <a:solidFill>
                  <a:srgbClr val="113E47"/>
                </a:solidFill>
                <a:latin typeface="Calibri" pitchFamily="34" charset="0"/>
                <a:ea typeface="Calibri" pitchFamily="34" charset="-122"/>
                <a:cs typeface="Calibri" pitchFamily="34" charset="-120"/>
              </a:rPr>
              <a:t>RespiraTwin:</a:t>
            </a:r>
            <a:endParaRPr lang="en-US" sz="4400" dirty="0"/>
          </a:p>
        </p:txBody>
      </p:sp>
      <p:sp>
        <p:nvSpPr>
          <p:cNvPr id="6" name="Text 4"/>
          <p:cNvSpPr txBox="1"/>
          <p:nvPr/>
        </p:nvSpPr>
        <p:spPr>
          <a:xfrm>
            <a:off x="749808" y="2103120"/>
            <a:ext cx="9966960" cy="1325880"/>
          </a:xfrm>
          <a:prstGeom prst="rect">
            <a:avLst/>
          </a:prstGeom>
          <a:noFill/>
          <a:ln/>
        </p:spPr>
        <p:txBody>
          <a:bodyPr wrap="square" lIns="0" tIns="0" rIns="0" bIns="0" rtlCol="0" anchor="t">
            <a:normAutofit/>
          </a:bodyPr>
          <a:lstStyle/>
          <a:p>
            <a:pPr marL="0" indent="0" algn="l">
              <a:buNone/>
            </a:pPr>
            <a:r>
              <a:rPr lang="en-US" sz="3700" b="1" dirty="0">
                <a:solidFill>
                  <a:srgbClr val="172D33"/>
                </a:solidFill>
                <a:latin typeface="Calibri" pitchFamily="34" charset="0"/>
                <a:ea typeface="Calibri" pitchFamily="34" charset="-122"/>
                <a:cs typeface="Calibri" pitchFamily="34" charset="-120"/>
              </a:rPr>
              <a:t>An Asthma Digital Twin</a:t>
            </a:r>
            <a:endParaRPr lang="en-US" sz="3700" dirty="0"/>
          </a:p>
          <a:p>
            <a:pPr marL="0" indent="0" algn="l">
              <a:buNone/>
            </a:pPr>
            <a:r>
              <a:rPr lang="en-US" sz="3700" b="1" dirty="0">
                <a:solidFill>
                  <a:srgbClr val="172D33"/>
                </a:solidFill>
                <a:latin typeface="Calibri" pitchFamily="34" charset="0"/>
                <a:ea typeface="Calibri" pitchFamily="34" charset="-122"/>
                <a:cs typeface="Calibri" pitchFamily="34" charset="-120"/>
              </a:rPr>
              <a:t>for Early Warning</a:t>
            </a:r>
            <a:endParaRPr lang="en-US" sz="3700" dirty="0"/>
          </a:p>
        </p:txBody>
      </p:sp>
      <p:sp>
        <p:nvSpPr>
          <p:cNvPr id="7" name="Text 5"/>
          <p:cNvSpPr txBox="1"/>
          <p:nvPr/>
        </p:nvSpPr>
        <p:spPr>
          <a:xfrm>
            <a:off x="768096" y="3602736"/>
            <a:ext cx="9875520" cy="420624"/>
          </a:xfrm>
          <a:prstGeom prst="rect">
            <a:avLst/>
          </a:prstGeom>
          <a:noFill/>
          <a:ln/>
        </p:spPr>
        <p:txBody>
          <a:bodyPr wrap="square" lIns="0" tIns="0" rIns="0" bIns="0" rtlCol="0" anchor="ctr">
            <a:normAutofit/>
          </a:bodyPr>
          <a:lstStyle/>
          <a:p>
            <a:pPr marL="0" indent="0" algn="l">
              <a:buNone/>
            </a:pPr>
            <a:r>
              <a:rPr lang="en-US" sz="2200" dirty="0">
                <a:solidFill>
                  <a:srgbClr val="586B72"/>
                </a:solidFill>
                <a:latin typeface="Calibri" pitchFamily="34" charset="0"/>
                <a:ea typeface="Calibri" pitchFamily="34" charset="-122"/>
                <a:cs typeface="Calibri" pitchFamily="34" charset="-120"/>
              </a:rPr>
              <a:t>A simulation-based respiratory risk forecasting prototype</a:t>
            </a:r>
            <a:endParaRPr lang="en-US" sz="2200" dirty="0"/>
          </a:p>
        </p:txBody>
      </p:sp>
      <p:sp>
        <p:nvSpPr>
          <p:cNvPr id="8" name="Shape 6"/>
          <p:cNvSpPr/>
          <p:nvPr/>
        </p:nvSpPr>
        <p:spPr>
          <a:xfrm>
            <a:off x="768096" y="4251960"/>
            <a:ext cx="10561320" cy="18288"/>
          </a:xfrm>
          <a:prstGeom prst="rect">
            <a:avLst/>
          </a:prstGeom>
          <a:solidFill>
            <a:srgbClr val="D8E1E4"/>
          </a:solidFill>
          <a:ln w="10160">
            <a:solidFill>
              <a:srgbClr val="D8E1E4"/>
            </a:solidFill>
            <a:prstDash val="solid"/>
          </a:ln>
        </p:spPr>
      </p:sp>
      <p:sp>
        <p:nvSpPr>
          <p:cNvPr id="9" name="Text 7"/>
          <p:cNvSpPr txBox="1"/>
          <p:nvPr/>
        </p:nvSpPr>
        <p:spPr>
          <a:xfrm>
            <a:off x="777240" y="4617720"/>
            <a:ext cx="30175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TEAM NAME</a:t>
            </a:r>
            <a:endParaRPr lang="en-US" sz="1000" dirty="0"/>
          </a:p>
        </p:txBody>
      </p:sp>
      <p:sp>
        <p:nvSpPr>
          <p:cNvPr id="10" name="Text 8"/>
          <p:cNvSpPr txBox="1"/>
          <p:nvPr/>
        </p:nvSpPr>
        <p:spPr>
          <a:xfrm>
            <a:off x="768096" y="5049914"/>
            <a:ext cx="3200400" cy="384048"/>
          </a:xfrm>
          <a:prstGeom prst="rect">
            <a:avLst/>
          </a:prstGeom>
          <a:noFill/>
          <a:ln/>
        </p:spPr>
        <p:txBody>
          <a:bodyPr wrap="square" lIns="0" tIns="0" rIns="0" bIns="0" rtlCol="0" anchor="ctr">
            <a:normAutofit/>
          </a:bodyPr>
          <a:lstStyle/>
          <a:p>
            <a:r>
              <a:rPr lang="en-IN" sz="1400" b="1" dirty="0" err="1"/>
              <a:t>AuraTwin</a:t>
            </a:r>
            <a:endParaRPr lang="en-IN" sz="1400" dirty="0"/>
          </a:p>
          <a:p>
            <a:pPr marL="0" indent="0" algn="l">
              <a:buNone/>
            </a:pPr>
            <a:endParaRPr lang="en-US" sz="2000" dirty="0"/>
          </a:p>
        </p:txBody>
      </p:sp>
      <p:sp>
        <p:nvSpPr>
          <p:cNvPr id="11" name="Text 9"/>
          <p:cNvSpPr txBox="1"/>
          <p:nvPr/>
        </p:nvSpPr>
        <p:spPr>
          <a:xfrm>
            <a:off x="4279392" y="4617720"/>
            <a:ext cx="30175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COLLEGE</a:t>
            </a:r>
            <a:endParaRPr lang="en-US" sz="1000" dirty="0"/>
          </a:p>
        </p:txBody>
      </p:sp>
      <p:sp>
        <p:nvSpPr>
          <p:cNvPr id="12" name="Text 10"/>
          <p:cNvSpPr txBox="1"/>
          <p:nvPr/>
        </p:nvSpPr>
        <p:spPr>
          <a:xfrm>
            <a:off x="4279392" y="4901184"/>
            <a:ext cx="3200400" cy="384048"/>
          </a:xfrm>
          <a:prstGeom prst="rect">
            <a:avLst/>
          </a:prstGeom>
          <a:noFill/>
          <a:ln/>
        </p:spPr>
        <p:txBody>
          <a:bodyPr wrap="square" lIns="0" tIns="0" rIns="0" bIns="0" rtlCol="0" anchor="ctr">
            <a:normAutofit/>
          </a:bodyPr>
          <a:lstStyle/>
          <a:p>
            <a:pPr>
              <a:defRPr sz="1400" b="1">
                <a:solidFill>
                  <a:srgbClr val="111827"/>
                </a:solidFill>
              </a:defRPr>
            </a:pPr>
            <a:r>
              <a:rPr sz="1400" b="1" dirty="0">
                <a:solidFill>
                  <a:srgbClr val="111827"/>
                </a:solidFill>
              </a:rPr>
              <a:t>Adani University</a:t>
            </a:r>
          </a:p>
        </p:txBody>
      </p:sp>
      <p:sp>
        <p:nvSpPr>
          <p:cNvPr id="13" name="Text 11"/>
          <p:cNvSpPr txBox="1"/>
          <p:nvPr/>
        </p:nvSpPr>
        <p:spPr>
          <a:xfrm>
            <a:off x="7781544" y="4617720"/>
            <a:ext cx="30175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MEMBERS</a:t>
            </a:r>
            <a:endParaRPr lang="en-US" sz="1000" dirty="0"/>
          </a:p>
        </p:txBody>
      </p:sp>
      <p:sp>
        <p:nvSpPr>
          <p:cNvPr id="14" name="Text 12"/>
          <p:cNvSpPr txBox="1"/>
          <p:nvPr/>
        </p:nvSpPr>
        <p:spPr>
          <a:xfrm>
            <a:off x="7781544" y="4901184"/>
            <a:ext cx="3200400" cy="384048"/>
          </a:xfrm>
          <a:prstGeom prst="rect">
            <a:avLst/>
          </a:prstGeom>
          <a:noFill/>
          <a:ln/>
        </p:spPr>
        <p:txBody>
          <a:bodyPr wrap="square" lIns="0" tIns="0" rIns="0" bIns="0" rtlCol="0" anchor="ctr">
            <a:normAutofit/>
          </a:bodyPr>
          <a:lstStyle/>
          <a:p>
            <a:pPr>
              <a:defRPr sz="1400" b="1">
                <a:solidFill>
                  <a:srgbClr val="111827"/>
                </a:solidFill>
              </a:defRPr>
            </a:pPr>
            <a:r>
              <a:rPr sz="1400" b="1">
                <a:solidFill>
                  <a:srgbClr val="111827"/>
                </a:solidFill>
              </a:rPr>
              <a:t>Dhruvi Shah</a:t>
            </a:r>
          </a:p>
        </p:txBody>
      </p:sp>
      <p:sp>
        <p:nvSpPr>
          <p:cNvPr id="15" name="Text 13"/>
          <p:cNvSpPr txBox="1"/>
          <p:nvPr/>
        </p:nvSpPr>
        <p:spPr>
          <a:xfrm>
            <a:off x="768096" y="5989320"/>
            <a:ext cx="10789920" cy="310896"/>
          </a:xfrm>
          <a:prstGeom prst="rect">
            <a:avLst/>
          </a:prstGeom>
          <a:noFill/>
          <a:ln/>
        </p:spPr>
        <p:txBody>
          <a:bodyPr wrap="square" lIns="0" tIns="0" rIns="0" bIns="0" rtlCol="0" anchor="ctr">
            <a:normAutofit/>
          </a:bodyPr>
          <a:lstStyle/>
          <a:p>
            <a:pPr marL="0" indent="0" algn="l">
              <a:buNone/>
            </a:pPr>
            <a:r>
              <a:rPr lang="en-US" sz="1300" b="1" dirty="0">
                <a:solidFill>
                  <a:srgbClr val="8B4444"/>
                </a:solidFill>
                <a:latin typeface="Calibri" pitchFamily="34" charset="0"/>
                <a:ea typeface="Calibri" pitchFamily="34" charset="-122"/>
                <a:cs typeface="Calibri" pitchFamily="34" charset="-120"/>
              </a:rPr>
              <a:t>All patient, wearable, pollution and event data are simulated. Not for clinical use.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THE PROBLEM</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Asthma changes between clinic visits</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Day-to-day signals can shift while the care team is not observing the patient.</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85800" y="1664208"/>
            <a:ext cx="6492240" cy="3566160"/>
          </a:xfrm>
          <a:prstGeom prst="roundRect">
            <a:avLst>
              <a:gd name="adj" fmla="val 2051"/>
            </a:avLst>
          </a:prstGeom>
          <a:solidFill>
            <a:srgbClr val="FFFFFF"/>
          </a:solidFill>
          <a:ln w="11430">
            <a:solidFill>
              <a:srgbClr val="D8E1E4"/>
            </a:solidFill>
            <a:prstDash val="solid"/>
          </a:ln>
        </p:spPr>
      </p:sp>
      <p:sp>
        <p:nvSpPr>
          <p:cNvPr id="7" name="Shape 5"/>
          <p:cNvSpPr/>
          <p:nvPr/>
        </p:nvSpPr>
        <p:spPr>
          <a:xfrm>
            <a:off x="685800" y="1664208"/>
            <a:ext cx="64008" cy="3566160"/>
          </a:xfrm>
          <a:prstGeom prst="rect">
            <a:avLst/>
          </a:prstGeom>
          <a:solidFill>
            <a:srgbClr val="0E6671"/>
          </a:solidFill>
          <a:ln w="10160">
            <a:solidFill>
              <a:srgbClr val="0E6671"/>
            </a:solidFill>
            <a:prstDash val="solid"/>
          </a:ln>
        </p:spPr>
      </p:sp>
      <p:sp>
        <p:nvSpPr>
          <p:cNvPr id="8" name="Text 6"/>
          <p:cNvSpPr txBox="1"/>
          <p:nvPr/>
        </p:nvSpPr>
        <p:spPr>
          <a:xfrm>
            <a:off x="960120" y="1938528"/>
            <a:ext cx="1828800" cy="228600"/>
          </a:xfrm>
          <a:prstGeom prst="rect">
            <a:avLst/>
          </a:prstGeom>
          <a:noFill/>
          <a:ln/>
        </p:spPr>
        <p:txBody>
          <a:bodyPr wrap="square" lIns="0" tIns="0" rIns="0" bIns="0" rtlCol="0" anchor="ctr">
            <a:normAutofit/>
          </a:bodyPr>
          <a:lstStyle/>
          <a:p>
            <a:pPr marL="0" indent="0" algn="l">
              <a:buNone/>
            </a:pPr>
            <a:r>
              <a:rPr lang="en-US" sz="1200" b="1" kern="0" spc="110" dirty="0">
                <a:solidFill>
                  <a:srgbClr val="0E6671"/>
                </a:solidFill>
                <a:latin typeface="Calibri" pitchFamily="34" charset="0"/>
                <a:ea typeface="Calibri" pitchFamily="34" charset="-122"/>
                <a:cs typeface="Calibri" pitchFamily="34" charset="-120"/>
              </a:rPr>
              <a:t>POLLUTION</a:t>
            </a:r>
            <a:endParaRPr lang="en-US" sz="1200" dirty="0"/>
          </a:p>
        </p:txBody>
      </p:sp>
      <p:sp>
        <p:nvSpPr>
          <p:cNvPr id="9" name="Text 7"/>
          <p:cNvSpPr txBox="1"/>
          <p:nvPr/>
        </p:nvSpPr>
        <p:spPr>
          <a:xfrm>
            <a:off x="960120" y="2267712"/>
            <a:ext cx="1828800" cy="457200"/>
          </a:xfrm>
          <a:prstGeom prst="rect">
            <a:avLst/>
          </a:prstGeom>
          <a:noFill/>
          <a:ln/>
        </p:spPr>
        <p:txBody>
          <a:bodyPr wrap="square" lIns="0" tIns="0" rIns="0" bIns="0" rtlCol="0" anchor="ctr">
            <a:normAutofit fontScale="92500"/>
          </a:bodyPr>
          <a:lstStyle/>
          <a:p>
            <a:pPr marL="0" indent="0" algn="l">
              <a:buNone/>
            </a:pPr>
            <a:r>
              <a:rPr lang="en-US" sz="2100" b="1" dirty="0">
                <a:solidFill>
                  <a:srgbClr val="172D33"/>
                </a:solidFill>
                <a:latin typeface="Calibri" pitchFamily="34" charset="0"/>
                <a:ea typeface="Calibri" pitchFamily="34" charset="-122"/>
                <a:cs typeface="Calibri" pitchFamily="34" charset="-120"/>
              </a:rPr>
              <a:t>Exposure changes</a:t>
            </a:r>
            <a:endParaRPr lang="en-US" sz="2100" dirty="0"/>
          </a:p>
        </p:txBody>
      </p:sp>
      <p:sp>
        <p:nvSpPr>
          <p:cNvPr id="10" name="Text 8"/>
          <p:cNvSpPr txBox="1"/>
          <p:nvPr/>
        </p:nvSpPr>
        <p:spPr>
          <a:xfrm>
            <a:off x="3017520" y="1938528"/>
            <a:ext cx="1828800" cy="228600"/>
          </a:xfrm>
          <a:prstGeom prst="rect">
            <a:avLst/>
          </a:prstGeom>
          <a:noFill/>
          <a:ln/>
        </p:spPr>
        <p:txBody>
          <a:bodyPr wrap="square" lIns="0" tIns="0" rIns="0" bIns="0" rtlCol="0" anchor="ctr">
            <a:normAutofit/>
          </a:bodyPr>
          <a:lstStyle/>
          <a:p>
            <a:pPr marL="0" indent="0" algn="l">
              <a:buNone/>
            </a:pPr>
            <a:r>
              <a:rPr lang="en-US" sz="1200" b="1" kern="0" spc="110" dirty="0">
                <a:solidFill>
                  <a:srgbClr val="0E6671"/>
                </a:solidFill>
                <a:latin typeface="Calibri" pitchFamily="34" charset="0"/>
                <a:ea typeface="Calibri" pitchFamily="34" charset="-122"/>
                <a:cs typeface="Calibri" pitchFamily="34" charset="-120"/>
              </a:rPr>
              <a:t>SYMPTOMS</a:t>
            </a:r>
            <a:endParaRPr lang="en-US" sz="1200" dirty="0"/>
          </a:p>
        </p:txBody>
      </p:sp>
      <p:sp>
        <p:nvSpPr>
          <p:cNvPr id="11" name="Text 9"/>
          <p:cNvSpPr txBox="1"/>
          <p:nvPr/>
        </p:nvSpPr>
        <p:spPr>
          <a:xfrm>
            <a:off x="3017520" y="2267712"/>
            <a:ext cx="2057400" cy="457200"/>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Breathing changes</a:t>
            </a:r>
            <a:endParaRPr lang="en-US" sz="2100" dirty="0"/>
          </a:p>
        </p:txBody>
      </p:sp>
      <p:sp>
        <p:nvSpPr>
          <p:cNvPr id="12" name="Text 10"/>
          <p:cNvSpPr txBox="1"/>
          <p:nvPr/>
        </p:nvSpPr>
        <p:spPr>
          <a:xfrm>
            <a:off x="5257800" y="1938528"/>
            <a:ext cx="1645920" cy="228600"/>
          </a:xfrm>
          <a:prstGeom prst="rect">
            <a:avLst/>
          </a:prstGeom>
          <a:noFill/>
          <a:ln/>
        </p:spPr>
        <p:txBody>
          <a:bodyPr wrap="square" lIns="0" tIns="0" rIns="0" bIns="0" rtlCol="0" anchor="ctr">
            <a:normAutofit/>
          </a:bodyPr>
          <a:lstStyle/>
          <a:p>
            <a:pPr marL="0" indent="0" algn="l">
              <a:buNone/>
            </a:pPr>
            <a:r>
              <a:rPr lang="en-US" sz="1200" b="1" kern="0" spc="110" dirty="0">
                <a:solidFill>
                  <a:srgbClr val="0E6671"/>
                </a:solidFill>
                <a:latin typeface="Calibri" pitchFamily="34" charset="0"/>
                <a:ea typeface="Calibri" pitchFamily="34" charset="-122"/>
                <a:cs typeface="Calibri" pitchFamily="34" charset="-120"/>
              </a:rPr>
              <a:t>ADHERENCE</a:t>
            </a:r>
            <a:endParaRPr lang="en-US" sz="1200" dirty="0"/>
          </a:p>
        </p:txBody>
      </p:sp>
      <p:sp>
        <p:nvSpPr>
          <p:cNvPr id="13" name="Text 11"/>
          <p:cNvSpPr txBox="1"/>
          <p:nvPr/>
        </p:nvSpPr>
        <p:spPr>
          <a:xfrm>
            <a:off x="5257800" y="2267712"/>
            <a:ext cx="1737360" cy="640080"/>
          </a:xfrm>
          <a:prstGeom prst="rect">
            <a:avLst/>
          </a:prstGeom>
          <a:noFill/>
          <a:ln/>
        </p:spPr>
        <p:txBody>
          <a:bodyPr wrap="square" lIns="0" tIns="0" rIns="0" bIns="0" rtlCol="0" anchor="ctr">
            <a:normAutofit/>
          </a:bodyPr>
          <a:lstStyle/>
          <a:p>
            <a:pPr marL="0" indent="0" algn="l">
              <a:buNone/>
            </a:pPr>
            <a:r>
              <a:rPr lang="en-US" sz="1900" b="1" dirty="0">
                <a:solidFill>
                  <a:srgbClr val="172D33"/>
                </a:solidFill>
                <a:latin typeface="Calibri" pitchFamily="34" charset="0"/>
                <a:ea typeface="Calibri" pitchFamily="34" charset="-122"/>
                <a:cs typeface="Calibri" pitchFamily="34" charset="-120"/>
              </a:rPr>
              <a:t>Treatment patterns</a:t>
            </a:r>
            <a:endParaRPr lang="en-US" sz="1900" dirty="0"/>
          </a:p>
        </p:txBody>
      </p:sp>
      <p:sp>
        <p:nvSpPr>
          <p:cNvPr id="14" name="Shape 12"/>
          <p:cNvSpPr/>
          <p:nvPr/>
        </p:nvSpPr>
        <p:spPr>
          <a:xfrm>
            <a:off x="960120" y="3063240"/>
            <a:ext cx="5806440" cy="18288"/>
          </a:xfrm>
          <a:prstGeom prst="rect">
            <a:avLst/>
          </a:prstGeom>
          <a:solidFill>
            <a:srgbClr val="D8E1E4"/>
          </a:solidFill>
          <a:ln w="10160">
            <a:solidFill>
              <a:srgbClr val="D8E1E4"/>
            </a:solidFill>
            <a:prstDash val="solid"/>
          </a:ln>
        </p:spPr>
      </p:sp>
      <p:sp>
        <p:nvSpPr>
          <p:cNvPr id="15" name="Text 13"/>
          <p:cNvSpPr txBox="1"/>
          <p:nvPr/>
        </p:nvSpPr>
        <p:spPr>
          <a:xfrm>
            <a:off x="978408" y="3310128"/>
            <a:ext cx="1554480" cy="320040"/>
          </a:xfrm>
          <a:prstGeom prst="rect">
            <a:avLst/>
          </a:prstGeom>
          <a:noFill/>
          <a:ln/>
        </p:spPr>
        <p:txBody>
          <a:bodyPr wrap="square" lIns="0" tIns="0" rIns="0" bIns="0" rtlCol="0" anchor="ctr">
            <a:normAutofit/>
          </a:bodyPr>
          <a:lstStyle/>
          <a:p>
            <a:pPr marL="0" indent="0" algn="l">
              <a:buNone/>
            </a:pPr>
            <a:r>
              <a:rPr lang="en-US" sz="2000" b="1" dirty="0">
                <a:solidFill>
                  <a:srgbClr val="0E6671"/>
                </a:solidFill>
                <a:latin typeface="Calibri" pitchFamily="34" charset="0"/>
                <a:ea typeface="Calibri" pitchFamily="34" charset="-122"/>
                <a:cs typeface="Calibri" pitchFamily="34" charset="-120"/>
              </a:rPr>
              <a:t>The gap</a:t>
            </a:r>
            <a:endParaRPr lang="en-US" sz="2000" dirty="0"/>
          </a:p>
        </p:txBody>
      </p:sp>
      <p:sp>
        <p:nvSpPr>
          <p:cNvPr id="16" name="Text 14"/>
          <p:cNvSpPr txBox="1"/>
          <p:nvPr/>
        </p:nvSpPr>
        <p:spPr>
          <a:xfrm>
            <a:off x="978408" y="3730752"/>
            <a:ext cx="5669280" cy="566928"/>
          </a:xfrm>
          <a:prstGeom prst="rect">
            <a:avLst/>
          </a:prstGeom>
          <a:noFill/>
          <a:ln/>
        </p:spPr>
        <p:txBody>
          <a:bodyPr wrap="square" lIns="0" tIns="0" rIns="0" bIns="0" rtlCol="0" anchor="t">
            <a:normAutofit fontScale="92500" lnSpcReduction="20000"/>
          </a:bodyPr>
          <a:lstStyle/>
          <a:p>
            <a:pPr marL="0" indent="0" algn="l">
              <a:buNone/>
            </a:pPr>
            <a:r>
              <a:rPr lang="en-US" sz="2400" b="1" dirty="0">
                <a:solidFill>
                  <a:srgbClr val="172D33"/>
                </a:solidFill>
                <a:latin typeface="Calibri" pitchFamily="34" charset="0"/>
                <a:ea typeface="Calibri" pitchFamily="34" charset="-122"/>
                <a:cs typeface="Calibri" pitchFamily="34" charset="-120"/>
              </a:rPr>
              <a:t>A clinic snapshot may miss changing patterns between visits.</a:t>
            </a:r>
            <a:endParaRPr lang="en-US" sz="2400" dirty="0"/>
          </a:p>
        </p:txBody>
      </p:sp>
      <p:sp>
        <p:nvSpPr>
          <p:cNvPr id="17" name="Text 15"/>
          <p:cNvSpPr txBox="1"/>
          <p:nvPr/>
        </p:nvSpPr>
        <p:spPr>
          <a:xfrm>
            <a:off x="978408" y="4572000"/>
            <a:ext cx="5669280" cy="411480"/>
          </a:xfrm>
          <a:prstGeom prst="rect">
            <a:avLst/>
          </a:prstGeom>
          <a:noFill/>
          <a:ln/>
        </p:spPr>
        <p:txBody>
          <a:bodyPr wrap="square" lIns="0" tIns="0" rIns="0" bIns="0" rtlCol="0" anchor="ctr">
            <a:normAutofit fontScale="92500"/>
          </a:bodyPr>
          <a:lstStyle/>
          <a:p>
            <a:pPr marL="0" indent="0" algn="l">
              <a:buNone/>
            </a:pPr>
            <a:r>
              <a:rPr lang="en-US" sz="1800" dirty="0">
                <a:solidFill>
                  <a:srgbClr val="586B72"/>
                </a:solidFill>
                <a:latin typeface="Calibri" pitchFamily="34" charset="0"/>
                <a:ea typeface="Calibri" pitchFamily="34" charset="-122"/>
                <a:cs typeface="Calibri" pitchFamily="34" charset="-120"/>
              </a:rPr>
              <a:t>Early warning could support earlier review of a changing pattern.</a:t>
            </a:r>
            <a:endParaRPr lang="en-US" sz="1800" dirty="0"/>
          </a:p>
        </p:txBody>
      </p:sp>
      <p:sp>
        <p:nvSpPr>
          <p:cNvPr id="18" name="Shape 16"/>
          <p:cNvSpPr/>
          <p:nvPr/>
        </p:nvSpPr>
        <p:spPr>
          <a:xfrm>
            <a:off x="7479792" y="1664208"/>
            <a:ext cx="4005072" cy="3566160"/>
          </a:xfrm>
          <a:prstGeom prst="roundRect">
            <a:avLst>
              <a:gd name="adj" fmla="val 2051"/>
            </a:avLst>
          </a:prstGeom>
          <a:solidFill>
            <a:srgbClr val="EFF7F7"/>
          </a:solidFill>
          <a:ln w="11430">
            <a:solidFill>
              <a:srgbClr val="C9DEE1"/>
            </a:solidFill>
            <a:prstDash val="solid"/>
          </a:ln>
        </p:spPr>
        <p:txBody>
          <a:bodyPr/>
          <a:lstStyle/>
          <a:p>
            <a:endParaRPr lang="en-IN" dirty="0"/>
          </a:p>
        </p:txBody>
      </p:sp>
      <p:sp>
        <p:nvSpPr>
          <p:cNvPr id="19" name="Text 17"/>
          <p:cNvSpPr txBox="1"/>
          <p:nvPr/>
        </p:nvSpPr>
        <p:spPr>
          <a:xfrm>
            <a:off x="7818120" y="1965960"/>
            <a:ext cx="310896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INDIA CONTEXT</a:t>
            </a:r>
            <a:endParaRPr lang="en-US" sz="1000" dirty="0"/>
          </a:p>
        </p:txBody>
      </p:sp>
      <p:sp>
        <p:nvSpPr>
          <p:cNvPr id="20" name="Text 18"/>
          <p:cNvSpPr txBox="1"/>
          <p:nvPr/>
        </p:nvSpPr>
        <p:spPr>
          <a:xfrm>
            <a:off x="7808976" y="2404872"/>
            <a:ext cx="3063240" cy="1005840"/>
          </a:xfrm>
          <a:prstGeom prst="rect">
            <a:avLst/>
          </a:prstGeom>
          <a:noFill/>
          <a:ln/>
        </p:spPr>
        <p:txBody>
          <a:bodyPr wrap="square" lIns="0" tIns="0" rIns="0" bIns="0" rtlCol="0" anchor="t">
            <a:normAutofit fontScale="92500" lnSpcReduction="20000"/>
          </a:bodyPr>
          <a:lstStyle/>
          <a:p>
            <a:pPr marL="0" indent="0" algn="l">
              <a:buNone/>
            </a:pPr>
            <a:r>
              <a:rPr lang="en-US" sz="2900" b="1" dirty="0">
                <a:solidFill>
                  <a:srgbClr val="113E47"/>
                </a:solidFill>
                <a:latin typeface="Calibri" pitchFamily="34" charset="0"/>
                <a:ea typeface="Calibri" pitchFamily="34" charset="-122"/>
                <a:cs typeface="Calibri" pitchFamily="34" charset="-120"/>
              </a:rPr>
              <a:t>Air pollution</a:t>
            </a:r>
            <a:endParaRPr lang="en-US" sz="2900" dirty="0"/>
          </a:p>
          <a:p>
            <a:pPr marL="0" indent="0" algn="l">
              <a:buNone/>
            </a:pPr>
            <a:r>
              <a:rPr lang="en-US" sz="2900" b="1" dirty="0">
                <a:solidFill>
                  <a:srgbClr val="113E47"/>
                </a:solidFill>
                <a:latin typeface="Calibri" pitchFamily="34" charset="0"/>
                <a:ea typeface="Calibri" pitchFamily="34" charset="-122"/>
                <a:cs typeface="Calibri" pitchFamily="34" charset="-120"/>
              </a:rPr>
              <a:t>and respiratory health</a:t>
            </a:r>
            <a:endParaRPr lang="en-US" sz="2900" dirty="0"/>
          </a:p>
        </p:txBody>
      </p:sp>
      <p:sp>
        <p:nvSpPr>
          <p:cNvPr id="21" name="Shape 19"/>
          <p:cNvSpPr/>
          <p:nvPr/>
        </p:nvSpPr>
        <p:spPr>
          <a:xfrm>
            <a:off x="7818120" y="3730752"/>
            <a:ext cx="2880360" cy="18288"/>
          </a:xfrm>
          <a:prstGeom prst="rect">
            <a:avLst/>
          </a:prstGeom>
          <a:solidFill>
            <a:srgbClr val="BDD2D6"/>
          </a:solidFill>
          <a:ln w="10160">
            <a:solidFill>
              <a:srgbClr val="BDD2D6"/>
            </a:solidFill>
            <a:prstDash val="solid"/>
          </a:ln>
        </p:spPr>
      </p:sp>
      <p:sp>
        <p:nvSpPr>
          <p:cNvPr id="22" name="Text 20"/>
          <p:cNvSpPr txBox="1"/>
          <p:nvPr/>
        </p:nvSpPr>
        <p:spPr>
          <a:xfrm>
            <a:off x="7808977" y="3918111"/>
            <a:ext cx="3490394" cy="535017"/>
          </a:xfrm>
          <a:prstGeom prst="rect">
            <a:avLst/>
          </a:prstGeom>
          <a:noFill/>
          <a:ln/>
        </p:spPr>
        <p:txBody>
          <a:bodyPr wrap="square" lIns="0" tIns="0" rIns="0" bIns="0" rtlCol="0" anchor="ctr">
            <a:normAutofit fontScale="70000" lnSpcReduction="20000"/>
          </a:bodyPr>
          <a:lstStyle/>
          <a:p>
            <a:r>
              <a:rPr lang="en-IN" sz="2800" dirty="0"/>
              <a:t>12.9% of global asthma cases, 42.3% of global asthma deaths</a:t>
            </a:r>
            <a:endParaRPr lang="en-US" sz="2500" dirty="0"/>
          </a:p>
        </p:txBody>
      </p:sp>
      <p:sp>
        <p:nvSpPr>
          <p:cNvPr id="23" name="Text 21"/>
          <p:cNvSpPr txBox="1"/>
          <p:nvPr/>
        </p:nvSpPr>
        <p:spPr>
          <a:xfrm>
            <a:off x="7818120" y="4535424"/>
            <a:ext cx="3210664" cy="448056"/>
          </a:xfrm>
          <a:prstGeom prst="rect">
            <a:avLst/>
          </a:prstGeom>
          <a:noFill/>
          <a:ln/>
        </p:spPr>
        <p:txBody>
          <a:bodyPr wrap="square" lIns="0" tIns="0" rIns="0" bIns="0" rtlCol="0" anchor="ctr">
            <a:normAutofit/>
          </a:bodyPr>
          <a:lstStyle/>
          <a:p>
            <a:r>
              <a:rPr lang="en-IN" sz="1400" dirty="0"/>
              <a:t>India, GBD 2019 estimates (Lung India, 2022)</a:t>
            </a:r>
            <a:r>
              <a:rPr lang="en-US" sz="1400" dirty="0">
                <a:solidFill>
                  <a:srgbClr val="586B72"/>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THE TWIN</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A patient-specific state, updated over time</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Six steps from historical context to an explorable forecast.</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85800" y="1737360"/>
            <a:ext cx="3246120" cy="1481328"/>
          </a:xfrm>
          <a:prstGeom prst="roundRect">
            <a:avLst>
              <a:gd name="adj" fmla="val 4938"/>
            </a:avLst>
          </a:prstGeom>
          <a:solidFill>
            <a:srgbClr val="FFFFFF"/>
          </a:solidFill>
          <a:ln w="11430">
            <a:solidFill>
              <a:srgbClr val="D8E1E4"/>
            </a:solidFill>
            <a:prstDash val="solid"/>
          </a:ln>
        </p:spPr>
      </p:sp>
      <p:sp>
        <p:nvSpPr>
          <p:cNvPr id="7" name="Shape 5"/>
          <p:cNvSpPr/>
          <p:nvPr/>
        </p:nvSpPr>
        <p:spPr>
          <a:xfrm>
            <a:off x="685800" y="1737360"/>
            <a:ext cx="64008" cy="1481328"/>
          </a:xfrm>
          <a:prstGeom prst="rect">
            <a:avLst/>
          </a:prstGeom>
          <a:solidFill>
            <a:srgbClr val="0E6671"/>
          </a:solidFill>
          <a:ln w="10160">
            <a:solidFill>
              <a:srgbClr val="0E6671"/>
            </a:solidFill>
            <a:prstDash val="solid"/>
          </a:ln>
        </p:spPr>
      </p:sp>
      <p:sp>
        <p:nvSpPr>
          <p:cNvPr id="8" name="Shape 6"/>
          <p:cNvSpPr/>
          <p:nvPr/>
        </p:nvSpPr>
        <p:spPr>
          <a:xfrm>
            <a:off x="886968" y="1901952"/>
            <a:ext cx="530352" cy="292608"/>
          </a:xfrm>
          <a:prstGeom prst="roundRect">
            <a:avLst>
              <a:gd name="adj" fmla="val 25000"/>
            </a:avLst>
          </a:prstGeom>
          <a:solidFill>
            <a:srgbClr val="DDECEF"/>
          </a:solidFill>
          <a:ln w="1270">
            <a:solidFill>
              <a:srgbClr val="DDECEF"/>
            </a:solidFill>
            <a:prstDash val="solid"/>
          </a:ln>
        </p:spPr>
      </p:sp>
      <p:sp>
        <p:nvSpPr>
          <p:cNvPr id="9" name="Text 7"/>
          <p:cNvSpPr txBox="1"/>
          <p:nvPr/>
        </p:nvSpPr>
        <p:spPr>
          <a:xfrm>
            <a:off x="950976" y="191566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01</a:t>
            </a:r>
            <a:endParaRPr lang="en-US" sz="1200" dirty="0"/>
          </a:p>
        </p:txBody>
      </p:sp>
      <p:sp>
        <p:nvSpPr>
          <p:cNvPr id="10" name="Text 8"/>
          <p:cNvSpPr txBox="1"/>
          <p:nvPr/>
        </p:nvSpPr>
        <p:spPr>
          <a:xfrm>
            <a:off x="886968" y="230428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Load EHR profile</a:t>
            </a:r>
            <a:endParaRPr lang="en-US" sz="2100" dirty="0"/>
          </a:p>
        </p:txBody>
      </p:sp>
      <p:sp>
        <p:nvSpPr>
          <p:cNvPr id="11" name="Text 9"/>
          <p:cNvSpPr txBox="1"/>
          <p:nvPr/>
        </p:nvSpPr>
        <p:spPr>
          <a:xfrm>
            <a:off x="886968" y="2724912"/>
            <a:ext cx="2788920" cy="347472"/>
          </a:xfrm>
          <a:prstGeom prst="rect">
            <a:avLst/>
          </a:prstGeom>
          <a:noFill/>
          <a:ln/>
        </p:spPr>
        <p:txBody>
          <a:bodyPr wrap="square" lIns="0" tIns="0" rIns="0" bIns="0" rtlCol="0" anchor="t">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History + baseline</a:t>
            </a:r>
            <a:endParaRPr lang="en-US" sz="1400" dirty="0"/>
          </a:p>
        </p:txBody>
      </p:sp>
      <p:sp>
        <p:nvSpPr>
          <p:cNvPr id="12" name="Shape 10"/>
          <p:cNvSpPr/>
          <p:nvPr/>
        </p:nvSpPr>
        <p:spPr>
          <a:xfrm>
            <a:off x="3995928" y="2313432"/>
            <a:ext cx="201168" cy="320040"/>
          </a:xfrm>
          <a:prstGeom prst="chevron">
            <a:avLst/>
          </a:prstGeom>
          <a:solidFill>
            <a:srgbClr val="0E6671"/>
          </a:solidFill>
          <a:ln w="6350">
            <a:solidFill>
              <a:srgbClr val="0E6671"/>
            </a:solidFill>
            <a:prstDash val="solid"/>
          </a:ln>
        </p:spPr>
      </p:sp>
      <p:sp>
        <p:nvSpPr>
          <p:cNvPr id="13" name="Shape 11"/>
          <p:cNvSpPr/>
          <p:nvPr/>
        </p:nvSpPr>
        <p:spPr>
          <a:xfrm>
            <a:off x="4251960" y="1737360"/>
            <a:ext cx="3246120" cy="1481328"/>
          </a:xfrm>
          <a:prstGeom prst="roundRect">
            <a:avLst>
              <a:gd name="adj" fmla="val 4938"/>
            </a:avLst>
          </a:prstGeom>
          <a:solidFill>
            <a:srgbClr val="FFFFFF"/>
          </a:solidFill>
          <a:ln w="11430">
            <a:solidFill>
              <a:srgbClr val="D8E1E4"/>
            </a:solidFill>
            <a:prstDash val="solid"/>
          </a:ln>
        </p:spPr>
      </p:sp>
      <p:sp>
        <p:nvSpPr>
          <p:cNvPr id="14" name="Shape 12"/>
          <p:cNvSpPr/>
          <p:nvPr/>
        </p:nvSpPr>
        <p:spPr>
          <a:xfrm>
            <a:off x="4251960" y="1737360"/>
            <a:ext cx="64008" cy="1481328"/>
          </a:xfrm>
          <a:prstGeom prst="rect">
            <a:avLst/>
          </a:prstGeom>
          <a:solidFill>
            <a:srgbClr val="0E6671"/>
          </a:solidFill>
          <a:ln w="10160">
            <a:solidFill>
              <a:srgbClr val="0E6671"/>
            </a:solidFill>
            <a:prstDash val="solid"/>
          </a:ln>
        </p:spPr>
      </p:sp>
      <p:sp>
        <p:nvSpPr>
          <p:cNvPr id="15" name="Shape 13"/>
          <p:cNvSpPr/>
          <p:nvPr/>
        </p:nvSpPr>
        <p:spPr>
          <a:xfrm>
            <a:off x="4453128" y="1901952"/>
            <a:ext cx="530352" cy="292608"/>
          </a:xfrm>
          <a:prstGeom prst="roundRect">
            <a:avLst>
              <a:gd name="adj" fmla="val 25000"/>
            </a:avLst>
          </a:prstGeom>
          <a:solidFill>
            <a:srgbClr val="DDECEF"/>
          </a:solidFill>
          <a:ln w="1270">
            <a:solidFill>
              <a:srgbClr val="DDECEF"/>
            </a:solidFill>
            <a:prstDash val="solid"/>
          </a:ln>
        </p:spPr>
      </p:sp>
      <p:sp>
        <p:nvSpPr>
          <p:cNvPr id="16" name="Text 14"/>
          <p:cNvSpPr txBox="1"/>
          <p:nvPr/>
        </p:nvSpPr>
        <p:spPr>
          <a:xfrm>
            <a:off x="4517136" y="191566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02</a:t>
            </a:r>
            <a:endParaRPr lang="en-US" sz="1200" dirty="0"/>
          </a:p>
        </p:txBody>
      </p:sp>
      <p:sp>
        <p:nvSpPr>
          <p:cNvPr id="17" name="Text 15"/>
          <p:cNvSpPr txBox="1"/>
          <p:nvPr/>
        </p:nvSpPr>
        <p:spPr>
          <a:xfrm>
            <a:off x="4453128" y="230428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Ingest hourly signals</a:t>
            </a:r>
            <a:endParaRPr lang="en-US" sz="2100" dirty="0"/>
          </a:p>
        </p:txBody>
      </p:sp>
      <p:sp>
        <p:nvSpPr>
          <p:cNvPr id="18" name="Text 16"/>
          <p:cNvSpPr txBox="1"/>
          <p:nvPr/>
        </p:nvSpPr>
        <p:spPr>
          <a:xfrm>
            <a:off x="4453128" y="2724912"/>
            <a:ext cx="2788920" cy="347472"/>
          </a:xfrm>
          <a:prstGeom prst="rect">
            <a:avLst/>
          </a:prstGeom>
          <a:noFill/>
          <a:ln/>
        </p:spPr>
        <p:txBody>
          <a:bodyPr wrap="square" lIns="0" tIns="0" rIns="0" bIns="0" rtlCol="0" anchor="t">
            <a:normAutofit fontScale="92500" lnSpcReduction="20000"/>
          </a:bodyPr>
          <a:lstStyle/>
          <a:p>
            <a:pPr marL="0" indent="0" algn="l">
              <a:buNone/>
            </a:pPr>
            <a:r>
              <a:rPr lang="en-US" sz="1400" dirty="0">
                <a:solidFill>
                  <a:srgbClr val="586B72"/>
                </a:solidFill>
                <a:latin typeface="Calibri" pitchFamily="34" charset="0"/>
                <a:ea typeface="Calibri" pitchFamily="34" charset="-122"/>
                <a:cs typeface="Calibri" pitchFamily="34" charset="-120"/>
              </a:rPr>
              <a:t>Pollution · wearable · adherence · symptoms</a:t>
            </a:r>
            <a:endParaRPr lang="en-US" sz="1400" dirty="0"/>
          </a:p>
        </p:txBody>
      </p:sp>
      <p:sp>
        <p:nvSpPr>
          <p:cNvPr id="19" name="Shape 17"/>
          <p:cNvSpPr/>
          <p:nvPr/>
        </p:nvSpPr>
        <p:spPr>
          <a:xfrm>
            <a:off x="7562088" y="2313432"/>
            <a:ext cx="201168" cy="320040"/>
          </a:xfrm>
          <a:prstGeom prst="chevron">
            <a:avLst/>
          </a:prstGeom>
          <a:solidFill>
            <a:srgbClr val="0E6671"/>
          </a:solidFill>
          <a:ln w="6350">
            <a:solidFill>
              <a:srgbClr val="0E6671"/>
            </a:solidFill>
            <a:prstDash val="solid"/>
          </a:ln>
        </p:spPr>
      </p:sp>
      <p:sp>
        <p:nvSpPr>
          <p:cNvPr id="20" name="Shape 18"/>
          <p:cNvSpPr/>
          <p:nvPr/>
        </p:nvSpPr>
        <p:spPr>
          <a:xfrm>
            <a:off x="7818120" y="1737360"/>
            <a:ext cx="3246120" cy="1481328"/>
          </a:xfrm>
          <a:prstGeom prst="roundRect">
            <a:avLst>
              <a:gd name="adj" fmla="val 4938"/>
            </a:avLst>
          </a:prstGeom>
          <a:solidFill>
            <a:srgbClr val="FFFFFF"/>
          </a:solidFill>
          <a:ln w="11430">
            <a:solidFill>
              <a:srgbClr val="D8E1E4"/>
            </a:solidFill>
            <a:prstDash val="solid"/>
          </a:ln>
        </p:spPr>
      </p:sp>
      <p:sp>
        <p:nvSpPr>
          <p:cNvPr id="21" name="Shape 19"/>
          <p:cNvSpPr/>
          <p:nvPr/>
        </p:nvSpPr>
        <p:spPr>
          <a:xfrm>
            <a:off x="7818120" y="1737360"/>
            <a:ext cx="64008" cy="1481328"/>
          </a:xfrm>
          <a:prstGeom prst="rect">
            <a:avLst/>
          </a:prstGeom>
          <a:solidFill>
            <a:srgbClr val="0E6671"/>
          </a:solidFill>
          <a:ln w="10160">
            <a:solidFill>
              <a:srgbClr val="0E6671"/>
            </a:solidFill>
            <a:prstDash val="solid"/>
          </a:ln>
        </p:spPr>
      </p:sp>
      <p:sp>
        <p:nvSpPr>
          <p:cNvPr id="22" name="Shape 20"/>
          <p:cNvSpPr/>
          <p:nvPr/>
        </p:nvSpPr>
        <p:spPr>
          <a:xfrm>
            <a:off x="8019288" y="1901952"/>
            <a:ext cx="530352" cy="292608"/>
          </a:xfrm>
          <a:prstGeom prst="roundRect">
            <a:avLst>
              <a:gd name="adj" fmla="val 25000"/>
            </a:avLst>
          </a:prstGeom>
          <a:solidFill>
            <a:srgbClr val="DDECEF"/>
          </a:solidFill>
          <a:ln w="1270">
            <a:solidFill>
              <a:srgbClr val="DDECEF"/>
            </a:solidFill>
            <a:prstDash val="solid"/>
          </a:ln>
        </p:spPr>
      </p:sp>
      <p:sp>
        <p:nvSpPr>
          <p:cNvPr id="23" name="Text 21"/>
          <p:cNvSpPr txBox="1"/>
          <p:nvPr/>
        </p:nvSpPr>
        <p:spPr>
          <a:xfrm>
            <a:off x="8083296" y="191566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03</a:t>
            </a:r>
            <a:endParaRPr lang="en-US" sz="1200" dirty="0"/>
          </a:p>
        </p:txBody>
      </p:sp>
      <p:sp>
        <p:nvSpPr>
          <p:cNvPr id="24" name="Text 22"/>
          <p:cNvSpPr txBox="1"/>
          <p:nvPr/>
        </p:nvSpPr>
        <p:spPr>
          <a:xfrm>
            <a:off x="8019288" y="230428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Update twin state</a:t>
            </a:r>
            <a:endParaRPr lang="en-US" sz="2100" dirty="0"/>
          </a:p>
        </p:txBody>
      </p:sp>
      <p:sp>
        <p:nvSpPr>
          <p:cNvPr id="25" name="Text 23"/>
          <p:cNvSpPr txBox="1"/>
          <p:nvPr/>
        </p:nvSpPr>
        <p:spPr>
          <a:xfrm>
            <a:off x="8019288" y="2724912"/>
            <a:ext cx="2788920" cy="347472"/>
          </a:xfrm>
          <a:prstGeom prst="rect">
            <a:avLst/>
          </a:prstGeom>
          <a:noFill/>
          <a:ln/>
        </p:spPr>
        <p:txBody>
          <a:bodyPr wrap="square" lIns="0" tIns="0" rIns="0" bIns="0" rtlCol="0" anchor="t">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Align and validate observations</a:t>
            </a:r>
            <a:endParaRPr lang="en-US" sz="1400" dirty="0"/>
          </a:p>
        </p:txBody>
      </p:sp>
      <p:sp>
        <p:nvSpPr>
          <p:cNvPr id="26" name="Shape 24"/>
          <p:cNvSpPr/>
          <p:nvPr/>
        </p:nvSpPr>
        <p:spPr>
          <a:xfrm>
            <a:off x="685800" y="3886200"/>
            <a:ext cx="3246120" cy="1481328"/>
          </a:xfrm>
          <a:prstGeom prst="roundRect">
            <a:avLst>
              <a:gd name="adj" fmla="val 4938"/>
            </a:avLst>
          </a:prstGeom>
          <a:solidFill>
            <a:srgbClr val="FFFFFF"/>
          </a:solidFill>
          <a:ln w="11430">
            <a:solidFill>
              <a:srgbClr val="D8E1E4"/>
            </a:solidFill>
            <a:prstDash val="solid"/>
          </a:ln>
        </p:spPr>
      </p:sp>
      <p:sp>
        <p:nvSpPr>
          <p:cNvPr id="27" name="Shape 25"/>
          <p:cNvSpPr/>
          <p:nvPr/>
        </p:nvSpPr>
        <p:spPr>
          <a:xfrm>
            <a:off x="685800" y="3886200"/>
            <a:ext cx="64008" cy="1481328"/>
          </a:xfrm>
          <a:prstGeom prst="rect">
            <a:avLst/>
          </a:prstGeom>
          <a:solidFill>
            <a:srgbClr val="0E6671"/>
          </a:solidFill>
          <a:ln w="10160">
            <a:solidFill>
              <a:srgbClr val="0E6671"/>
            </a:solidFill>
            <a:prstDash val="solid"/>
          </a:ln>
        </p:spPr>
      </p:sp>
      <p:sp>
        <p:nvSpPr>
          <p:cNvPr id="28" name="Shape 26"/>
          <p:cNvSpPr/>
          <p:nvPr/>
        </p:nvSpPr>
        <p:spPr>
          <a:xfrm>
            <a:off x="886968" y="4050792"/>
            <a:ext cx="530352" cy="292608"/>
          </a:xfrm>
          <a:prstGeom prst="roundRect">
            <a:avLst>
              <a:gd name="adj" fmla="val 25000"/>
            </a:avLst>
          </a:prstGeom>
          <a:solidFill>
            <a:srgbClr val="DDECEF"/>
          </a:solidFill>
          <a:ln w="1270">
            <a:solidFill>
              <a:srgbClr val="DDECEF"/>
            </a:solidFill>
            <a:prstDash val="solid"/>
          </a:ln>
        </p:spPr>
      </p:sp>
      <p:sp>
        <p:nvSpPr>
          <p:cNvPr id="29" name="Text 27"/>
          <p:cNvSpPr txBox="1"/>
          <p:nvPr/>
        </p:nvSpPr>
        <p:spPr>
          <a:xfrm>
            <a:off x="950976" y="406450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04</a:t>
            </a:r>
            <a:endParaRPr lang="en-US" sz="1200" dirty="0"/>
          </a:p>
        </p:txBody>
      </p:sp>
      <p:sp>
        <p:nvSpPr>
          <p:cNvPr id="30" name="Text 28"/>
          <p:cNvSpPr txBox="1"/>
          <p:nvPr/>
        </p:nvSpPr>
        <p:spPr>
          <a:xfrm>
            <a:off x="886968" y="445312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Forecast 24h risk</a:t>
            </a:r>
            <a:endParaRPr lang="en-US" sz="2100" dirty="0"/>
          </a:p>
        </p:txBody>
      </p:sp>
      <p:sp>
        <p:nvSpPr>
          <p:cNvPr id="31" name="Text 29"/>
          <p:cNvSpPr txBox="1"/>
          <p:nvPr/>
        </p:nvSpPr>
        <p:spPr>
          <a:xfrm>
            <a:off x="886968" y="4873752"/>
            <a:ext cx="2788920" cy="347472"/>
          </a:xfrm>
          <a:prstGeom prst="rect">
            <a:avLst/>
          </a:prstGeom>
          <a:noFill/>
          <a:ln/>
        </p:spPr>
        <p:txBody>
          <a:bodyPr wrap="square" lIns="0" tIns="0" rIns="0" bIns="0" rtlCol="0" anchor="t">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Model estimates event probability</a:t>
            </a:r>
            <a:endParaRPr lang="en-US" sz="1400" dirty="0"/>
          </a:p>
        </p:txBody>
      </p:sp>
      <p:sp>
        <p:nvSpPr>
          <p:cNvPr id="32" name="Shape 30"/>
          <p:cNvSpPr/>
          <p:nvPr/>
        </p:nvSpPr>
        <p:spPr>
          <a:xfrm>
            <a:off x="3995928" y="4462272"/>
            <a:ext cx="201168" cy="320040"/>
          </a:xfrm>
          <a:prstGeom prst="chevron">
            <a:avLst/>
          </a:prstGeom>
          <a:solidFill>
            <a:srgbClr val="0E6671"/>
          </a:solidFill>
          <a:ln w="6350">
            <a:solidFill>
              <a:srgbClr val="0E6671"/>
            </a:solidFill>
            <a:prstDash val="solid"/>
          </a:ln>
        </p:spPr>
      </p:sp>
      <p:sp>
        <p:nvSpPr>
          <p:cNvPr id="33" name="Shape 31"/>
          <p:cNvSpPr/>
          <p:nvPr/>
        </p:nvSpPr>
        <p:spPr>
          <a:xfrm>
            <a:off x="4251960" y="3886200"/>
            <a:ext cx="3246120" cy="1481328"/>
          </a:xfrm>
          <a:prstGeom prst="roundRect">
            <a:avLst>
              <a:gd name="adj" fmla="val 4938"/>
            </a:avLst>
          </a:prstGeom>
          <a:solidFill>
            <a:srgbClr val="FFFFFF"/>
          </a:solidFill>
          <a:ln w="11430">
            <a:solidFill>
              <a:srgbClr val="D8E1E4"/>
            </a:solidFill>
            <a:prstDash val="solid"/>
          </a:ln>
        </p:spPr>
      </p:sp>
      <p:sp>
        <p:nvSpPr>
          <p:cNvPr id="34" name="Shape 32"/>
          <p:cNvSpPr/>
          <p:nvPr/>
        </p:nvSpPr>
        <p:spPr>
          <a:xfrm>
            <a:off x="4251960" y="3886200"/>
            <a:ext cx="64008" cy="1481328"/>
          </a:xfrm>
          <a:prstGeom prst="rect">
            <a:avLst/>
          </a:prstGeom>
          <a:solidFill>
            <a:srgbClr val="0E6671"/>
          </a:solidFill>
          <a:ln w="10160">
            <a:solidFill>
              <a:srgbClr val="0E6671"/>
            </a:solidFill>
            <a:prstDash val="solid"/>
          </a:ln>
        </p:spPr>
      </p:sp>
      <p:sp>
        <p:nvSpPr>
          <p:cNvPr id="35" name="Shape 33"/>
          <p:cNvSpPr/>
          <p:nvPr/>
        </p:nvSpPr>
        <p:spPr>
          <a:xfrm>
            <a:off x="4453128" y="4050792"/>
            <a:ext cx="530352" cy="292608"/>
          </a:xfrm>
          <a:prstGeom prst="roundRect">
            <a:avLst>
              <a:gd name="adj" fmla="val 25000"/>
            </a:avLst>
          </a:prstGeom>
          <a:solidFill>
            <a:srgbClr val="DDECEF"/>
          </a:solidFill>
          <a:ln w="1270">
            <a:solidFill>
              <a:srgbClr val="DDECEF"/>
            </a:solidFill>
            <a:prstDash val="solid"/>
          </a:ln>
        </p:spPr>
      </p:sp>
      <p:sp>
        <p:nvSpPr>
          <p:cNvPr id="36" name="Text 34"/>
          <p:cNvSpPr txBox="1"/>
          <p:nvPr/>
        </p:nvSpPr>
        <p:spPr>
          <a:xfrm>
            <a:off x="4517136" y="406450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05</a:t>
            </a:r>
            <a:endParaRPr lang="en-US" sz="1200" dirty="0"/>
          </a:p>
        </p:txBody>
      </p:sp>
      <p:sp>
        <p:nvSpPr>
          <p:cNvPr id="37" name="Text 35"/>
          <p:cNvSpPr txBox="1"/>
          <p:nvPr/>
        </p:nvSpPr>
        <p:spPr>
          <a:xfrm>
            <a:off x="4453128" y="445312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Explain the output</a:t>
            </a:r>
            <a:endParaRPr lang="en-US" sz="2100" dirty="0"/>
          </a:p>
        </p:txBody>
      </p:sp>
      <p:sp>
        <p:nvSpPr>
          <p:cNvPr id="38" name="Text 36"/>
          <p:cNvSpPr txBox="1"/>
          <p:nvPr/>
        </p:nvSpPr>
        <p:spPr>
          <a:xfrm>
            <a:off x="4453128" y="4873752"/>
            <a:ext cx="2788920" cy="347472"/>
          </a:xfrm>
          <a:prstGeom prst="rect">
            <a:avLst/>
          </a:prstGeom>
          <a:noFill/>
          <a:ln/>
        </p:spPr>
        <p:txBody>
          <a:bodyPr wrap="square" lIns="0" tIns="0" rIns="0" bIns="0" rtlCol="0" anchor="t">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Signal families + history</a:t>
            </a:r>
            <a:endParaRPr lang="en-US" sz="1400" dirty="0"/>
          </a:p>
        </p:txBody>
      </p:sp>
      <p:sp>
        <p:nvSpPr>
          <p:cNvPr id="39" name="Shape 37"/>
          <p:cNvSpPr/>
          <p:nvPr/>
        </p:nvSpPr>
        <p:spPr>
          <a:xfrm>
            <a:off x="7562088" y="4462272"/>
            <a:ext cx="201168" cy="320040"/>
          </a:xfrm>
          <a:prstGeom prst="chevron">
            <a:avLst/>
          </a:prstGeom>
          <a:solidFill>
            <a:srgbClr val="0E6671"/>
          </a:solidFill>
          <a:ln w="6350">
            <a:solidFill>
              <a:srgbClr val="0E6671"/>
            </a:solidFill>
            <a:prstDash val="solid"/>
          </a:ln>
        </p:spPr>
      </p:sp>
      <p:sp>
        <p:nvSpPr>
          <p:cNvPr id="40" name="Shape 38"/>
          <p:cNvSpPr/>
          <p:nvPr/>
        </p:nvSpPr>
        <p:spPr>
          <a:xfrm>
            <a:off x="7818120" y="3886200"/>
            <a:ext cx="3246120" cy="1481328"/>
          </a:xfrm>
          <a:prstGeom prst="roundRect">
            <a:avLst>
              <a:gd name="adj" fmla="val 4938"/>
            </a:avLst>
          </a:prstGeom>
          <a:solidFill>
            <a:srgbClr val="FFFFFF"/>
          </a:solidFill>
          <a:ln w="11430">
            <a:solidFill>
              <a:srgbClr val="D8E1E4"/>
            </a:solidFill>
            <a:prstDash val="solid"/>
          </a:ln>
        </p:spPr>
      </p:sp>
      <p:sp>
        <p:nvSpPr>
          <p:cNvPr id="41" name="Shape 39"/>
          <p:cNvSpPr/>
          <p:nvPr/>
        </p:nvSpPr>
        <p:spPr>
          <a:xfrm>
            <a:off x="7818120" y="3886200"/>
            <a:ext cx="64008" cy="1481328"/>
          </a:xfrm>
          <a:prstGeom prst="rect">
            <a:avLst/>
          </a:prstGeom>
          <a:solidFill>
            <a:srgbClr val="0E6671"/>
          </a:solidFill>
          <a:ln w="10160">
            <a:solidFill>
              <a:srgbClr val="0E6671"/>
            </a:solidFill>
            <a:prstDash val="solid"/>
          </a:ln>
        </p:spPr>
      </p:sp>
      <p:sp>
        <p:nvSpPr>
          <p:cNvPr id="42" name="Shape 40"/>
          <p:cNvSpPr/>
          <p:nvPr/>
        </p:nvSpPr>
        <p:spPr>
          <a:xfrm>
            <a:off x="8019288" y="4050792"/>
            <a:ext cx="530352" cy="292608"/>
          </a:xfrm>
          <a:prstGeom prst="roundRect">
            <a:avLst>
              <a:gd name="adj" fmla="val 25000"/>
            </a:avLst>
          </a:prstGeom>
          <a:solidFill>
            <a:srgbClr val="DDECEF"/>
          </a:solidFill>
          <a:ln w="1270">
            <a:solidFill>
              <a:srgbClr val="DDECEF"/>
            </a:solidFill>
            <a:prstDash val="solid"/>
          </a:ln>
        </p:spPr>
      </p:sp>
      <p:sp>
        <p:nvSpPr>
          <p:cNvPr id="43" name="Text 41"/>
          <p:cNvSpPr txBox="1"/>
          <p:nvPr/>
        </p:nvSpPr>
        <p:spPr>
          <a:xfrm>
            <a:off x="8083296" y="4064508"/>
            <a:ext cx="402336" cy="246888"/>
          </a:xfrm>
          <a:prstGeom prst="rect">
            <a:avLst/>
          </a:prstGeom>
          <a:noFill/>
          <a:ln/>
        </p:spPr>
        <p:txBody>
          <a:bodyPr wrap="square" lIns="0" tIns="0" rIns="0" bIns="0" rtlCol="0" anchor="ctr">
            <a:normAutofit/>
          </a:bodyPr>
          <a:lstStyle/>
          <a:p>
            <a:pPr marL="0" indent="0" algn="ctr">
              <a:buNone/>
            </a:pPr>
            <a:r>
              <a:rPr lang="en-US" sz="1200" b="1" dirty="0">
                <a:solidFill>
                  <a:srgbClr val="0E6671"/>
                </a:solidFill>
                <a:latin typeface="Calibri" pitchFamily="34" charset="0"/>
                <a:ea typeface="Calibri" pitchFamily="34" charset="-122"/>
                <a:cs typeface="Calibri" pitchFamily="34" charset="-120"/>
              </a:rPr>
              <a:t>06</a:t>
            </a:r>
            <a:endParaRPr lang="en-US" sz="1200" dirty="0"/>
          </a:p>
        </p:txBody>
      </p:sp>
      <p:sp>
        <p:nvSpPr>
          <p:cNvPr id="44" name="Text 42"/>
          <p:cNvSpPr txBox="1"/>
          <p:nvPr/>
        </p:nvSpPr>
        <p:spPr>
          <a:xfrm>
            <a:off x="8019288" y="4453128"/>
            <a:ext cx="2788920" cy="329184"/>
          </a:xfrm>
          <a:prstGeom prst="rect">
            <a:avLst/>
          </a:prstGeom>
          <a:noFill/>
          <a:ln/>
        </p:spPr>
        <p:txBody>
          <a:bodyPr wrap="square" lIns="0" tIns="0" rIns="0" bIns="0" rtlCol="0" anchor="ctr">
            <a:normAutofit/>
          </a:bodyPr>
          <a:lstStyle/>
          <a:p>
            <a:pPr marL="0" indent="0" algn="l">
              <a:buNone/>
            </a:pPr>
            <a:r>
              <a:rPr lang="en-US" sz="2100" b="1" dirty="0">
                <a:solidFill>
                  <a:srgbClr val="172D33"/>
                </a:solidFill>
                <a:latin typeface="Calibri" pitchFamily="34" charset="0"/>
                <a:ea typeface="Calibri" pitchFamily="34" charset="-122"/>
                <a:cs typeface="Calibri" pitchFamily="34" charset="-120"/>
              </a:rPr>
              <a:t>Ask what-if questions</a:t>
            </a:r>
            <a:endParaRPr lang="en-US" sz="2100" dirty="0"/>
          </a:p>
        </p:txBody>
      </p:sp>
      <p:sp>
        <p:nvSpPr>
          <p:cNvPr id="45" name="Text 43"/>
          <p:cNvSpPr txBox="1"/>
          <p:nvPr/>
        </p:nvSpPr>
        <p:spPr>
          <a:xfrm>
            <a:off x="8019288" y="4873752"/>
            <a:ext cx="2788920" cy="347472"/>
          </a:xfrm>
          <a:prstGeom prst="rect">
            <a:avLst/>
          </a:prstGeom>
          <a:noFill/>
          <a:ln/>
        </p:spPr>
        <p:txBody>
          <a:bodyPr wrap="square" lIns="0" tIns="0" rIns="0" bIns="0" rtlCol="0" anchor="t">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Hypothetical inputs only</a:t>
            </a:r>
            <a:endParaRPr lang="en-US" sz="1400" dirty="0"/>
          </a:p>
        </p:txBody>
      </p:sp>
      <p:sp>
        <p:nvSpPr>
          <p:cNvPr id="46" name="Text 44"/>
          <p:cNvSpPr txBox="1"/>
          <p:nvPr/>
        </p:nvSpPr>
        <p:spPr>
          <a:xfrm>
            <a:off x="731520" y="5879592"/>
            <a:ext cx="10881360" cy="292608"/>
          </a:xfrm>
          <a:prstGeom prst="rect">
            <a:avLst/>
          </a:prstGeom>
          <a:noFill/>
          <a:ln/>
        </p:spPr>
        <p:txBody>
          <a:bodyPr wrap="square" lIns="0" tIns="0" rIns="0" bIns="0" rtlCol="0" anchor="ctr">
            <a:normAutofit/>
          </a:bodyPr>
          <a:lstStyle/>
          <a:p>
            <a:pPr marL="0" indent="0" algn="ctr">
              <a:buNone/>
            </a:pPr>
            <a:r>
              <a:rPr lang="en-US" sz="1700" b="1" dirty="0">
                <a:solidFill>
                  <a:srgbClr val="0E6671"/>
                </a:solidFill>
                <a:latin typeface="Calibri" pitchFamily="34" charset="0"/>
                <a:ea typeface="Calibri" pitchFamily="34" charset="-122"/>
                <a:cs typeface="Calibri" pitchFamily="34" charset="-120"/>
              </a:rPr>
              <a:t>State updates and what-if responses are recorded separately from original observations.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SYSTEM ARCHITECTURE</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Two streams. One virtual patient. A traceable forecast.</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Architecture at a glance</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40080" y="1847088"/>
            <a:ext cx="2212848" cy="2578608"/>
          </a:xfrm>
          <a:prstGeom prst="roundRect">
            <a:avLst>
              <a:gd name="adj" fmla="val 3306"/>
            </a:avLst>
          </a:prstGeom>
          <a:solidFill>
            <a:srgbClr val="FFFFFF"/>
          </a:solidFill>
          <a:ln w="11430">
            <a:solidFill>
              <a:srgbClr val="D8E1E4"/>
            </a:solidFill>
            <a:prstDash val="solid"/>
          </a:ln>
        </p:spPr>
      </p:sp>
      <p:sp>
        <p:nvSpPr>
          <p:cNvPr id="7" name="Shape 5"/>
          <p:cNvSpPr/>
          <p:nvPr/>
        </p:nvSpPr>
        <p:spPr>
          <a:xfrm>
            <a:off x="640080" y="1847088"/>
            <a:ext cx="64008" cy="2578608"/>
          </a:xfrm>
          <a:prstGeom prst="rect">
            <a:avLst/>
          </a:prstGeom>
          <a:solidFill>
            <a:srgbClr val="0E6671"/>
          </a:solidFill>
          <a:ln w="10160">
            <a:solidFill>
              <a:srgbClr val="0E6671"/>
            </a:solidFill>
            <a:prstDash val="solid"/>
          </a:ln>
        </p:spPr>
      </p:sp>
      <p:sp>
        <p:nvSpPr>
          <p:cNvPr id="8" name="Text 6"/>
          <p:cNvSpPr txBox="1"/>
          <p:nvPr/>
        </p:nvSpPr>
        <p:spPr>
          <a:xfrm>
            <a:off x="804672" y="2029968"/>
            <a:ext cx="1883664" cy="274320"/>
          </a:xfrm>
          <a:prstGeom prst="rect">
            <a:avLst/>
          </a:prstGeom>
          <a:noFill/>
          <a:ln/>
        </p:spPr>
        <p:txBody>
          <a:bodyPr wrap="square" lIns="0" tIns="0" rIns="0" bIns="0" rtlCol="0" anchor="ctr">
            <a:normAutofit/>
          </a:bodyPr>
          <a:lstStyle/>
          <a:p>
            <a:pPr marL="0" indent="0" algn="l">
              <a:buNone/>
            </a:pPr>
            <a:r>
              <a:rPr lang="en-US" sz="1300" b="1" kern="0" spc="80" dirty="0">
                <a:solidFill>
                  <a:srgbClr val="0E6671"/>
                </a:solidFill>
                <a:latin typeface="Calibri" pitchFamily="34" charset="0"/>
                <a:ea typeface="Calibri" pitchFamily="34" charset="-122"/>
                <a:cs typeface="Calibri" pitchFamily="34" charset="-120"/>
              </a:rPr>
              <a:t>INPUT STREAMS</a:t>
            </a:r>
            <a:endParaRPr lang="en-US" sz="1300" dirty="0"/>
          </a:p>
        </p:txBody>
      </p:sp>
      <p:sp>
        <p:nvSpPr>
          <p:cNvPr id="9" name="Shape 7"/>
          <p:cNvSpPr/>
          <p:nvPr/>
        </p:nvSpPr>
        <p:spPr>
          <a:xfrm>
            <a:off x="804672" y="2423160"/>
            <a:ext cx="1883664" cy="18288"/>
          </a:xfrm>
          <a:prstGeom prst="rect">
            <a:avLst/>
          </a:prstGeom>
          <a:solidFill>
            <a:srgbClr val="D8E1E4"/>
          </a:solidFill>
          <a:ln w="10160">
            <a:solidFill>
              <a:srgbClr val="D8E1E4"/>
            </a:solidFill>
            <a:prstDash val="solid"/>
          </a:ln>
        </p:spPr>
      </p:sp>
      <p:sp>
        <p:nvSpPr>
          <p:cNvPr id="10" name="Text 8"/>
          <p:cNvSpPr txBox="1"/>
          <p:nvPr/>
        </p:nvSpPr>
        <p:spPr>
          <a:xfrm>
            <a:off x="804672" y="2633472"/>
            <a:ext cx="1892808" cy="1417320"/>
          </a:xfrm>
          <a:prstGeom prst="rect">
            <a:avLst/>
          </a:prstGeom>
          <a:noFill/>
          <a:ln/>
        </p:spPr>
        <p:txBody>
          <a:bodyPr wrap="square" lIns="0" tIns="0" rIns="0" bIns="0" rtlCol="0" anchor="t">
            <a:normAutofit fontScale="92500"/>
          </a:bodyPr>
          <a:lstStyle/>
          <a:p>
            <a:pPr marL="0" indent="0" algn="l">
              <a:buNone/>
            </a:pPr>
            <a:r>
              <a:rPr lang="en-US" sz="1800" dirty="0">
                <a:solidFill>
                  <a:srgbClr val="172D33"/>
                </a:solidFill>
                <a:latin typeface="Calibri" pitchFamily="34" charset="0"/>
                <a:ea typeface="Calibri" pitchFamily="34" charset="-122"/>
                <a:cs typeface="Calibri" pitchFamily="34" charset="-120"/>
              </a:rPr>
              <a:t>Synthetic EHR</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Synthetic pollution</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Simulated wearables, adherence and symptoms</a:t>
            </a:r>
            <a:endParaRPr lang="en-US" sz="1800" dirty="0"/>
          </a:p>
        </p:txBody>
      </p:sp>
      <p:sp>
        <p:nvSpPr>
          <p:cNvPr id="11" name="Shape 9"/>
          <p:cNvSpPr/>
          <p:nvPr/>
        </p:nvSpPr>
        <p:spPr>
          <a:xfrm>
            <a:off x="3246120" y="1847088"/>
            <a:ext cx="2212848" cy="2578608"/>
          </a:xfrm>
          <a:prstGeom prst="roundRect">
            <a:avLst>
              <a:gd name="adj" fmla="val 3306"/>
            </a:avLst>
          </a:prstGeom>
          <a:solidFill>
            <a:srgbClr val="EFF7F7"/>
          </a:solidFill>
          <a:ln w="11430">
            <a:solidFill>
              <a:srgbClr val="D8E1E4"/>
            </a:solidFill>
            <a:prstDash val="solid"/>
          </a:ln>
        </p:spPr>
      </p:sp>
      <p:sp>
        <p:nvSpPr>
          <p:cNvPr id="12" name="Shape 10"/>
          <p:cNvSpPr/>
          <p:nvPr/>
        </p:nvSpPr>
        <p:spPr>
          <a:xfrm>
            <a:off x="3246120" y="1847088"/>
            <a:ext cx="64008" cy="2578608"/>
          </a:xfrm>
          <a:prstGeom prst="rect">
            <a:avLst/>
          </a:prstGeom>
          <a:solidFill>
            <a:srgbClr val="0E6671"/>
          </a:solidFill>
          <a:ln w="10160">
            <a:solidFill>
              <a:srgbClr val="0E6671"/>
            </a:solidFill>
            <a:prstDash val="solid"/>
          </a:ln>
        </p:spPr>
      </p:sp>
      <p:sp>
        <p:nvSpPr>
          <p:cNvPr id="13" name="Text 11"/>
          <p:cNvSpPr txBox="1"/>
          <p:nvPr/>
        </p:nvSpPr>
        <p:spPr>
          <a:xfrm>
            <a:off x="3410712" y="2029968"/>
            <a:ext cx="1883664" cy="274320"/>
          </a:xfrm>
          <a:prstGeom prst="rect">
            <a:avLst/>
          </a:prstGeom>
          <a:noFill/>
          <a:ln/>
        </p:spPr>
        <p:txBody>
          <a:bodyPr wrap="square" lIns="0" tIns="0" rIns="0" bIns="0" rtlCol="0" anchor="ctr">
            <a:normAutofit/>
          </a:bodyPr>
          <a:lstStyle/>
          <a:p>
            <a:pPr marL="0" indent="0" algn="l">
              <a:buNone/>
            </a:pPr>
            <a:r>
              <a:rPr lang="en-US" sz="1300" b="1" kern="0" spc="80" dirty="0">
                <a:solidFill>
                  <a:srgbClr val="0E6671"/>
                </a:solidFill>
                <a:latin typeface="Calibri" pitchFamily="34" charset="0"/>
                <a:ea typeface="Calibri" pitchFamily="34" charset="-122"/>
                <a:cs typeface="Calibri" pitchFamily="34" charset="-120"/>
              </a:rPr>
              <a:t>FEATURE FUSION</a:t>
            </a:r>
            <a:endParaRPr lang="en-US" sz="1300" dirty="0"/>
          </a:p>
        </p:txBody>
      </p:sp>
      <p:sp>
        <p:nvSpPr>
          <p:cNvPr id="14" name="Shape 12"/>
          <p:cNvSpPr/>
          <p:nvPr/>
        </p:nvSpPr>
        <p:spPr>
          <a:xfrm>
            <a:off x="3410712" y="2423160"/>
            <a:ext cx="1883664" cy="18288"/>
          </a:xfrm>
          <a:prstGeom prst="rect">
            <a:avLst/>
          </a:prstGeom>
          <a:solidFill>
            <a:srgbClr val="D8E1E4"/>
          </a:solidFill>
          <a:ln w="10160">
            <a:solidFill>
              <a:srgbClr val="D8E1E4"/>
            </a:solidFill>
            <a:prstDash val="solid"/>
          </a:ln>
        </p:spPr>
      </p:sp>
      <p:sp>
        <p:nvSpPr>
          <p:cNvPr id="15" name="Text 13"/>
          <p:cNvSpPr txBox="1"/>
          <p:nvPr/>
        </p:nvSpPr>
        <p:spPr>
          <a:xfrm>
            <a:off x="3410712" y="2633472"/>
            <a:ext cx="1892808" cy="1417320"/>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Schema + timestamp checks</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Past-looking features</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Personal baseline</a:t>
            </a:r>
            <a:endParaRPr lang="en-US" sz="1800" dirty="0"/>
          </a:p>
        </p:txBody>
      </p:sp>
      <p:sp>
        <p:nvSpPr>
          <p:cNvPr id="16" name="Shape 14"/>
          <p:cNvSpPr/>
          <p:nvPr/>
        </p:nvSpPr>
        <p:spPr>
          <a:xfrm>
            <a:off x="5852160" y="1847088"/>
            <a:ext cx="2212848" cy="2578608"/>
          </a:xfrm>
          <a:prstGeom prst="roundRect">
            <a:avLst>
              <a:gd name="adj" fmla="val 3306"/>
            </a:avLst>
          </a:prstGeom>
          <a:solidFill>
            <a:srgbClr val="FFFFFF"/>
          </a:solidFill>
          <a:ln w="11430">
            <a:solidFill>
              <a:srgbClr val="D8E1E4"/>
            </a:solidFill>
            <a:prstDash val="solid"/>
          </a:ln>
        </p:spPr>
      </p:sp>
      <p:sp>
        <p:nvSpPr>
          <p:cNvPr id="17" name="Shape 15"/>
          <p:cNvSpPr/>
          <p:nvPr/>
        </p:nvSpPr>
        <p:spPr>
          <a:xfrm>
            <a:off x="5852160" y="1847088"/>
            <a:ext cx="64008" cy="2578608"/>
          </a:xfrm>
          <a:prstGeom prst="rect">
            <a:avLst/>
          </a:prstGeom>
          <a:solidFill>
            <a:srgbClr val="0E6671"/>
          </a:solidFill>
          <a:ln w="10160">
            <a:solidFill>
              <a:srgbClr val="0E6671"/>
            </a:solidFill>
            <a:prstDash val="solid"/>
          </a:ln>
        </p:spPr>
      </p:sp>
      <p:sp>
        <p:nvSpPr>
          <p:cNvPr id="18" name="Text 16"/>
          <p:cNvSpPr txBox="1"/>
          <p:nvPr/>
        </p:nvSpPr>
        <p:spPr>
          <a:xfrm>
            <a:off x="6016752" y="2029968"/>
            <a:ext cx="1883664" cy="274320"/>
          </a:xfrm>
          <a:prstGeom prst="rect">
            <a:avLst/>
          </a:prstGeom>
          <a:noFill/>
          <a:ln/>
        </p:spPr>
        <p:txBody>
          <a:bodyPr wrap="square" lIns="0" tIns="0" rIns="0" bIns="0" rtlCol="0" anchor="ctr">
            <a:normAutofit/>
          </a:bodyPr>
          <a:lstStyle/>
          <a:p>
            <a:pPr marL="0" indent="0" algn="l">
              <a:buNone/>
            </a:pPr>
            <a:r>
              <a:rPr lang="en-US" sz="1300" b="1" kern="0" spc="80" dirty="0">
                <a:solidFill>
                  <a:srgbClr val="0E6671"/>
                </a:solidFill>
                <a:latin typeface="Calibri" pitchFamily="34" charset="0"/>
                <a:ea typeface="Calibri" pitchFamily="34" charset="-122"/>
                <a:cs typeface="Calibri" pitchFamily="34" charset="-120"/>
              </a:rPr>
              <a:t>TWIN ENGINE</a:t>
            </a:r>
            <a:endParaRPr lang="en-US" sz="1300" dirty="0"/>
          </a:p>
        </p:txBody>
      </p:sp>
      <p:sp>
        <p:nvSpPr>
          <p:cNvPr id="19" name="Shape 17"/>
          <p:cNvSpPr/>
          <p:nvPr/>
        </p:nvSpPr>
        <p:spPr>
          <a:xfrm>
            <a:off x="6016752" y="2423160"/>
            <a:ext cx="1883664" cy="18288"/>
          </a:xfrm>
          <a:prstGeom prst="rect">
            <a:avLst/>
          </a:prstGeom>
          <a:solidFill>
            <a:srgbClr val="D8E1E4"/>
          </a:solidFill>
          <a:ln w="10160">
            <a:solidFill>
              <a:srgbClr val="D8E1E4"/>
            </a:solidFill>
            <a:prstDash val="solid"/>
          </a:ln>
        </p:spPr>
      </p:sp>
      <p:sp>
        <p:nvSpPr>
          <p:cNvPr id="20" name="Text 18"/>
          <p:cNvSpPr txBox="1"/>
          <p:nvPr/>
        </p:nvSpPr>
        <p:spPr>
          <a:xfrm>
            <a:off x="6016752" y="2633472"/>
            <a:ext cx="1892808" cy="1417320"/>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Current state</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24h forecast</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Reason codes + history</a:t>
            </a:r>
            <a:endParaRPr lang="en-US" sz="1800" dirty="0"/>
          </a:p>
        </p:txBody>
      </p:sp>
      <p:sp>
        <p:nvSpPr>
          <p:cNvPr id="21" name="Shape 19"/>
          <p:cNvSpPr/>
          <p:nvPr/>
        </p:nvSpPr>
        <p:spPr>
          <a:xfrm>
            <a:off x="8458200" y="1847088"/>
            <a:ext cx="3063240" cy="2578608"/>
          </a:xfrm>
          <a:prstGeom prst="roundRect">
            <a:avLst>
              <a:gd name="adj" fmla="val 2837"/>
            </a:avLst>
          </a:prstGeom>
          <a:solidFill>
            <a:srgbClr val="EFF7F7"/>
          </a:solidFill>
          <a:ln w="11430">
            <a:solidFill>
              <a:srgbClr val="D8E1E4"/>
            </a:solidFill>
            <a:prstDash val="solid"/>
          </a:ln>
        </p:spPr>
      </p:sp>
      <p:sp>
        <p:nvSpPr>
          <p:cNvPr id="22" name="Shape 20"/>
          <p:cNvSpPr/>
          <p:nvPr/>
        </p:nvSpPr>
        <p:spPr>
          <a:xfrm>
            <a:off x="8458200" y="1847088"/>
            <a:ext cx="64008" cy="2578608"/>
          </a:xfrm>
          <a:prstGeom prst="rect">
            <a:avLst/>
          </a:prstGeom>
          <a:solidFill>
            <a:srgbClr val="0E6671"/>
          </a:solidFill>
          <a:ln w="10160">
            <a:solidFill>
              <a:srgbClr val="0E6671"/>
            </a:solidFill>
            <a:prstDash val="solid"/>
          </a:ln>
        </p:spPr>
      </p:sp>
      <p:sp>
        <p:nvSpPr>
          <p:cNvPr id="23" name="Text 21"/>
          <p:cNvSpPr txBox="1"/>
          <p:nvPr/>
        </p:nvSpPr>
        <p:spPr>
          <a:xfrm>
            <a:off x="8622792" y="2029968"/>
            <a:ext cx="2734056" cy="274320"/>
          </a:xfrm>
          <a:prstGeom prst="rect">
            <a:avLst/>
          </a:prstGeom>
          <a:noFill/>
          <a:ln/>
        </p:spPr>
        <p:txBody>
          <a:bodyPr wrap="square" lIns="0" tIns="0" rIns="0" bIns="0" rtlCol="0" anchor="ctr">
            <a:normAutofit/>
          </a:bodyPr>
          <a:lstStyle/>
          <a:p>
            <a:pPr marL="0" indent="0" algn="l">
              <a:buNone/>
            </a:pPr>
            <a:r>
              <a:rPr lang="en-US" sz="1300" b="1" kern="0" spc="80" dirty="0">
                <a:solidFill>
                  <a:srgbClr val="0E6671"/>
                </a:solidFill>
                <a:latin typeface="Calibri" pitchFamily="34" charset="0"/>
                <a:ea typeface="Calibri" pitchFamily="34" charset="-122"/>
                <a:cs typeface="Calibri" pitchFamily="34" charset="-120"/>
              </a:rPr>
              <a:t>DOCTOR DASHBOARD</a:t>
            </a:r>
            <a:endParaRPr lang="en-US" sz="1300" dirty="0"/>
          </a:p>
        </p:txBody>
      </p:sp>
      <p:sp>
        <p:nvSpPr>
          <p:cNvPr id="24" name="Shape 22"/>
          <p:cNvSpPr/>
          <p:nvPr/>
        </p:nvSpPr>
        <p:spPr>
          <a:xfrm>
            <a:off x="8622792" y="2423160"/>
            <a:ext cx="2734056" cy="18288"/>
          </a:xfrm>
          <a:prstGeom prst="rect">
            <a:avLst/>
          </a:prstGeom>
          <a:solidFill>
            <a:srgbClr val="D8E1E4"/>
          </a:solidFill>
          <a:ln w="10160">
            <a:solidFill>
              <a:srgbClr val="D8E1E4"/>
            </a:solidFill>
            <a:prstDash val="solid"/>
          </a:ln>
        </p:spPr>
      </p:sp>
      <p:sp>
        <p:nvSpPr>
          <p:cNvPr id="25" name="Text 23"/>
          <p:cNvSpPr txBox="1"/>
          <p:nvPr/>
        </p:nvSpPr>
        <p:spPr>
          <a:xfrm>
            <a:off x="8622792" y="2633472"/>
            <a:ext cx="2743200" cy="1417320"/>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Risk forecast</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Replay and early-warning view</a:t>
            </a:r>
            <a:endParaRPr lang="en-US" sz="1800" dirty="0"/>
          </a:p>
          <a:p>
            <a:pPr marL="0" indent="0" algn="l">
              <a:buNone/>
            </a:pPr>
            <a:r>
              <a:rPr lang="en-US" sz="1800" dirty="0">
                <a:solidFill>
                  <a:srgbClr val="172D33"/>
                </a:solidFill>
                <a:latin typeface="Calibri" pitchFamily="34" charset="0"/>
                <a:ea typeface="Calibri" pitchFamily="34" charset="-122"/>
                <a:cs typeface="Calibri" pitchFamily="34" charset="-120"/>
              </a:rPr>
              <a:t>What-if laboratory</a:t>
            </a:r>
            <a:endParaRPr lang="en-US" sz="1800" dirty="0"/>
          </a:p>
        </p:txBody>
      </p:sp>
      <p:sp>
        <p:nvSpPr>
          <p:cNvPr id="26" name="Shape 24"/>
          <p:cNvSpPr/>
          <p:nvPr/>
        </p:nvSpPr>
        <p:spPr>
          <a:xfrm>
            <a:off x="2907792" y="2907792"/>
            <a:ext cx="228600" cy="347472"/>
          </a:xfrm>
          <a:prstGeom prst="chevron">
            <a:avLst/>
          </a:prstGeom>
          <a:solidFill>
            <a:srgbClr val="0E6671"/>
          </a:solidFill>
          <a:ln w="6350">
            <a:solidFill>
              <a:srgbClr val="0E6671"/>
            </a:solidFill>
            <a:prstDash val="solid"/>
          </a:ln>
        </p:spPr>
      </p:sp>
      <p:sp>
        <p:nvSpPr>
          <p:cNvPr id="27" name="Shape 25"/>
          <p:cNvSpPr/>
          <p:nvPr/>
        </p:nvSpPr>
        <p:spPr>
          <a:xfrm>
            <a:off x="5513832" y="2907792"/>
            <a:ext cx="228600" cy="347472"/>
          </a:xfrm>
          <a:prstGeom prst="chevron">
            <a:avLst/>
          </a:prstGeom>
          <a:solidFill>
            <a:srgbClr val="0E6671"/>
          </a:solidFill>
          <a:ln w="6350">
            <a:solidFill>
              <a:srgbClr val="0E6671"/>
            </a:solidFill>
            <a:prstDash val="solid"/>
          </a:ln>
        </p:spPr>
      </p:sp>
      <p:sp>
        <p:nvSpPr>
          <p:cNvPr id="28" name="Shape 26"/>
          <p:cNvSpPr/>
          <p:nvPr/>
        </p:nvSpPr>
        <p:spPr>
          <a:xfrm>
            <a:off x="8119872" y="2907792"/>
            <a:ext cx="228600" cy="347472"/>
          </a:xfrm>
          <a:prstGeom prst="chevron">
            <a:avLst/>
          </a:prstGeom>
          <a:solidFill>
            <a:srgbClr val="0E6671"/>
          </a:solidFill>
          <a:ln w="6350">
            <a:solidFill>
              <a:srgbClr val="0E6671"/>
            </a:solidFill>
            <a:prstDash val="solid"/>
          </a:ln>
        </p:spPr>
      </p:sp>
      <p:sp>
        <p:nvSpPr>
          <p:cNvPr id="29" name="Shape 27"/>
          <p:cNvSpPr/>
          <p:nvPr/>
        </p:nvSpPr>
        <p:spPr>
          <a:xfrm>
            <a:off x="1298448" y="4892040"/>
            <a:ext cx="9601200" cy="731520"/>
          </a:xfrm>
          <a:prstGeom prst="roundRect">
            <a:avLst>
              <a:gd name="adj" fmla="val 10000"/>
            </a:avLst>
          </a:prstGeom>
          <a:solidFill>
            <a:srgbClr val="FFFFFF"/>
          </a:solidFill>
          <a:ln w="11430">
            <a:solidFill>
              <a:srgbClr val="C9DEE1"/>
            </a:solidFill>
            <a:prstDash val="solid"/>
          </a:ln>
        </p:spPr>
      </p:sp>
      <p:sp>
        <p:nvSpPr>
          <p:cNvPr id="30" name="Text 28"/>
          <p:cNvSpPr txBox="1"/>
          <p:nvPr/>
        </p:nvSpPr>
        <p:spPr>
          <a:xfrm>
            <a:off x="1554480" y="5056632"/>
            <a:ext cx="9098280" cy="347472"/>
          </a:xfrm>
          <a:prstGeom prst="rect">
            <a:avLst/>
          </a:prstGeom>
          <a:noFill/>
          <a:ln/>
        </p:spPr>
        <p:txBody>
          <a:bodyPr wrap="square" lIns="0" tIns="0" rIns="0" bIns="0" rtlCol="0" anchor="ctr">
            <a:normAutofit fontScale="85000" lnSpcReduction="20000"/>
          </a:bodyPr>
          <a:lstStyle/>
          <a:p>
            <a:pPr marL="0" indent="0" algn="ctr">
              <a:buNone/>
            </a:pPr>
            <a:r>
              <a:rPr lang="en-US" sz="1700" b="1" dirty="0">
                <a:solidFill>
                  <a:srgbClr val="113E47"/>
                </a:solidFill>
                <a:latin typeface="Calibri" pitchFamily="34" charset="0"/>
                <a:ea typeface="Calibri" pitchFamily="34" charset="-122"/>
                <a:cs typeface="Calibri" pitchFamily="34" charset="-120"/>
              </a:rPr>
              <a:t>EHR + pollution + wearables  →  feature fusion  →  twin engine (state, forecast, explanations, history)  →  doctor dashboard and what-if</a:t>
            </a:r>
            <a:endParaRPr lang="en-US" sz="1700" dirty="0"/>
          </a:p>
        </p:txBody>
      </p:sp>
      <p:sp>
        <p:nvSpPr>
          <p:cNvPr id="31" name="Text 29"/>
          <p:cNvSpPr txBox="1"/>
          <p:nvPr/>
        </p:nvSpPr>
        <p:spPr>
          <a:xfrm>
            <a:off x="1097280" y="5870448"/>
            <a:ext cx="9966960" cy="246888"/>
          </a:xfrm>
          <a:prstGeom prst="rect">
            <a:avLst/>
          </a:prstGeom>
          <a:noFill/>
          <a:ln/>
        </p:spPr>
        <p:txBody>
          <a:bodyPr wrap="square" lIns="0" tIns="0" rIns="0" bIns="0" rtlCol="0" anchor="ctr">
            <a:normAutofit/>
          </a:bodyPr>
          <a:lstStyle/>
          <a:p>
            <a:pPr marL="0" indent="0" algn="ctr">
              <a:buNone/>
            </a:pPr>
            <a:r>
              <a:rPr lang="en-US" sz="1400" b="1" dirty="0">
                <a:solidFill>
                  <a:srgbClr val="8B4444"/>
                </a:solidFill>
                <a:latin typeface="Calibri" pitchFamily="34" charset="0"/>
                <a:ea typeface="Calibri" pitchFamily="34" charset="-122"/>
                <a:cs typeface="Calibri" pitchFamily="34" charset="-120"/>
              </a:rPr>
              <a:t>All input data shown in this prototype is simulated.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DATA AND PROVENANCE</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Every stream is simulated</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Designed for a reproducible prototype without real patient records.</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85800" y="1627632"/>
            <a:ext cx="2560320" cy="457200"/>
          </a:xfrm>
          <a:prstGeom prst="rect">
            <a:avLst/>
          </a:prstGeom>
          <a:solidFill>
            <a:srgbClr val="113E47"/>
          </a:solidFill>
          <a:ln w="10160">
            <a:solidFill>
              <a:srgbClr val="113E47"/>
            </a:solidFill>
            <a:prstDash val="solid"/>
          </a:ln>
        </p:spPr>
      </p:sp>
      <p:sp>
        <p:nvSpPr>
          <p:cNvPr id="7" name="Text 5"/>
          <p:cNvSpPr txBox="1"/>
          <p:nvPr/>
        </p:nvSpPr>
        <p:spPr>
          <a:xfrm>
            <a:off x="795528" y="1691640"/>
            <a:ext cx="2359152" cy="292608"/>
          </a:xfrm>
          <a:prstGeom prst="rect">
            <a:avLst/>
          </a:prstGeom>
          <a:noFill/>
          <a:ln/>
        </p:spPr>
        <p:txBody>
          <a:bodyPr wrap="square" lIns="0" tIns="0" rIns="0" bIns="0" rtlCol="0" anchor="ctr">
            <a:normAutofit/>
          </a:bodyPr>
          <a:lstStyle/>
          <a:p>
            <a:pPr marL="0" indent="0" algn="l">
              <a:buNone/>
            </a:pPr>
            <a:r>
              <a:rPr lang="en-US" sz="1200" b="1" kern="0" spc="70" dirty="0">
                <a:solidFill>
                  <a:srgbClr val="FFFFFF"/>
                </a:solidFill>
                <a:latin typeface="Calibri" pitchFamily="34" charset="0"/>
                <a:ea typeface="Calibri" pitchFamily="34" charset="-122"/>
                <a:cs typeface="Calibri" pitchFamily="34" charset="-120"/>
              </a:rPr>
              <a:t>STREAM</a:t>
            </a:r>
            <a:endParaRPr lang="en-US" sz="1200" dirty="0"/>
          </a:p>
        </p:txBody>
      </p:sp>
      <p:sp>
        <p:nvSpPr>
          <p:cNvPr id="8" name="Shape 6"/>
          <p:cNvSpPr/>
          <p:nvPr/>
        </p:nvSpPr>
        <p:spPr>
          <a:xfrm>
            <a:off x="3246120" y="1627632"/>
            <a:ext cx="4983480" cy="457200"/>
          </a:xfrm>
          <a:prstGeom prst="rect">
            <a:avLst/>
          </a:prstGeom>
          <a:solidFill>
            <a:srgbClr val="113E47"/>
          </a:solidFill>
          <a:ln w="10160">
            <a:solidFill>
              <a:srgbClr val="113E47"/>
            </a:solidFill>
            <a:prstDash val="solid"/>
          </a:ln>
        </p:spPr>
      </p:sp>
      <p:sp>
        <p:nvSpPr>
          <p:cNvPr id="9" name="Text 7"/>
          <p:cNvSpPr txBox="1"/>
          <p:nvPr/>
        </p:nvSpPr>
        <p:spPr>
          <a:xfrm>
            <a:off x="3355848" y="1691640"/>
            <a:ext cx="4782312" cy="292608"/>
          </a:xfrm>
          <a:prstGeom prst="rect">
            <a:avLst/>
          </a:prstGeom>
          <a:noFill/>
          <a:ln/>
        </p:spPr>
        <p:txBody>
          <a:bodyPr wrap="square" lIns="0" tIns="0" rIns="0" bIns="0" rtlCol="0" anchor="ctr">
            <a:normAutofit/>
          </a:bodyPr>
          <a:lstStyle/>
          <a:p>
            <a:pPr marL="0" indent="0" algn="l">
              <a:buNone/>
            </a:pPr>
            <a:r>
              <a:rPr lang="en-US" sz="1200" b="1" kern="0" spc="70" dirty="0">
                <a:solidFill>
                  <a:srgbClr val="FFFFFF"/>
                </a:solidFill>
                <a:latin typeface="Calibri" pitchFamily="34" charset="0"/>
                <a:ea typeface="Calibri" pitchFamily="34" charset="-122"/>
                <a:cs typeface="Calibri" pitchFamily="34" charset="-120"/>
              </a:rPr>
              <a:t>FIELDS / CONTENT</a:t>
            </a:r>
            <a:endParaRPr lang="en-US" sz="1200" dirty="0"/>
          </a:p>
        </p:txBody>
      </p:sp>
      <p:sp>
        <p:nvSpPr>
          <p:cNvPr id="10" name="Shape 8"/>
          <p:cNvSpPr/>
          <p:nvPr/>
        </p:nvSpPr>
        <p:spPr>
          <a:xfrm>
            <a:off x="8229600" y="1627632"/>
            <a:ext cx="3246120" cy="457200"/>
          </a:xfrm>
          <a:prstGeom prst="rect">
            <a:avLst/>
          </a:prstGeom>
          <a:solidFill>
            <a:srgbClr val="113E47"/>
          </a:solidFill>
          <a:ln w="10160">
            <a:solidFill>
              <a:srgbClr val="113E47"/>
            </a:solidFill>
            <a:prstDash val="solid"/>
          </a:ln>
        </p:spPr>
      </p:sp>
      <p:sp>
        <p:nvSpPr>
          <p:cNvPr id="11" name="Text 9"/>
          <p:cNvSpPr txBox="1"/>
          <p:nvPr/>
        </p:nvSpPr>
        <p:spPr>
          <a:xfrm>
            <a:off x="8339328" y="1691640"/>
            <a:ext cx="3044952" cy="292608"/>
          </a:xfrm>
          <a:prstGeom prst="rect">
            <a:avLst/>
          </a:prstGeom>
          <a:noFill/>
          <a:ln/>
        </p:spPr>
        <p:txBody>
          <a:bodyPr wrap="square" lIns="0" tIns="0" rIns="0" bIns="0" rtlCol="0" anchor="ctr">
            <a:normAutofit/>
          </a:bodyPr>
          <a:lstStyle/>
          <a:p>
            <a:pPr marL="0" indent="0" algn="l">
              <a:buNone/>
            </a:pPr>
            <a:r>
              <a:rPr lang="en-US" sz="1200" b="1" kern="0" spc="70" dirty="0">
                <a:solidFill>
                  <a:srgbClr val="FFFFFF"/>
                </a:solidFill>
                <a:latin typeface="Calibri" pitchFamily="34" charset="0"/>
                <a:ea typeface="Calibri" pitchFamily="34" charset="-122"/>
                <a:cs typeface="Calibri" pitchFamily="34" charset="-120"/>
              </a:rPr>
              <a:t>PROVENANCE</a:t>
            </a:r>
            <a:endParaRPr lang="en-US" sz="1200" dirty="0"/>
          </a:p>
        </p:txBody>
      </p:sp>
      <p:sp>
        <p:nvSpPr>
          <p:cNvPr id="12" name="Shape 10"/>
          <p:cNvSpPr/>
          <p:nvPr/>
        </p:nvSpPr>
        <p:spPr>
          <a:xfrm>
            <a:off x="685800" y="2084832"/>
            <a:ext cx="2560320" cy="713232"/>
          </a:xfrm>
          <a:prstGeom prst="rect">
            <a:avLst/>
          </a:prstGeom>
          <a:solidFill>
            <a:srgbClr val="FFFFFF"/>
          </a:solidFill>
          <a:ln w="7620">
            <a:solidFill>
              <a:srgbClr val="D8E1E4"/>
            </a:solidFill>
            <a:prstDash val="solid"/>
          </a:ln>
        </p:spPr>
      </p:sp>
      <p:sp>
        <p:nvSpPr>
          <p:cNvPr id="13" name="Text 11"/>
          <p:cNvSpPr txBox="1"/>
          <p:nvPr/>
        </p:nvSpPr>
        <p:spPr>
          <a:xfrm>
            <a:off x="795528" y="2148840"/>
            <a:ext cx="2340864" cy="603504"/>
          </a:xfrm>
          <a:prstGeom prst="rect">
            <a:avLst/>
          </a:prstGeom>
          <a:noFill/>
          <a:ln/>
        </p:spPr>
        <p:txBody>
          <a:bodyPr wrap="square" lIns="0" tIns="0" rIns="0" bIns="0" rtlCol="0" anchor="ctr">
            <a:normAutofit/>
          </a:bodyPr>
          <a:lstStyle/>
          <a:p>
            <a:pPr marL="0" indent="0" algn="l">
              <a:buNone/>
            </a:pPr>
            <a:r>
              <a:rPr lang="en-US" sz="1700" b="1" dirty="0">
                <a:solidFill>
                  <a:srgbClr val="0E6671"/>
                </a:solidFill>
                <a:latin typeface="Calibri" pitchFamily="34" charset="0"/>
                <a:ea typeface="Calibri" pitchFamily="34" charset="-122"/>
                <a:cs typeface="Calibri" pitchFamily="34" charset="-120"/>
              </a:rPr>
              <a:t>EHR profiles</a:t>
            </a:r>
            <a:endParaRPr lang="en-US" sz="1700" dirty="0"/>
          </a:p>
        </p:txBody>
      </p:sp>
      <p:sp>
        <p:nvSpPr>
          <p:cNvPr id="14" name="Shape 12"/>
          <p:cNvSpPr/>
          <p:nvPr/>
        </p:nvSpPr>
        <p:spPr>
          <a:xfrm>
            <a:off x="3246120" y="2084832"/>
            <a:ext cx="4983480" cy="713232"/>
          </a:xfrm>
          <a:prstGeom prst="rect">
            <a:avLst/>
          </a:prstGeom>
          <a:solidFill>
            <a:srgbClr val="FFFFFF"/>
          </a:solidFill>
          <a:ln w="7620">
            <a:solidFill>
              <a:srgbClr val="D8E1E4"/>
            </a:solidFill>
            <a:prstDash val="solid"/>
          </a:ln>
        </p:spPr>
      </p:sp>
      <p:sp>
        <p:nvSpPr>
          <p:cNvPr id="15" name="Text 13"/>
          <p:cNvSpPr txBox="1"/>
          <p:nvPr/>
        </p:nvSpPr>
        <p:spPr>
          <a:xfrm>
            <a:off x="3355848" y="2148840"/>
            <a:ext cx="476402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History, severity, prior events, baseline</a:t>
            </a:r>
            <a:endParaRPr lang="en-US" sz="1500" dirty="0"/>
          </a:p>
        </p:txBody>
      </p:sp>
      <p:sp>
        <p:nvSpPr>
          <p:cNvPr id="16" name="Shape 14"/>
          <p:cNvSpPr/>
          <p:nvPr/>
        </p:nvSpPr>
        <p:spPr>
          <a:xfrm>
            <a:off x="8229600" y="2084832"/>
            <a:ext cx="3246120" cy="713232"/>
          </a:xfrm>
          <a:prstGeom prst="rect">
            <a:avLst/>
          </a:prstGeom>
          <a:solidFill>
            <a:srgbClr val="FFFFFF"/>
          </a:solidFill>
          <a:ln w="7620">
            <a:solidFill>
              <a:srgbClr val="D8E1E4"/>
            </a:solidFill>
            <a:prstDash val="solid"/>
          </a:ln>
        </p:spPr>
      </p:sp>
      <p:sp>
        <p:nvSpPr>
          <p:cNvPr id="17" name="Text 15"/>
          <p:cNvSpPr txBox="1"/>
          <p:nvPr/>
        </p:nvSpPr>
        <p:spPr>
          <a:xfrm>
            <a:off x="8339328" y="2148840"/>
            <a:ext cx="302666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300 synthetic patients</a:t>
            </a:r>
            <a:endParaRPr lang="en-US" sz="1500" dirty="0"/>
          </a:p>
        </p:txBody>
      </p:sp>
      <p:sp>
        <p:nvSpPr>
          <p:cNvPr id="18" name="Shape 16"/>
          <p:cNvSpPr/>
          <p:nvPr/>
        </p:nvSpPr>
        <p:spPr>
          <a:xfrm>
            <a:off x="685800" y="2798064"/>
            <a:ext cx="2560320" cy="713232"/>
          </a:xfrm>
          <a:prstGeom prst="rect">
            <a:avLst/>
          </a:prstGeom>
          <a:solidFill>
            <a:srgbClr val="F0F4F5"/>
          </a:solidFill>
          <a:ln w="7620">
            <a:solidFill>
              <a:srgbClr val="D8E1E4"/>
            </a:solidFill>
            <a:prstDash val="solid"/>
          </a:ln>
        </p:spPr>
      </p:sp>
      <p:sp>
        <p:nvSpPr>
          <p:cNvPr id="19" name="Text 17"/>
          <p:cNvSpPr txBox="1"/>
          <p:nvPr/>
        </p:nvSpPr>
        <p:spPr>
          <a:xfrm>
            <a:off x="795528" y="2862072"/>
            <a:ext cx="2340864" cy="603504"/>
          </a:xfrm>
          <a:prstGeom prst="rect">
            <a:avLst/>
          </a:prstGeom>
          <a:noFill/>
          <a:ln/>
        </p:spPr>
        <p:txBody>
          <a:bodyPr wrap="square" lIns="0" tIns="0" rIns="0" bIns="0" rtlCol="0" anchor="ctr">
            <a:normAutofit/>
          </a:bodyPr>
          <a:lstStyle/>
          <a:p>
            <a:pPr marL="0" indent="0" algn="l">
              <a:buNone/>
            </a:pPr>
            <a:r>
              <a:rPr lang="en-US" sz="1700" b="1" dirty="0">
                <a:solidFill>
                  <a:srgbClr val="0E6671"/>
                </a:solidFill>
                <a:latin typeface="Calibri" pitchFamily="34" charset="0"/>
                <a:ea typeface="Calibri" pitchFamily="34" charset="-122"/>
                <a:cs typeface="Calibri" pitchFamily="34" charset="-120"/>
              </a:rPr>
              <a:t>Pollution</a:t>
            </a:r>
            <a:endParaRPr lang="en-US" sz="1700" dirty="0"/>
          </a:p>
        </p:txBody>
      </p:sp>
      <p:sp>
        <p:nvSpPr>
          <p:cNvPr id="20" name="Shape 18"/>
          <p:cNvSpPr/>
          <p:nvPr/>
        </p:nvSpPr>
        <p:spPr>
          <a:xfrm>
            <a:off x="3246120" y="2798064"/>
            <a:ext cx="4983480" cy="713232"/>
          </a:xfrm>
          <a:prstGeom prst="rect">
            <a:avLst/>
          </a:prstGeom>
          <a:solidFill>
            <a:srgbClr val="F0F4F5"/>
          </a:solidFill>
          <a:ln w="7620">
            <a:solidFill>
              <a:srgbClr val="D8E1E4"/>
            </a:solidFill>
            <a:prstDash val="solid"/>
          </a:ln>
        </p:spPr>
      </p:sp>
      <p:sp>
        <p:nvSpPr>
          <p:cNvPr id="21" name="Text 19"/>
          <p:cNvSpPr txBox="1"/>
          <p:nvPr/>
        </p:nvSpPr>
        <p:spPr>
          <a:xfrm>
            <a:off x="3355848" y="2862072"/>
            <a:ext cx="476402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PM2.5 / PM10 and illustrative AQI</a:t>
            </a:r>
            <a:endParaRPr lang="en-US" sz="1500" dirty="0"/>
          </a:p>
        </p:txBody>
      </p:sp>
      <p:sp>
        <p:nvSpPr>
          <p:cNvPr id="22" name="Shape 20"/>
          <p:cNvSpPr/>
          <p:nvPr/>
        </p:nvSpPr>
        <p:spPr>
          <a:xfrm>
            <a:off x="8229600" y="2798064"/>
            <a:ext cx="3246120" cy="713232"/>
          </a:xfrm>
          <a:prstGeom prst="rect">
            <a:avLst/>
          </a:prstGeom>
          <a:solidFill>
            <a:srgbClr val="F0F4F5"/>
          </a:solidFill>
          <a:ln w="7620">
            <a:solidFill>
              <a:srgbClr val="D8E1E4"/>
            </a:solidFill>
            <a:prstDash val="solid"/>
          </a:ln>
        </p:spPr>
      </p:sp>
      <p:sp>
        <p:nvSpPr>
          <p:cNvPr id="23" name="Text 21"/>
          <p:cNvSpPr txBox="1"/>
          <p:nvPr/>
        </p:nvSpPr>
        <p:spPr>
          <a:xfrm>
            <a:off x="8339328" y="2862072"/>
            <a:ext cx="302666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Synthetic urban Delhi-range series; not real measurements</a:t>
            </a:r>
            <a:endParaRPr lang="en-US" sz="1500" dirty="0"/>
          </a:p>
        </p:txBody>
      </p:sp>
      <p:sp>
        <p:nvSpPr>
          <p:cNvPr id="24" name="Shape 22"/>
          <p:cNvSpPr/>
          <p:nvPr/>
        </p:nvSpPr>
        <p:spPr>
          <a:xfrm>
            <a:off x="685800" y="3511296"/>
            <a:ext cx="2560320" cy="713232"/>
          </a:xfrm>
          <a:prstGeom prst="rect">
            <a:avLst/>
          </a:prstGeom>
          <a:solidFill>
            <a:srgbClr val="FFFFFF"/>
          </a:solidFill>
          <a:ln w="7620">
            <a:solidFill>
              <a:srgbClr val="D8E1E4"/>
            </a:solidFill>
            <a:prstDash val="solid"/>
          </a:ln>
        </p:spPr>
      </p:sp>
      <p:sp>
        <p:nvSpPr>
          <p:cNvPr id="25" name="Text 23"/>
          <p:cNvSpPr txBox="1"/>
          <p:nvPr/>
        </p:nvSpPr>
        <p:spPr>
          <a:xfrm>
            <a:off x="795528" y="3575304"/>
            <a:ext cx="2340864" cy="603504"/>
          </a:xfrm>
          <a:prstGeom prst="rect">
            <a:avLst/>
          </a:prstGeom>
          <a:noFill/>
          <a:ln/>
        </p:spPr>
        <p:txBody>
          <a:bodyPr wrap="square" lIns="0" tIns="0" rIns="0" bIns="0" rtlCol="0" anchor="ctr">
            <a:normAutofit/>
          </a:bodyPr>
          <a:lstStyle/>
          <a:p>
            <a:pPr marL="0" indent="0" algn="l">
              <a:buNone/>
            </a:pPr>
            <a:r>
              <a:rPr lang="en-US" sz="1700" b="1" dirty="0">
                <a:solidFill>
                  <a:srgbClr val="0E6671"/>
                </a:solidFill>
                <a:latin typeface="Calibri" pitchFamily="34" charset="0"/>
                <a:ea typeface="Calibri" pitchFamily="34" charset="-122"/>
                <a:cs typeface="Calibri" pitchFamily="34" charset="-120"/>
              </a:rPr>
              <a:t>Wearables</a:t>
            </a:r>
            <a:endParaRPr lang="en-US" sz="1700" dirty="0"/>
          </a:p>
        </p:txBody>
      </p:sp>
      <p:sp>
        <p:nvSpPr>
          <p:cNvPr id="26" name="Shape 24"/>
          <p:cNvSpPr/>
          <p:nvPr/>
        </p:nvSpPr>
        <p:spPr>
          <a:xfrm>
            <a:off x="3246120" y="3511296"/>
            <a:ext cx="4983480" cy="713232"/>
          </a:xfrm>
          <a:prstGeom prst="rect">
            <a:avLst/>
          </a:prstGeom>
          <a:solidFill>
            <a:srgbClr val="FFFFFF"/>
          </a:solidFill>
          <a:ln w="7620">
            <a:solidFill>
              <a:srgbClr val="D8E1E4"/>
            </a:solidFill>
            <a:prstDash val="solid"/>
          </a:ln>
        </p:spPr>
      </p:sp>
      <p:sp>
        <p:nvSpPr>
          <p:cNvPr id="27" name="Text 25"/>
          <p:cNvSpPr txBox="1"/>
          <p:nvPr/>
        </p:nvSpPr>
        <p:spPr>
          <a:xfrm>
            <a:off x="3355848" y="3575304"/>
            <a:ext cx="476402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Respiratory rate, SpO₂, heart rate, HRV, sleep, steps</a:t>
            </a:r>
            <a:endParaRPr lang="en-US" sz="1500" dirty="0"/>
          </a:p>
        </p:txBody>
      </p:sp>
      <p:sp>
        <p:nvSpPr>
          <p:cNvPr id="28" name="Shape 26"/>
          <p:cNvSpPr/>
          <p:nvPr/>
        </p:nvSpPr>
        <p:spPr>
          <a:xfrm>
            <a:off x="8229600" y="3511296"/>
            <a:ext cx="3246120" cy="713232"/>
          </a:xfrm>
          <a:prstGeom prst="rect">
            <a:avLst/>
          </a:prstGeom>
          <a:solidFill>
            <a:srgbClr val="FFFFFF"/>
          </a:solidFill>
          <a:ln w="7620">
            <a:solidFill>
              <a:srgbClr val="D8E1E4"/>
            </a:solidFill>
            <a:prstDash val="solid"/>
          </a:ln>
        </p:spPr>
      </p:sp>
      <p:sp>
        <p:nvSpPr>
          <p:cNvPr id="29" name="Text 27"/>
          <p:cNvSpPr txBox="1"/>
          <p:nvPr/>
        </p:nvSpPr>
        <p:spPr>
          <a:xfrm>
            <a:off x="8339328" y="3575304"/>
            <a:ext cx="302666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Simulated time series</a:t>
            </a:r>
            <a:endParaRPr lang="en-US" sz="1500" dirty="0"/>
          </a:p>
        </p:txBody>
      </p:sp>
      <p:sp>
        <p:nvSpPr>
          <p:cNvPr id="30" name="Shape 28"/>
          <p:cNvSpPr/>
          <p:nvPr/>
        </p:nvSpPr>
        <p:spPr>
          <a:xfrm>
            <a:off x="685800" y="4224528"/>
            <a:ext cx="2560320" cy="713232"/>
          </a:xfrm>
          <a:prstGeom prst="rect">
            <a:avLst/>
          </a:prstGeom>
          <a:solidFill>
            <a:srgbClr val="F0F4F5"/>
          </a:solidFill>
          <a:ln w="7620">
            <a:solidFill>
              <a:srgbClr val="D8E1E4"/>
            </a:solidFill>
            <a:prstDash val="solid"/>
          </a:ln>
        </p:spPr>
      </p:sp>
      <p:sp>
        <p:nvSpPr>
          <p:cNvPr id="31" name="Text 29"/>
          <p:cNvSpPr txBox="1"/>
          <p:nvPr/>
        </p:nvSpPr>
        <p:spPr>
          <a:xfrm>
            <a:off x="795528" y="4288536"/>
            <a:ext cx="2340864" cy="603504"/>
          </a:xfrm>
          <a:prstGeom prst="rect">
            <a:avLst/>
          </a:prstGeom>
          <a:noFill/>
          <a:ln/>
        </p:spPr>
        <p:txBody>
          <a:bodyPr wrap="square" lIns="0" tIns="0" rIns="0" bIns="0" rtlCol="0" anchor="ctr">
            <a:normAutofit/>
          </a:bodyPr>
          <a:lstStyle/>
          <a:p>
            <a:pPr marL="0" indent="0" algn="l">
              <a:buNone/>
            </a:pPr>
            <a:r>
              <a:rPr lang="en-US" sz="1700" b="1" dirty="0">
                <a:solidFill>
                  <a:srgbClr val="0E6671"/>
                </a:solidFill>
                <a:latin typeface="Calibri" pitchFamily="34" charset="0"/>
                <a:ea typeface="Calibri" pitchFamily="34" charset="-122"/>
                <a:cs typeface="Calibri" pitchFamily="34" charset="-120"/>
              </a:rPr>
              <a:t>Adherence + diary</a:t>
            </a:r>
            <a:endParaRPr lang="en-US" sz="1700" dirty="0"/>
          </a:p>
        </p:txBody>
      </p:sp>
      <p:sp>
        <p:nvSpPr>
          <p:cNvPr id="32" name="Shape 30"/>
          <p:cNvSpPr/>
          <p:nvPr/>
        </p:nvSpPr>
        <p:spPr>
          <a:xfrm>
            <a:off x="3246120" y="4224528"/>
            <a:ext cx="4983480" cy="713232"/>
          </a:xfrm>
          <a:prstGeom prst="rect">
            <a:avLst/>
          </a:prstGeom>
          <a:solidFill>
            <a:srgbClr val="F0F4F5"/>
          </a:solidFill>
          <a:ln w="7620">
            <a:solidFill>
              <a:srgbClr val="D8E1E4"/>
            </a:solidFill>
            <a:prstDash val="solid"/>
          </a:ln>
        </p:spPr>
      </p:sp>
      <p:sp>
        <p:nvSpPr>
          <p:cNvPr id="33" name="Text 31"/>
          <p:cNvSpPr txBox="1"/>
          <p:nvPr/>
        </p:nvSpPr>
        <p:spPr>
          <a:xfrm>
            <a:off x="3355848" y="4288536"/>
            <a:ext cx="476402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Controller adherence, rescue inhaler use, symptoms</a:t>
            </a:r>
            <a:endParaRPr lang="en-US" sz="1500" dirty="0"/>
          </a:p>
        </p:txBody>
      </p:sp>
      <p:sp>
        <p:nvSpPr>
          <p:cNvPr id="34" name="Shape 32"/>
          <p:cNvSpPr/>
          <p:nvPr/>
        </p:nvSpPr>
        <p:spPr>
          <a:xfrm>
            <a:off x="8229600" y="4224528"/>
            <a:ext cx="3246120" cy="713232"/>
          </a:xfrm>
          <a:prstGeom prst="rect">
            <a:avLst/>
          </a:prstGeom>
          <a:solidFill>
            <a:srgbClr val="F0F4F5"/>
          </a:solidFill>
          <a:ln w="7620">
            <a:solidFill>
              <a:srgbClr val="D8E1E4"/>
            </a:solidFill>
            <a:prstDash val="solid"/>
          </a:ln>
        </p:spPr>
      </p:sp>
      <p:sp>
        <p:nvSpPr>
          <p:cNvPr id="35" name="Text 33"/>
          <p:cNvSpPr txBox="1"/>
          <p:nvPr/>
        </p:nvSpPr>
        <p:spPr>
          <a:xfrm>
            <a:off x="8339328" y="4288536"/>
            <a:ext cx="3026664" cy="603504"/>
          </a:xfrm>
          <a:prstGeom prst="rect">
            <a:avLst/>
          </a:prstGeom>
          <a:noFill/>
          <a:ln/>
        </p:spPr>
        <p:txBody>
          <a:bodyPr wrap="square" lIns="0" tIns="0" rIns="0" bIns="0" rtlCol="0" anchor="ctr">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Simulated logs</a:t>
            </a:r>
            <a:endParaRPr lang="en-US" sz="1500" dirty="0"/>
          </a:p>
        </p:txBody>
      </p:sp>
      <p:sp>
        <p:nvSpPr>
          <p:cNvPr id="36" name="Shape 34"/>
          <p:cNvSpPr/>
          <p:nvPr/>
        </p:nvSpPr>
        <p:spPr>
          <a:xfrm>
            <a:off x="777240" y="5166360"/>
            <a:ext cx="10652760" cy="502920"/>
          </a:xfrm>
          <a:prstGeom prst="roundRect">
            <a:avLst>
              <a:gd name="adj" fmla="val 14545"/>
            </a:avLst>
          </a:prstGeom>
          <a:solidFill>
            <a:srgbClr val="EFF7F7"/>
          </a:solidFill>
          <a:ln w="11430">
            <a:solidFill>
              <a:srgbClr val="BDD5D8"/>
            </a:solidFill>
            <a:prstDash val="solid"/>
          </a:ln>
        </p:spPr>
      </p:sp>
      <p:sp>
        <p:nvSpPr>
          <p:cNvPr id="37" name="Text 35"/>
          <p:cNvSpPr txBox="1"/>
          <p:nvPr/>
        </p:nvSpPr>
        <p:spPr>
          <a:xfrm>
            <a:off x="987552" y="5276088"/>
            <a:ext cx="10241280" cy="256032"/>
          </a:xfrm>
          <a:prstGeom prst="rect">
            <a:avLst/>
          </a:prstGeom>
          <a:noFill/>
          <a:ln/>
        </p:spPr>
        <p:txBody>
          <a:bodyPr wrap="square" lIns="0" tIns="0" rIns="0" bIns="0" rtlCol="0" anchor="ctr">
            <a:normAutofit fontScale="92500" lnSpcReduction="10000"/>
          </a:bodyPr>
          <a:lstStyle/>
          <a:p>
            <a:pPr marL="0" indent="0" algn="ctr">
              <a:buNone/>
            </a:pPr>
            <a:r>
              <a:rPr lang="en-US" sz="1900" b="1" dirty="0">
                <a:solidFill>
                  <a:srgbClr val="113E47"/>
                </a:solidFill>
                <a:latin typeface="Calibri" pitchFamily="34" charset="0"/>
                <a:ea typeface="Calibri" pitchFamily="34" charset="-122"/>
                <a:cs typeface="Calibri" pitchFamily="34" charset="-120"/>
              </a:rPr>
              <a:t>Cohort: 300 patients × 60 days × hourly</a:t>
            </a:r>
            <a:endParaRPr lang="en-US" sz="1900" dirty="0"/>
          </a:p>
        </p:txBody>
      </p:sp>
      <p:sp>
        <p:nvSpPr>
          <p:cNvPr id="38" name="Shape 36"/>
          <p:cNvSpPr/>
          <p:nvPr/>
        </p:nvSpPr>
        <p:spPr>
          <a:xfrm>
            <a:off x="777240" y="5742432"/>
            <a:ext cx="10652760" cy="438912"/>
          </a:xfrm>
          <a:prstGeom prst="roundRect">
            <a:avLst>
              <a:gd name="adj" fmla="val 16667"/>
            </a:avLst>
          </a:prstGeom>
          <a:solidFill>
            <a:srgbClr val="F9EEEE"/>
          </a:solidFill>
          <a:ln w="11430">
            <a:solidFill>
              <a:srgbClr val="E7CFCF"/>
            </a:solidFill>
            <a:prstDash val="solid"/>
          </a:ln>
        </p:spPr>
      </p:sp>
      <p:sp>
        <p:nvSpPr>
          <p:cNvPr id="39" name="Text 37"/>
          <p:cNvSpPr txBox="1"/>
          <p:nvPr/>
        </p:nvSpPr>
        <p:spPr>
          <a:xfrm>
            <a:off x="914400" y="5824728"/>
            <a:ext cx="10332720" cy="256032"/>
          </a:xfrm>
          <a:prstGeom prst="rect">
            <a:avLst/>
          </a:prstGeom>
          <a:noFill/>
          <a:ln/>
        </p:spPr>
        <p:txBody>
          <a:bodyPr wrap="square" lIns="0" tIns="0" rIns="0" bIns="0" rtlCol="0" anchor="ctr">
            <a:normAutofit/>
          </a:bodyPr>
          <a:lstStyle/>
          <a:p>
            <a:pPr>
              <a:defRPr sz="1100" b="1">
                <a:solidFill>
                  <a:srgbClr val="0E6671"/>
                </a:solidFill>
              </a:defRPr>
            </a:pPr>
            <a:r>
              <a:rPr sz="1100" b="1">
                <a:solidFill>
                  <a:srgbClr val="0E6671"/>
                </a:solidFill>
              </a:rPr>
              <a:t>ALL DATA SIMULATED; NO REAL PATIENT DATA USED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EVENT GENERATION</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The model learns a simulator—not asthma biology</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Outcome labels are generated by explicit assumptions.</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85800" y="1664208"/>
            <a:ext cx="5212080" cy="3602736"/>
          </a:xfrm>
          <a:prstGeom prst="roundRect">
            <a:avLst>
              <a:gd name="adj" fmla="val 2030"/>
            </a:avLst>
          </a:prstGeom>
          <a:solidFill>
            <a:srgbClr val="FFFFFF"/>
          </a:solidFill>
          <a:ln w="11430">
            <a:solidFill>
              <a:srgbClr val="D8E1E4"/>
            </a:solidFill>
            <a:prstDash val="solid"/>
          </a:ln>
        </p:spPr>
      </p:sp>
      <p:sp>
        <p:nvSpPr>
          <p:cNvPr id="7" name="Shape 5"/>
          <p:cNvSpPr/>
          <p:nvPr/>
        </p:nvSpPr>
        <p:spPr>
          <a:xfrm>
            <a:off x="685800" y="1664208"/>
            <a:ext cx="64008" cy="3602736"/>
          </a:xfrm>
          <a:prstGeom prst="rect">
            <a:avLst/>
          </a:prstGeom>
          <a:solidFill>
            <a:srgbClr val="0E6671"/>
          </a:solidFill>
          <a:ln w="10160">
            <a:solidFill>
              <a:srgbClr val="0E6671"/>
            </a:solidFill>
            <a:prstDash val="solid"/>
          </a:ln>
        </p:spPr>
      </p:sp>
      <p:sp>
        <p:nvSpPr>
          <p:cNvPr id="8" name="Text 6"/>
          <p:cNvSpPr txBox="1"/>
          <p:nvPr/>
        </p:nvSpPr>
        <p:spPr>
          <a:xfrm>
            <a:off x="941832" y="1901952"/>
            <a:ext cx="429768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HAZARD DRIVERS</a:t>
            </a:r>
            <a:endParaRPr lang="en-US" sz="1000" dirty="0"/>
          </a:p>
        </p:txBody>
      </p:sp>
      <p:sp>
        <p:nvSpPr>
          <p:cNvPr id="9" name="Shape 7"/>
          <p:cNvSpPr/>
          <p:nvPr/>
        </p:nvSpPr>
        <p:spPr>
          <a:xfrm>
            <a:off x="960120" y="2441448"/>
            <a:ext cx="86868" cy="86868"/>
          </a:xfrm>
          <a:prstGeom prst="ellipse">
            <a:avLst/>
          </a:prstGeom>
          <a:solidFill>
            <a:srgbClr val="0E6671"/>
          </a:solidFill>
          <a:ln w="6350">
            <a:solidFill>
              <a:srgbClr val="0E6671"/>
            </a:solidFill>
            <a:prstDash val="solid"/>
          </a:ln>
        </p:spPr>
      </p:sp>
      <p:sp>
        <p:nvSpPr>
          <p:cNvPr id="10" name="Text 8"/>
          <p:cNvSpPr txBox="1"/>
          <p:nvPr/>
        </p:nvSpPr>
        <p:spPr>
          <a:xfrm>
            <a:off x="1152144" y="2331720"/>
            <a:ext cx="4334256" cy="411480"/>
          </a:xfrm>
          <a:prstGeom prst="rect">
            <a:avLst/>
          </a:prstGeom>
          <a:noFill/>
          <a:ln/>
        </p:spPr>
        <p:txBody>
          <a:bodyPr wrap="square" lIns="0" tIns="0" rIns="0" bIns="0" rtlCol="0" anchor="t">
            <a:normAutofit/>
          </a:bodyPr>
          <a:lstStyle/>
          <a:p>
            <a:pPr marL="0" indent="0" algn="l">
              <a:buNone/>
            </a:pPr>
            <a:r>
              <a:rPr lang="en-US" sz="1900" dirty="0">
                <a:solidFill>
                  <a:srgbClr val="172D33"/>
                </a:solidFill>
                <a:latin typeface="Calibri" pitchFamily="34" charset="0"/>
                <a:ea typeface="Calibri" pitchFamily="34" charset="-122"/>
                <a:cs typeface="Calibri" pitchFamily="34" charset="-120"/>
              </a:rPr>
              <a:t>Pollution and asthma severity</a:t>
            </a:r>
            <a:endParaRPr lang="en-US" sz="1900" dirty="0"/>
          </a:p>
        </p:txBody>
      </p:sp>
      <p:sp>
        <p:nvSpPr>
          <p:cNvPr id="11" name="Shape 9"/>
          <p:cNvSpPr/>
          <p:nvPr/>
        </p:nvSpPr>
        <p:spPr>
          <a:xfrm>
            <a:off x="960120" y="3099816"/>
            <a:ext cx="86868" cy="86868"/>
          </a:xfrm>
          <a:prstGeom prst="ellipse">
            <a:avLst/>
          </a:prstGeom>
          <a:solidFill>
            <a:srgbClr val="0E6671"/>
          </a:solidFill>
          <a:ln w="6350">
            <a:solidFill>
              <a:srgbClr val="0E6671"/>
            </a:solidFill>
            <a:prstDash val="solid"/>
          </a:ln>
        </p:spPr>
      </p:sp>
      <p:sp>
        <p:nvSpPr>
          <p:cNvPr id="12" name="Text 10"/>
          <p:cNvSpPr txBox="1"/>
          <p:nvPr/>
        </p:nvSpPr>
        <p:spPr>
          <a:xfrm>
            <a:off x="1152144" y="2990088"/>
            <a:ext cx="4334256" cy="411480"/>
          </a:xfrm>
          <a:prstGeom prst="rect">
            <a:avLst/>
          </a:prstGeom>
          <a:noFill/>
          <a:ln/>
        </p:spPr>
        <p:txBody>
          <a:bodyPr wrap="square" lIns="0" tIns="0" rIns="0" bIns="0" rtlCol="0" anchor="t">
            <a:normAutofit/>
          </a:bodyPr>
          <a:lstStyle/>
          <a:p>
            <a:pPr marL="0" indent="0" algn="l">
              <a:buNone/>
            </a:pPr>
            <a:r>
              <a:rPr lang="en-US" sz="1900" dirty="0">
                <a:solidFill>
                  <a:srgbClr val="172D33"/>
                </a:solidFill>
                <a:latin typeface="Calibri" pitchFamily="34" charset="0"/>
                <a:ea typeface="Calibri" pitchFamily="34" charset="-122"/>
                <a:cs typeface="Calibri" pitchFamily="34" charset="-120"/>
              </a:rPr>
              <a:t>Prior exacerbations and sensitivity</a:t>
            </a:r>
            <a:endParaRPr lang="en-US" sz="1900" dirty="0"/>
          </a:p>
        </p:txBody>
      </p:sp>
      <p:sp>
        <p:nvSpPr>
          <p:cNvPr id="13" name="Shape 11"/>
          <p:cNvSpPr/>
          <p:nvPr/>
        </p:nvSpPr>
        <p:spPr>
          <a:xfrm>
            <a:off x="960120" y="3758184"/>
            <a:ext cx="86868" cy="86868"/>
          </a:xfrm>
          <a:prstGeom prst="ellipse">
            <a:avLst/>
          </a:prstGeom>
          <a:solidFill>
            <a:srgbClr val="0E6671"/>
          </a:solidFill>
          <a:ln w="6350">
            <a:solidFill>
              <a:srgbClr val="0E6671"/>
            </a:solidFill>
            <a:prstDash val="solid"/>
          </a:ln>
        </p:spPr>
      </p:sp>
      <p:sp>
        <p:nvSpPr>
          <p:cNvPr id="14" name="Text 12"/>
          <p:cNvSpPr txBox="1"/>
          <p:nvPr/>
        </p:nvSpPr>
        <p:spPr>
          <a:xfrm>
            <a:off x="1152144" y="3648456"/>
            <a:ext cx="4334256" cy="411480"/>
          </a:xfrm>
          <a:prstGeom prst="rect">
            <a:avLst/>
          </a:prstGeom>
          <a:noFill/>
          <a:ln/>
        </p:spPr>
        <p:txBody>
          <a:bodyPr wrap="square" lIns="0" tIns="0" rIns="0" bIns="0" rtlCol="0" anchor="t">
            <a:normAutofit/>
          </a:bodyPr>
          <a:lstStyle/>
          <a:p>
            <a:pPr marL="0" indent="0" algn="l">
              <a:buNone/>
            </a:pPr>
            <a:r>
              <a:rPr lang="en-US" sz="1900" dirty="0">
                <a:solidFill>
                  <a:srgbClr val="172D33"/>
                </a:solidFill>
                <a:latin typeface="Calibri" pitchFamily="34" charset="0"/>
                <a:ea typeface="Calibri" pitchFamily="34" charset="-122"/>
                <a:cs typeface="Calibri" pitchFamily="34" charset="-120"/>
              </a:rPr>
              <a:t>Adherence and hidden vulnerability</a:t>
            </a:r>
            <a:endParaRPr lang="en-US" sz="1900" dirty="0"/>
          </a:p>
        </p:txBody>
      </p:sp>
      <p:sp>
        <p:nvSpPr>
          <p:cNvPr id="15" name="Shape 13"/>
          <p:cNvSpPr/>
          <p:nvPr/>
        </p:nvSpPr>
        <p:spPr>
          <a:xfrm>
            <a:off x="6199632" y="1664208"/>
            <a:ext cx="5285232" cy="3602736"/>
          </a:xfrm>
          <a:prstGeom prst="roundRect">
            <a:avLst>
              <a:gd name="adj" fmla="val 2030"/>
            </a:avLst>
          </a:prstGeom>
          <a:solidFill>
            <a:srgbClr val="FFFFFF"/>
          </a:solidFill>
          <a:ln w="11430">
            <a:solidFill>
              <a:srgbClr val="D8E1E4"/>
            </a:solidFill>
            <a:prstDash val="solid"/>
          </a:ln>
        </p:spPr>
      </p:sp>
      <p:sp>
        <p:nvSpPr>
          <p:cNvPr id="16" name="Shape 14"/>
          <p:cNvSpPr/>
          <p:nvPr/>
        </p:nvSpPr>
        <p:spPr>
          <a:xfrm>
            <a:off x="6199632" y="1664208"/>
            <a:ext cx="64008" cy="3602736"/>
          </a:xfrm>
          <a:prstGeom prst="rect">
            <a:avLst/>
          </a:prstGeom>
          <a:solidFill>
            <a:srgbClr val="2A7F88"/>
          </a:solidFill>
          <a:ln w="10160">
            <a:solidFill>
              <a:srgbClr val="2A7F88"/>
            </a:solidFill>
            <a:prstDash val="solid"/>
          </a:ln>
        </p:spPr>
      </p:sp>
      <p:sp>
        <p:nvSpPr>
          <p:cNvPr id="17" name="Text 15"/>
          <p:cNvSpPr txBox="1"/>
          <p:nvPr/>
        </p:nvSpPr>
        <p:spPr>
          <a:xfrm>
            <a:off x="6473952" y="1901952"/>
            <a:ext cx="43891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SIMULATED EVENT BEHAVIOR</a:t>
            </a:r>
            <a:endParaRPr lang="en-US" sz="1000" dirty="0"/>
          </a:p>
        </p:txBody>
      </p:sp>
      <p:sp>
        <p:nvSpPr>
          <p:cNvPr id="18" name="Text 16"/>
          <p:cNvSpPr txBox="1"/>
          <p:nvPr/>
        </p:nvSpPr>
        <p:spPr>
          <a:xfrm>
            <a:off x="6473952" y="2267712"/>
            <a:ext cx="1097280" cy="329184"/>
          </a:xfrm>
          <a:prstGeom prst="rect">
            <a:avLst/>
          </a:prstGeom>
          <a:noFill/>
          <a:ln/>
        </p:spPr>
        <p:txBody>
          <a:bodyPr wrap="square" lIns="0" tIns="0" rIns="0" bIns="0" rtlCol="0" anchor="ctr">
            <a:normAutofit lnSpcReduction="10000"/>
          </a:bodyPr>
          <a:lstStyle/>
          <a:p>
            <a:pPr marL="0" indent="0" algn="l">
              <a:buNone/>
            </a:pPr>
            <a:r>
              <a:rPr lang="en-US" sz="2300" b="1" dirty="0">
                <a:solidFill>
                  <a:srgbClr val="0E6671"/>
                </a:solidFill>
                <a:latin typeface="Calibri" pitchFamily="34" charset="0"/>
                <a:ea typeface="Calibri" pitchFamily="34" charset="-122"/>
                <a:cs typeface="Calibri" pitchFamily="34" charset="-120"/>
              </a:rPr>
              <a:t>6–24h</a:t>
            </a:r>
            <a:endParaRPr lang="en-US" sz="2300" dirty="0"/>
          </a:p>
        </p:txBody>
      </p:sp>
      <p:sp>
        <p:nvSpPr>
          <p:cNvPr id="19" name="Text 17"/>
          <p:cNvSpPr txBox="1"/>
          <p:nvPr/>
        </p:nvSpPr>
        <p:spPr>
          <a:xfrm>
            <a:off x="7635240" y="2258568"/>
            <a:ext cx="3438144" cy="530352"/>
          </a:xfrm>
          <a:prstGeom prst="rect">
            <a:avLst/>
          </a:prstGeom>
          <a:noFill/>
          <a:ln/>
        </p:spPr>
        <p:txBody>
          <a:bodyPr wrap="square" lIns="0" tIns="0" rIns="0" bIns="0" rtlCol="0" anchor="t">
            <a:normAutofit/>
          </a:bodyPr>
          <a:lstStyle/>
          <a:p>
            <a:pPr marL="0" indent="0" algn="l">
              <a:buNone/>
            </a:pPr>
            <a:r>
              <a:rPr lang="en-US" sz="1600" dirty="0">
                <a:solidFill>
                  <a:srgbClr val="172D33"/>
                </a:solidFill>
                <a:latin typeface="Calibri" pitchFamily="34" charset="0"/>
                <a:ea typeface="Calibri" pitchFamily="34" charset="-122"/>
                <a:cs typeface="Calibri" pitchFamily="34" charset="-120"/>
              </a:rPr>
              <a:t>Prodrome: respiratory rate up, SpO₂ down, rescue use and symptoms up</a:t>
            </a:r>
            <a:endParaRPr lang="en-US" sz="1600" dirty="0"/>
          </a:p>
        </p:txBody>
      </p:sp>
      <p:sp>
        <p:nvSpPr>
          <p:cNvPr id="20" name="Text 18"/>
          <p:cNvSpPr txBox="1"/>
          <p:nvPr/>
        </p:nvSpPr>
        <p:spPr>
          <a:xfrm>
            <a:off x="6473952" y="3108960"/>
            <a:ext cx="1097280" cy="329184"/>
          </a:xfrm>
          <a:prstGeom prst="rect">
            <a:avLst/>
          </a:prstGeom>
          <a:noFill/>
          <a:ln/>
        </p:spPr>
        <p:txBody>
          <a:bodyPr wrap="square" lIns="0" tIns="0" rIns="0" bIns="0" rtlCol="0" anchor="ctr">
            <a:normAutofit lnSpcReduction="10000"/>
          </a:bodyPr>
          <a:lstStyle/>
          <a:p>
            <a:pPr marL="0" indent="0" algn="l">
              <a:buNone/>
            </a:pPr>
            <a:r>
              <a:rPr lang="en-US" sz="2300" b="1" dirty="0">
                <a:solidFill>
                  <a:srgbClr val="0E6671"/>
                </a:solidFill>
                <a:latin typeface="Calibri" pitchFamily="34" charset="0"/>
                <a:ea typeface="Calibri" pitchFamily="34" charset="-122"/>
                <a:cs typeface="Calibri" pitchFamily="34" charset="-120"/>
              </a:rPr>
              <a:t>30%</a:t>
            </a:r>
            <a:endParaRPr lang="en-US" sz="2300" dirty="0"/>
          </a:p>
        </p:txBody>
      </p:sp>
      <p:sp>
        <p:nvSpPr>
          <p:cNvPr id="21" name="Text 19"/>
          <p:cNvSpPr txBox="1"/>
          <p:nvPr/>
        </p:nvSpPr>
        <p:spPr>
          <a:xfrm>
            <a:off x="7635240" y="3099816"/>
            <a:ext cx="3438144" cy="530352"/>
          </a:xfrm>
          <a:prstGeom prst="rect">
            <a:avLst/>
          </a:prstGeom>
          <a:noFill/>
          <a:ln/>
        </p:spPr>
        <p:txBody>
          <a:bodyPr wrap="square" lIns="0" tIns="0" rIns="0" bIns="0" rtlCol="0" anchor="t">
            <a:normAutofit/>
          </a:bodyPr>
          <a:lstStyle/>
          <a:p>
            <a:pPr marL="0" indent="0" algn="l">
              <a:buNone/>
            </a:pPr>
            <a:r>
              <a:rPr lang="en-US" sz="1600" dirty="0">
                <a:solidFill>
                  <a:srgbClr val="172D33"/>
                </a:solidFill>
                <a:latin typeface="Calibri" pitchFamily="34" charset="0"/>
                <a:ea typeface="Calibri" pitchFamily="34" charset="-122"/>
                <a:cs typeface="Calibri" pitchFamily="34" charset="-120"/>
              </a:rPr>
              <a:t>Silent episodes with weak or no prodrome</a:t>
            </a:r>
            <a:endParaRPr lang="en-US" sz="1600" dirty="0"/>
          </a:p>
        </p:txBody>
      </p:sp>
      <p:sp>
        <p:nvSpPr>
          <p:cNvPr id="22" name="Text 20"/>
          <p:cNvSpPr txBox="1"/>
          <p:nvPr/>
        </p:nvSpPr>
        <p:spPr>
          <a:xfrm>
            <a:off x="6473952" y="3950208"/>
            <a:ext cx="1097280" cy="329184"/>
          </a:xfrm>
          <a:prstGeom prst="rect">
            <a:avLst/>
          </a:prstGeom>
          <a:noFill/>
          <a:ln/>
        </p:spPr>
        <p:txBody>
          <a:bodyPr wrap="square" lIns="0" tIns="0" rIns="0" bIns="0" rtlCol="0" anchor="ctr">
            <a:normAutofit lnSpcReduction="10000"/>
          </a:bodyPr>
          <a:lstStyle/>
          <a:p>
            <a:pPr marL="0" indent="0" algn="l">
              <a:buNone/>
            </a:pPr>
            <a:r>
              <a:rPr lang="en-US" sz="2300" b="1" dirty="0">
                <a:solidFill>
                  <a:srgbClr val="0E6671"/>
                </a:solidFill>
                <a:latin typeface="Calibri" pitchFamily="34" charset="0"/>
                <a:ea typeface="Calibri" pitchFamily="34" charset="-122"/>
                <a:cs typeface="Calibri" pitchFamily="34" charset="-120"/>
              </a:rPr>
              <a:t>72h</a:t>
            </a:r>
            <a:endParaRPr lang="en-US" sz="2300" dirty="0"/>
          </a:p>
        </p:txBody>
      </p:sp>
      <p:sp>
        <p:nvSpPr>
          <p:cNvPr id="23" name="Text 21"/>
          <p:cNvSpPr txBox="1"/>
          <p:nvPr/>
        </p:nvSpPr>
        <p:spPr>
          <a:xfrm>
            <a:off x="7635240" y="3941064"/>
            <a:ext cx="3438144" cy="530352"/>
          </a:xfrm>
          <a:prstGeom prst="rect">
            <a:avLst/>
          </a:prstGeom>
          <a:noFill/>
          <a:ln/>
        </p:spPr>
        <p:txBody>
          <a:bodyPr wrap="square" lIns="0" tIns="0" rIns="0" bIns="0" rtlCol="0" anchor="t">
            <a:normAutofit/>
          </a:bodyPr>
          <a:lstStyle/>
          <a:p>
            <a:pPr marL="0" indent="0" algn="l">
              <a:buNone/>
            </a:pPr>
            <a:r>
              <a:rPr lang="en-US" sz="1600" dirty="0">
                <a:solidFill>
                  <a:srgbClr val="172D33"/>
                </a:solidFill>
                <a:latin typeface="Calibri" pitchFamily="34" charset="0"/>
                <a:ea typeface="Calibri" pitchFamily="34" charset="-122"/>
                <a:cs typeface="Calibri" pitchFamily="34" charset="-120"/>
              </a:rPr>
              <a:t>Refractory period after an onset</a:t>
            </a:r>
            <a:endParaRPr lang="en-US" sz="1600" dirty="0"/>
          </a:p>
        </p:txBody>
      </p:sp>
      <p:sp>
        <p:nvSpPr>
          <p:cNvPr id="24" name="Shape 22"/>
          <p:cNvSpPr/>
          <p:nvPr/>
        </p:nvSpPr>
        <p:spPr>
          <a:xfrm>
            <a:off x="777240" y="5513832"/>
            <a:ext cx="10607040" cy="18288"/>
          </a:xfrm>
          <a:prstGeom prst="rect">
            <a:avLst/>
          </a:prstGeom>
          <a:solidFill>
            <a:srgbClr val="D8E1E4"/>
          </a:solidFill>
          <a:ln w="10160">
            <a:solidFill>
              <a:srgbClr val="D8E1E4"/>
            </a:solidFill>
            <a:prstDash val="solid"/>
          </a:ln>
        </p:spPr>
      </p:sp>
      <p:sp>
        <p:nvSpPr>
          <p:cNvPr id="25" name="Text 23"/>
          <p:cNvSpPr txBox="1"/>
          <p:nvPr/>
        </p:nvSpPr>
        <p:spPr>
          <a:xfrm>
            <a:off x="822960" y="5669280"/>
            <a:ext cx="10424160" cy="347472"/>
          </a:xfrm>
          <a:prstGeom prst="rect">
            <a:avLst/>
          </a:prstGeom>
          <a:noFill/>
          <a:ln/>
        </p:spPr>
        <p:txBody>
          <a:bodyPr wrap="square" lIns="0" tIns="0" rIns="0" bIns="0" rtlCol="0" anchor="ctr">
            <a:normAutofit lnSpcReduction="10000"/>
          </a:bodyPr>
          <a:lstStyle/>
          <a:p>
            <a:pPr marL="0" indent="0" algn="ctr">
              <a:buNone/>
            </a:pPr>
            <a:r>
              <a:rPr lang="en-US" sz="2300" b="1" dirty="0">
                <a:solidFill>
                  <a:srgbClr val="113E47"/>
                </a:solidFill>
                <a:latin typeface="Calibri" pitchFamily="34" charset="0"/>
                <a:ea typeface="Calibri" pitchFamily="34" charset="-122"/>
                <a:cs typeface="Calibri" pitchFamily="34" charset="-120"/>
              </a:rPr>
              <a:t>1,398 episodes  ·  Positive label rate: 7.77%</a:t>
            </a:r>
            <a:endParaRPr lang="en-US" sz="2300" dirty="0"/>
          </a:p>
        </p:txBody>
      </p:sp>
      <p:sp>
        <p:nvSpPr>
          <p:cNvPr id="26" name="Text 24"/>
          <p:cNvSpPr txBox="1"/>
          <p:nvPr/>
        </p:nvSpPr>
        <p:spPr>
          <a:xfrm>
            <a:off x="914400" y="6062472"/>
            <a:ext cx="10241280" cy="182880"/>
          </a:xfrm>
          <a:prstGeom prst="rect">
            <a:avLst/>
          </a:prstGeom>
          <a:noFill/>
          <a:ln/>
        </p:spPr>
        <p:txBody>
          <a:bodyPr wrap="square" lIns="0" tIns="0" rIns="0" bIns="0" rtlCol="0" anchor="ctr">
            <a:normAutofit/>
          </a:bodyPr>
          <a:lstStyle/>
          <a:p>
            <a:pPr marL="0" indent="0" algn="ctr">
              <a:buNone/>
            </a:pPr>
            <a:r>
              <a:rPr lang="en-US" sz="1200" b="1" dirty="0">
                <a:solidFill>
                  <a:srgbClr val="8B4444"/>
                </a:solidFill>
                <a:latin typeface="Calibri" pitchFamily="34" charset="0"/>
                <a:ea typeface="Calibri" pitchFamily="34" charset="-122"/>
                <a:cs typeface="Calibri" pitchFamily="34" charset="-120"/>
              </a:rPr>
              <a:t>Assumptions for modelling—not clinical facts.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MODEL AND SAFEGUARDS</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Constrained learning with explicit leakage checks</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Model choices are documented and repeatable.</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85800" y="1764792"/>
            <a:ext cx="2267712" cy="1947672"/>
          </a:xfrm>
          <a:prstGeom prst="roundRect">
            <a:avLst>
              <a:gd name="adj" fmla="val 3756"/>
            </a:avLst>
          </a:prstGeom>
          <a:solidFill>
            <a:srgbClr val="FFFFFF"/>
          </a:solidFill>
          <a:ln w="11430">
            <a:solidFill>
              <a:srgbClr val="D8E1E4"/>
            </a:solidFill>
            <a:prstDash val="solid"/>
          </a:ln>
        </p:spPr>
      </p:sp>
      <p:sp>
        <p:nvSpPr>
          <p:cNvPr id="7" name="Shape 5"/>
          <p:cNvSpPr/>
          <p:nvPr/>
        </p:nvSpPr>
        <p:spPr>
          <a:xfrm>
            <a:off x="685800" y="1764792"/>
            <a:ext cx="64008" cy="1947672"/>
          </a:xfrm>
          <a:prstGeom prst="rect">
            <a:avLst/>
          </a:prstGeom>
          <a:solidFill>
            <a:srgbClr val="0E6671"/>
          </a:solidFill>
          <a:ln w="10160">
            <a:solidFill>
              <a:srgbClr val="0E6671"/>
            </a:solidFill>
            <a:prstDash val="solid"/>
          </a:ln>
        </p:spPr>
      </p:sp>
      <p:sp>
        <p:nvSpPr>
          <p:cNvPr id="8" name="Text 6"/>
          <p:cNvSpPr txBox="1"/>
          <p:nvPr/>
        </p:nvSpPr>
        <p:spPr>
          <a:xfrm>
            <a:off x="822960" y="2029968"/>
            <a:ext cx="1993392" cy="566928"/>
          </a:xfrm>
          <a:prstGeom prst="rect">
            <a:avLst/>
          </a:prstGeom>
          <a:noFill/>
          <a:ln/>
        </p:spPr>
        <p:txBody>
          <a:bodyPr wrap="square" lIns="0" tIns="0" rIns="0" bIns="0" rtlCol="0" anchor="ctr">
            <a:normAutofit lnSpcReduction="10000"/>
          </a:bodyPr>
          <a:lstStyle/>
          <a:p>
            <a:pPr marL="0" indent="0" algn="ctr">
              <a:buNone/>
            </a:pPr>
            <a:r>
              <a:rPr lang="en-US" sz="3800" b="1" dirty="0">
                <a:solidFill>
                  <a:srgbClr val="0E6671"/>
                </a:solidFill>
                <a:latin typeface="Calibri" pitchFamily="34" charset="0"/>
                <a:ea typeface="Calibri" pitchFamily="34" charset="-122"/>
                <a:cs typeface="Calibri" pitchFamily="34" charset="-120"/>
              </a:rPr>
              <a:t>52</a:t>
            </a:r>
            <a:endParaRPr lang="en-US" sz="3800" dirty="0"/>
          </a:p>
        </p:txBody>
      </p:sp>
      <p:sp>
        <p:nvSpPr>
          <p:cNvPr id="9" name="Text 7"/>
          <p:cNvSpPr txBox="1"/>
          <p:nvPr/>
        </p:nvSpPr>
        <p:spPr>
          <a:xfrm>
            <a:off x="822960" y="2724912"/>
            <a:ext cx="1993392" cy="274320"/>
          </a:xfrm>
          <a:prstGeom prst="rect">
            <a:avLst/>
          </a:prstGeom>
          <a:noFill/>
          <a:ln/>
        </p:spPr>
        <p:txBody>
          <a:bodyPr wrap="square" lIns="0" tIns="0" rIns="0" bIns="0" rtlCol="0" anchor="ctr">
            <a:normAutofit/>
          </a:bodyPr>
          <a:lstStyle/>
          <a:p>
            <a:pPr marL="0" indent="0" algn="ctr">
              <a:buNone/>
            </a:pPr>
            <a:r>
              <a:rPr lang="en-US" sz="1100" b="1" dirty="0">
                <a:solidFill>
                  <a:srgbClr val="172D33"/>
                </a:solidFill>
                <a:latin typeface="Calibri" pitchFamily="34" charset="0"/>
                <a:ea typeface="Calibri" pitchFamily="34" charset="-122"/>
                <a:cs typeface="Calibri" pitchFamily="34" charset="-120"/>
              </a:rPr>
              <a:t>PAST-LOOKING FEATURES</a:t>
            </a:r>
            <a:endParaRPr lang="en-US" sz="1100" dirty="0"/>
          </a:p>
        </p:txBody>
      </p:sp>
      <p:sp>
        <p:nvSpPr>
          <p:cNvPr id="10" name="Text 8"/>
          <p:cNvSpPr txBox="1"/>
          <p:nvPr/>
        </p:nvSpPr>
        <p:spPr>
          <a:xfrm>
            <a:off x="832104" y="3099816"/>
            <a:ext cx="1975104" cy="384048"/>
          </a:xfrm>
          <a:prstGeom prst="rect">
            <a:avLst/>
          </a:prstGeom>
          <a:noFill/>
          <a:ln/>
        </p:spPr>
        <p:txBody>
          <a:bodyPr wrap="square" lIns="0" tIns="0" rIns="0" bIns="0" rtlCol="0" anchor="ctr">
            <a:normAutofit lnSpcReduction="10000"/>
          </a:bodyPr>
          <a:lstStyle/>
          <a:p>
            <a:pPr marL="0" indent="0" algn="ctr">
              <a:buNone/>
            </a:pPr>
            <a:r>
              <a:rPr lang="en-US" sz="1300" dirty="0">
                <a:solidFill>
                  <a:srgbClr val="586B72"/>
                </a:solidFill>
                <a:latin typeface="Calibri" pitchFamily="34" charset="0"/>
                <a:ea typeface="Calibri" pitchFamily="34" charset="-122"/>
                <a:cs typeface="Calibri" pitchFamily="34" charset="-120"/>
              </a:rPr>
              <a:t>No future observations in features</a:t>
            </a:r>
            <a:endParaRPr lang="en-US" sz="1300" dirty="0"/>
          </a:p>
        </p:txBody>
      </p:sp>
      <p:sp>
        <p:nvSpPr>
          <p:cNvPr id="11" name="Shape 9"/>
          <p:cNvSpPr/>
          <p:nvPr/>
        </p:nvSpPr>
        <p:spPr>
          <a:xfrm>
            <a:off x="3566160" y="1764792"/>
            <a:ext cx="2267712" cy="1947672"/>
          </a:xfrm>
          <a:prstGeom prst="roundRect">
            <a:avLst>
              <a:gd name="adj" fmla="val 3756"/>
            </a:avLst>
          </a:prstGeom>
          <a:solidFill>
            <a:srgbClr val="FFFFFF"/>
          </a:solidFill>
          <a:ln w="11430">
            <a:solidFill>
              <a:srgbClr val="D8E1E4"/>
            </a:solidFill>
            <a:prstDash val="solid"/>
          </a:ln>
        </p:spPr>
      </p:sp>
      <p:sp>
        <p:nvSpPr>
          <p:cNvPr id="12" name="Shape 10"/>
          <p:cNvSpPr/>
          <p:nvPr/>
        </p:nvSpPr>
        <p:spPr>
          <a:xfrm>
            <a:off x="3566160" y="1764792"/>
            <a:ext cx="64008" cy="1947672"/>
          </a:xfrm>
          <a:prstGeom prst="rect">
            <a:avLst/>
          </a:prstGeom>
          <a:solidFill>
            <a:srgbClr val="0E6671"/>
          </a:solidFill>
          <a:ln w="10160">
            <a:solidFill>
              <a:srgbClr val="0E6671"/>
            </a:solidFill>
            <a:prstDash val="solid"/>
          </a:ln>
        </p:spPr>
      </p:sp>
      <p:sp>
        <p:nvSpPr>
          <p:cNvPr id="13" name="Text 11"/>
          <p:cNvSpPr txBox="1"/>
          <p:nvPr/>
        </p:nvSpPr>
        <p:spPr>
          <a:xfrm>
            <a:off x="3703320" y="2029968"/>
            <a:ext cx="1993392" cy="566928"/>
          </a:xfrm>
          <a:prstGeom prst="rect">
            <a:avLst/>
          </a:prstGeom>
          <a:noFill/>
          <a:ln/>
        </p:spPr>
        <p:txBody>
          <a:bodyPr wrap="square" lIns="0" tIns="0" rIns="0" bIns="0" rtlCol="0" anchor="ctr">
            <a:normAutofit lnSpcReduction="10000"/>
          </a:bodyPr>
          <a:lstStyle/>
          <a:p>
            <a:pPr marL="0" indent="0" algn="ctr">
              <a:buNone/>
            </a:pPr>
            <a:r>
              <a:rPr lang="en-US" sz="3800" b="1" dirty="0">
                <a:solidFill>
                  <a:srgbClr val="0E6671"/>
                </a:solidFill>
                <a:latin typeface="Calibri" pitchFamily="34" charset="0"/>
                <a:ea typeface="Calibri" pitchFamily="34" charset="-122"/>
                <a:cs typeface="Calibri" pitchFamily="34" charset="-120"/>
              </a:rPr>
              <a:t>25</a:t>
            </a:r>
            <a:endParaRPr lang="en-US" sz="3800" dirty="0"/>
          </a:p>
        </p:txBody>
      </p:sp>
      <p:sp>
        <p:nvSpPr>
          <p:cNvPr id="14" name="Text 12"/>
          <p:cNvSpPr txBox="1"/>
          <p:nvPr/>
        </p:nvSpPr>
        <p:spPr>
          <a:xfrm>
            <a:off x="3703320" y="2724912"/>
            <a:ext cx="1993392" cy="274320"/>
          </a:xfrm>
          <a:prstGeom prst="rect">
            <a:avLst/>
          </a:prstGeom>
          <a:noFill/>
          <a:ln/>
        </p:spPr>
        <p:txBody>
          <a:bodyPr wrap="square" lIns="0" tIns="0" rIns="0" bIns="0" rtlCol="0" anchor="ctr">
            <a:normAutofit/>
          </a:bodyPr>
          <a:lstStyle/>
          <a:p>
            <a:pPr marL="0" indent="0" algn="ctr">
              <a:buNone/>
            </a:pPr>
            <a:r>
              <a:rPr lang="en-US" sz="1100" b="1" dirty="0">
                <a:solidFill>
                  <a:srgbClr val="172D33"/>
                </a:solidFill>
                <a:latin typeface="Calibri" pitchFamily="34" charset="0"/>
                <a:ea typeface="Calibri" pitchFamily="34" charset="-122"/>
                <a:cs typeface="Calibri" pitchFamily="34" charset="-120"/>
              </a:rPr>
              <a:t>MONOTONE CONSTRAINTS</a:t>
            </a:r>
            <a:endParaRPr lang="en-US" sz="1100" dirty="0"/>
          </a:p>
        </p:txBody>
      </p:sp>
      <p:sp>
        <p:nvSpPr>
          <p:cNvPr id="15" name="Text 13"/>
          <p:cNvSpPr txBox="1"/>
          <p:nvPr/>
        </p:nvSpPr>
        <p:spPr>
          <a:xfrm>
            <a:off x="3712464" y="3099816"/>
            <a:ext cx="1975104" cy="384048"/>
          </a:xfrm>
          <a:prstGeom prst="rect">
            <a:avLst/>
          </a:prstGeom>
          <a:noFill/>
          <a:ln/>
        </p:spPr>
        <p:txBody>
          <a:bodyPr wrap="square" lIns="0" tIns="0" rIns="0" bIns="0" rtlCol="0" anchor="ctr">
            <a:normAutofit lnSpcReduction="10000"/>
          </a:bodyPr>
          <a:lstStyle/>
          <a:p>
            <a:pPr marL="0" indent="0" algn="ctr">
              <a:buNone/>
            </a:pPr>
            <a:r>
              <a:rPr lang="en-US" sz="1300" dirty="0">
                <a:solidFill>
                  <a:srgbClr val="586B72"/>
                </a:solidFill>
                <a:latin typeface="Calibri" pitchFamily="34" charset="0"/>
                <a:ea typeface="Calibri" pitchFamily="34" charset="-122"/>
                <a:cs typeface="Calibri" pitchFamily="34" charset="-120"/>
              </a:rPr>
              <a:t>Directionally consistent inputs</a:t>
            </a:r>
            <a:endParaRPr lang="en-US" sz="1300" dirty="0"/>
          </a:p>
        </p:txBody>
      </p:sp>
      <p:sp>
        <p:nvSpPr>
          <p:cNvPr id="16" name="Shape 14"/>
          <p:cNvSpPr/>
          <p:nvPr/>
        </p:nvSpPr>
        <p:spPr>
          <a:xfrm>
            <a:off x="6446520" y="1764792"/>
            <a:ext cx="2267712" cy="1947672"/>
          </a:xfrm>
          <a:prstGeom prst="roundRect">
            <a:avLst>
              <a:gd name="adj" fmla="val 3756"/>
            </a:avLst>
          </a:prstGeom>
          <a:solidFill>
            <a:srgbClr val="FFFFFF"/>
          </a:solidFill>
          <a:ln w="11430">
            <a:solidFill>
              <a:srgbClr val="D8E1E4"/>
            </a:solidFill>
            <a:prstDash val="solid"/>
          </a:ln>
        </p:spPr>
      </p:sp>
      <p:sp>
        <p:nvSpPr>
          <p:cNvPr id="17" name="Shape 15"/>
          <p:cNvSpPr/>
          <p:nvPr/>
        </p:nvSpPr>
        <p:spPr>
          <a:xfrm>
            <a:off x="6446520" y="1764792"/>
            <a:ext cx="64008" cy="1947672"/>
          </a:xfrm>
          <a:prstGeom prst="rect">
            <a:avLst/>
          </a:prstGeom>
          <a:solidFill>
            <a:srgbClr val="0E6671"/>
          </a:solidFill>
          <a:ln w="10160">
            <a:solidFill>
              <a:srgbClr val="0E6671"/>
            </a:solidFill>
            <a:prstDash val="solid"/>
          </a:ln>
        </p:spPr>
      </p:sp>
      <p:sp>
        <p:nvSpPr>
          <p:cNvPr id="18" name="Text 16"/>
          <p:cNvSpPr txBox="1"/>
          <p:nvPr/>
        </p:nvSpPr>
        <p:spPr>
          <a:xfrm>
            <a:off x="6583680" y="2029968"/>
            <a:ext cx="1993392" cy="566928"/>
          </a:xfrm>
          <a:prstGeom prst="rect">
            <a:avLst/>
          </a:prstGeom>
          <a:noFill/>
          <a:ln/>
        </p:spPr>
        <p:txBody>
          <a:bodyPr wrap="square" lIns="0" tIns="0" rIns="0" bIns="0" rtlCol="0" anchor="ctr">
            <a:normAutofit/>
          </a:bodyPr>
          <a:lstStyle/>
          <a:p>
            <a:pPr marL="0" indent="0" algn="ctr">
              <a:buNone/>
            </a:pPr>
            <a:r>
              <a:rPr lang="en-US" sz="2700" b="1" dirty="0">
                <a:solidFill>
                  <a:srgbClr val="0E6671"/>
                </a:solidFill>
                <a:latin typeface="Calibri" pitchFamily="34" charset="0"/>
                <a:ea typeface="Calibri" pitchFamily="34" charset="-122"/>
                <a:cs typeface="Calibri" pitchFamily="34" charset="-120"/>
              </a:rPr>
              <a:t>210 / 45 / 45</a:t>
            </a:r>
            <a:endParaRPr lang="en-US" sz="2700" dirty="0"/>
          </a:p>
        </p:txBody>
      </p:sp>
      <p:sp>
        <p:nvSpPr>
          <p:cNvPr id="19" name="Text 17"/>
          <p:cNvSpPr txBox="1"/>
          <p:nvPr/>
        </p:nvSpPr>
        <p:spPr>
          <a:xfrm>
            <a:off x="6583680" y="2724912"/>
            <a:ext cx="1993392" cy="274320"/>
          </a:xfrm>
          <a:prstGeom prst="rect">
            <a:avLst/>
          </a:prstGeom>
          <a:noFill/>
          <a:ln/>
        </p:spPr>
        <p:txBody>
          <a:bodyPr wrap="square" lIns="0" tIns="0" rIns="0" bIns="0" rtlCol="0" anchor="ctr">
            <a:normAutofit/>
          </a:bodyPr>
          <a:lstStyle/>
          <a:p>
            <a:pPr marL="0" indent="0" algn="ctr">
              <a:buNone/>
            </a:pPr>
            <a:r>
              <a:rPr lang="en-US" sz="1100" b="1" dirty="0">
                <a:solidFill>
                  <a:srgbClr val="172D33"/>
                </a:solidFill>
                <a:latin typeface="Calibri" pitchFamily="34" charset="0"/>
                <a:ea typeface="Calibri" pitchFamily="34" charset="-122"/>
                <a:cs typeface="Calibri" pitchFamily="34" charset="-120"/>
              </a:rPr>
              <a:t>PATIENT SPLIT</a:t>
            </a:r>
            <a:endParaRPr lang="en-US" sz="1100" dirty="0"/>
          </a:p>
        </p:txBody>
      </p:sp>
      <p:sp>
        <p:nvSpPr>
          <p:cNvPr id="20" name="Text 18"/>
          <p:cNvSpPr txBox="1"/>
          <p:nvPr/>
        </p:nvSpPr>
        <p:spPr>
          <a:xfrm>
            <a:off x="6592824" y="3099816"/>
            <a:ext cx="1975104" cy="384048"/>
          </a:xfrm>
          <a:prstGeom prst="rect">
            <a:avLst/>
          </a:prstGeom>
          <a:noFill/>
          <a:ln/>
        </p:spPr>
        <p:txBody>
          <a:bodyPr wrap="square" lIns="0" tIns="0" rIns="0" bIns="0" rtlCol="0" anchor="ctr">
            <a:normAutofit/>
          </a:bodyPr>
          <a:lstStyle/>
          <a:p>
            <a:pPr marL="0" indent="0" algn="ctr">
              <a:buNone/>
            </a:pPr>
            <a:r>
              <a:rPr lang="en-US" sz="1300" dirty="0">
                <a:solidFill>
                  <a:srgbClr val="586B72"/>
                </a:solidFill>
                <a:latin typeface="Calibri" pitchFamily="34" charset="0"/>
                <a:ea typeface="Calibri" pitchFamily="34" charset="-122"/>
                <a:cs typeface="Calibri" pitchFamily="34" charset="-120"/>
              </a:rPr>
              <a:t>Train / validation / test</a:t>
            </a:r>
            <a:endParaRPr lang="en-US" sz="1300" dirty="0"/>
          </a:p>
        </p:txBody>
      </p:sp>
      <p:sp>
        <p:nvSpPr>
          <p:cNvPr id="21" name="Shape 19"/>
          <p:cNvSpPr/>
          <p:nvPr/>
        </p:nvSpPr>
        <p:spPr>
          <a:xfrm>
            <a:off x="9326880" y="1764792"/>
            <a:ext cx="2267712" cy="1947672"/>
          </a:xfrm>
          <a:prstGeom prst="roundRect">
            <a:avLst>
              <a:gd name="adj" fmla="val 3756"/>
            </a:avLst>
          </a:prstGeom>
          <a:solidFill>
            <a:srgbClr val="FFFFFF"/>
          </a:solidFill>
          <a:ln w="11430">
            <a:solidFill>
              <a:srgbClr val="D8E1E4"/>
            </a:solidFill>
            <a:prstDash val="solid"/>
          </a:ln>
        </p:spPr>
      </p:sp>
      <p:sp>
        <p:nvSpPr>
          <p:cNvPr id="22" name="Shape 20"/>
          <p:cNvSpPr/>
          <p:nvPr/>
        </p:nvSpPr>
        <p:spPr>
          <a:xfrm>
            <a:off x="9326880" y="1764792"/>
            <a:ext cx="64008" cy="1947672"/>
          </a:xfrm>
          <a:prstGeom prst="rect">
            <a:avLst/>
          </a:prstGeom>
          <a:solidFill>
            <a:srgbClr val="0E6671"/>
          </a:solidFill>
          <a:ln w="10160">
            <a:solidFill>
              <a:srgbClr val="0E6671"/>
            </a:solidFill>
            <a:prstDash val="solid"/>
          </a:ln>
        </p:spPr>
      </p:sp>
      <p:sp>
        <p:nvSpPr>
          <p:cNvPr id="23" name="Text 21"/>
          <p:cNvSpPr txBox="1"/>
          <p:nvPr/>
        </p:nvSpPr>
        <p:spPr>
          <a:xfrm>
            <a:off x="9464040" y="2029968"/>
            <a:ext cx="1993392" cy="566928"/>
          </a:xfrm>
          <a:prstGeom prst="rect">
            <a:avLst/>
          </a:prstGeom>
          <a:noFill/>
          <a:ln/>
        </p:spPr>
        <p:txBody>
          <a:bodyPr wrap="square" lIns="0" tIns="0" rIns="0" bIns="0" rtlCol="0" anchor="ctr">
            <a:normAutofit lnSpcReduction="10000"/>
          </a:bodyPr>
          <a:lstStyle/>
          <a:p>
            <a:pPr marL="0" indent="0" algn="ctr">
              <a:buNone/>
            </a:pPr>
            <a:r>
              <a:rPr lang="en-US" sz="3800" b="1" dirty="0">
                <a:solidFill>
                  <a:srgbClr val="0E6671"/>
                </a:solidFill>
                <a:latin typeface="Calibri" pitchFamily="34" charset="0"/>
                <a:ea typeface="Calibri" pitchFamily="34" charset="-122"/>
                <a:cs typeface="Calibri" pitchFamily="34" charset="-120"/>
              </a:rPr>
              <a:t>49</a:t>
            </a:r>
            <a:endParaRPr lang="en-US" sz="3800" dirty="0"/>
          </a:p>
        </p:txBody>
      </p:sp>
      <p:sp>
        <p:nvSpPr>
          <p:cNvPr id="24" name="Text 22"/>
          <p:cNvSpPr txBox="1"/>
          <p:nvPr/>
        </p:nvSpPr>
        <p:spPr>
          <a:xfrm>
            <a:off x="9464040" y="2724912"/>
            <a:ext cx="1993392" cy="274320"/>
          </a:xfrm>
          <a:prstGeom prst="rect">
            <a:avLst/>
          </a:prstGeom>
          <a:noFill/>
          <a:ln/>
        </p:spPr>
        <p:txBody>
          <a:bodyPr wrap="square" lIns="0" tIns="0" rIns="0" bIns="0" rtlCol="0" anchor="ctr">
            <a:normAutofit/>
          </a:bodyPr>
          <a:lstStyle/>
          <a:p>
            <a:pPr marL="0" indent="0" algn="ctr">
              <a:buNone/>
            </a:pPr>
            <a:r>
              <a:rPr lang="en-US" sz="1100" b="1" dirty="0">
                <a:solidFill>
                  <a:srgbClr val="172D33"/>
                </a:solidFill>
                <a:latin typeface="Calibri" pitchFamily="34" charset="0"/>
                <a:ea typeface="Calibri" pitchFamily="34" charset="-122"/>
                <a:cs typeface="Calibri" pitchFamily="34" charset="-120"/>
              </a:rPr>
              <a:t>AUTOMATED TESTS</a:t>
            </a:r>
            <a:endParaRPr lang="en-US" sz="1100" dirty="0"/>
          </a:p>
        </p:txBody>
      </p:sp>
      <p:sp>
        <p:nvSpPr>
          <p:cNvPr id="25" name="Text 23"/>
          <p:cNvSpPr txBox="1"/>
          <p:nvPr/>
        </p:nvSpPr>
        <p:spPr>
          <a:xfrm>
            <a:off x="9473184" y="3099816"/>
            <a:ext cx="1975104" cy="384048"/>
          </a:xfrm>
          <a:prstGeom prst="rect">
            <a:avLst/>
          </a:prstGeom>
          <a:noFill/>
          <a:ln/>
        </p:spPr>
        <p:txBody>
          <a:bodyPr wrap="square" lIns="0" tIns="0" rIns="0" bIns="0" rtlCol="0" anchor="ctr">
            <a:normAutofit lnSpcReduction="10000"/>
          </a:bodyPr>
          <a:lstStyle/>
          <a:p>
            <a:pPr marL="0" indent="0" algn="ctr">
              <a:buNone/>
            </a:pPr>
            <a:r>
              <a:rPr lang="en-US" sz="1300" dirty="0">
                <a:solidFill>
                  <a:srgbClr val="586B72"/>
                </a:solidFill>
                <a:latin typeface="Calibri" pitchFamily="34" charset="0"/>
                <a:ea typeface="Calibri" pitchFamily="34" charset="-122"/>
                <a:cs typeface="Calibri" pitchFamily="34" charset="-120"/>
              </a:rPr>
              <a:t>Including temporal-leakage test</a:t>
            </a:r>
            <a:endParaRPr lang="en-US" sz="1300" dirty="0"/>
          </a:p>
        </p:txBody>
      </p:sp>
      <p:sp>
        <p:nvSpPr>
          <p:cNvPr id="26" name="Shape 24"/>
          <p:cNvSpPr/>
          <p:nvPr/>
        </p:nvSpPr>
        <p:spPr>
          <a:xfrm>
            <a:off x="749808" y="4133088"/>
            <a:ext cx="10680192" cy="1517904"/>
          </a:xfrm>
          <a:prstGeom prst="roundRect">
            <a:avLst>
              <a:gd name="adj" fmla="val 4819"/>
            </a:avLst>
          </a:prstGeom>
          <a:solidFill>
            <a:srgbClr val="EFF7F7"/>
          </a:solidFill>
          <a:ln w="11430">
            <a:solidFill>
              <a:srgbClr val="C6DDE0"/>
            </a:solidFill>
            <a:prstDash val="solid"/>
          </a:ln>
        </p:spPr>
      </p:sp>
      <p:sp>
        <p:nvSpPr>
          <p:cNvPr id="27" name="Text 25"/>
          <p:cNvSpPr txBox="1"/>
          <p:nvPr/>
        </p:nvSpPr>
        <p:spPr>
          <a:xfrm>
            <a:off x="1005840" y="4361688"/>
            <a:ext cx="274320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CONSTRAINT DIRECTION</a:t>
            </a:r>
            <a:endParaRPr lang="en-US" sz="1000" dirty="0"/>
          </a:p>
        </p:txBody>
      </p:sp>
      <p:sp>
        <p:nvSpPr>
          <p:cNvPr id="28" name="Text 26"/>
          <p:cNvSpPr txBox="1"/>
          <p:nvPr/>
        </p:nvSpPr>
        <p:spPr>
          <a:xfrm>
            <a:off x="1005840" y="4681728"/>
            <a:ext cx="4983480" cy="530352"/>
          </a:xfrm>
          <a:prstGeom prst="rect">
            <a:avLst/>
          </a:prstGeom>
          <a:noFill/>
          <a:ln/>
        </p:spPr>
        <p:txBody>
          <a:bodyPr wrap="square" lIns="0" tIns="0" rIns="0" bIns="0" rtlCol="0" anchor="t">
            <a:normAutofit/>
          </a:bodyPr>
          <a:lstStyle/>
          <a:p>
            <a:pPr marL="0" indent="0" algn="l">
              <a:buNone/>
            </a:pPr>
            <a:r>
              <a:rPr lang="en-US" sz="1700" b="1" dirty="0">
                <a:solidFill>
                  <a:srgbClr val="172D33"/>
                </a:solidFill>
                <a:latin typeface="Calibri" pitchFamily="34" charset="0"/>
                <a:ea typeface="Calibri" pitchFamily="34" charset="-122"/>
                <a:cs typeface="Calibri" pitchFamily="34" charset="-120"/>
              </a:rPr>
              <a:t>Pollution, rescue use, symptoms and respiratory rate rising cannot lower constrained risk.</a:t>
            </a:r>
            <a:endParaRPr lang="en-US" sz="1700" dirty="0"/>
          </a:p>
        </p:txBody>
      </p:sp>
      <p:sp>
        <p:nvSpPr>
          <p:cNvPr id="29" name="Text 27"/>
          <p:cNvSpPr txBox="1"/>
          <p:nvPr/>
        </p:nvSpPr>
        <p:spPr>
          <a:xfrm>
            <a:off x="6263640" y="4681728"/>
            <a:ext cx="4754880" cy="530352"/>
          </a:xfrm>
          <a:prstGeom prst="rect">
            <a:avLst/>
          </a:prstGeom>
          <a:noFill/>
          <a:ln/>
        </p:spPr>
        <p:txBody>
          <a:bodyPr wrap="square" lIns="0" tIns="0" rIns="0" bIns="0" rtlCol="0" anchor="t">
            <a:normAutofit/>
          </a:bodyPr>
          <a:lstStyle/>
          <a:p>
            <a:pPr marL="0" indent="0" algn="l">
              <a:buNone/>
            </a:pPr>
            <a:r>
              <a:rPr lang="en-US" sz="1700" b="1" dirty="0">
                <a:solidFill>
                  <a:srgbClr val="172D33"/>
                </a:solidFill>
                <a:latin typeface="Calibri" pitchFamily="34" charset="0"/>
                <a:ea typeface="Calibri" pitchFamily="34" charset="-122"/>
                <a:cs typeface="Calibri" pitchFamily="34" charset="-120"/>
              </a:rPr>
              <a:t>Improved adherence or SpO₂ cannot raise constrained risk.</a:t>
            </a:r>
            <a:endParaRPr lang="en-US" sz="1700" dirty="0"/>
          </a:p>
        </p:txBody>
      </p:sp>
      <p:sp>
        <p:nvSpPr>
          <p:cNvPr id="30" name="Shape 28"/>
          <p:cNvSpPr/>
          <p:nvPr/>
        </p:nvSpPr>
        <p:spPr>
          <a:xfrm>
            <a:off x="749808" y="5780000"/>
            <a:ext cx="10680192" cy="420000"/>
          </a:xfrm>
          <a:prstGeom prst="roundRect">
            <a:avLst>
              <a:gd name="adj" fmla="val 25000"/>
            </a:avLst>
          </a:prstGeom>
          <a:solidFill>
            <a:srgbClr val="F1F5F9"/>
          </a:solidFill>
          <a:ln w="1270">
            <a:solidFill>
              <a:srgbClr val="CBD5E1"/>
            </a:solidFill>
            <a:prstDash val="solid"/>
          </a:ln>
        </p:spPr>
      </p:sp>
      <p:sp>
        <p:nvSpPr>
          <p:cNvPr id="31" name="Text 29"/>
          <p:cNvSpPr txBox="1"/>
          <p:nvPr/>
        </p:nvSpPr>
        <p:spPr>
          <a:xfrm>
            <a:off x="850000" y="5810000"/>
            <a:ext cx="10450000" cy="360000"/>
          </a:xfrm>
          <a:prstGeom prst="rect">
            <a:avLst/>
          </a:prstGeom>
          <a:noFill/>
          <a:ln/>
        </p:spPr>
        <p:txBody>
          <a:bodyPr wrap="square" lIns="0" tIns="0" rIns="0" bIns="0" rtlCol="0" anchor="ctr">
            <a:normAutofit/>
          </a:bodyPr>
          <a:lstStyle/>
          <a:p>
            <a:pPr algn="ctr">
              <a:defRPr sz="1100" b="1">
                <a:solidFill>
                  <a:srgbClr val="0E6671"/>
                </a:solidFill>
              </a:defRPr>
            </a:pPr>
            <a:r>
              <a:rPr sz="1100" b="1">
                <a:solidFill>
                  <a:srgbClr val="0E6671"/>
                </a:solidFill>
              </a:rPr>
              <a:t>Isotonic calibration fitted on validation patients only</a:t>
            </a:r>
          </a:p>
          <a:p>
            <a:pPr algn="ctr">
              <a:defRPr sz="1000" b="0">
                <a:solidFill>
                  <a:srgbClr val="475569"/>
                </a:solidFill>
              </a:defRPr>
            </a:pPr>
            <a:r>
              <a:rPr sz="1000" b="0">
                <a:solidFill>
                  <a:srgbClr val="475569"/>
                </a:solidFill>
              </a:rPr>
              <a:t>A higher-scoring relaxed-constraint variant was rejected after failing what-if consistency checks.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PREDICTIVE PERFORMANCE</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Held-out test performance</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45 patients · 2,700 patient-days · synthetic event labels</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694944" y="1627632"/>
            <a:ext cx="3401568" cy="1444752"/>
          </a:xfrm>
          <a:prstGeom prst="roundRect">
            <a:avLst>
              <a:gd name="adj" fmla="val 5063"/>
            </a:avLst>
          </a:prstGeom>
          <a:solidFill>
            <a:srgbClr val="FFFFFF"/>
          </a:solidFill>
          <a:ln w="11430">
            <a:solidFill>
              <a:srgbClr val="D8E1E4"/>
            </a:solidFill>
            <a:prstDash val="solid"/>
          </a:ln>
        </p:spPr>
      </p:sp>
      <p:sp>
        <p:nvSpPr>
          <p:cNvPr id="7" name="Shape 5"/>
          <p:cNvSpPr/>
          <p:nvPr/>
        </p:nvSpPr>
        <p:spPr>
          <a:xfrm>
            <a:off x="694944" y="1627632"/>
            <a:ext cx="64008" cy="1444752"/>
          </a:xfrm>
          <a:prstGeom prst="rect">
            <a:avLst/>
          </a:prstGeom>
          <a:solidFill>
            <a:srgbClr val="0E6671"/>
          </a:solidFill>
          <a:ln w="10160">
            <a:solidFill>
              <a:srgbClr val="0E6671"/>
            </a:solidFill>
            <a:prstDash val="solid"/>
          </a:ln>
        </p:spPr>
      </p:sp>
      <p:sp>
        <p:nvSpPr>
          <p:cNvPr id="8" name="Text 6"/>
          <p:cNvSpPr txBox="1"/>
          <p:nvPr/>
        </p:nvSpPr>
        <p:spPr>
          <a:xfrm>
            <a:off x="932688" y="1819656"/>
            <a:ext cx="265176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ROC-AUC</a:t>
            </a:r>
            <a:endParaRPr lang="en-US" sz="1000" dirty="0"/>
          </a:p>
        </p:txBody>
      </p:sp>
      <p:sp>
        <p:nvSpPr>
          <p:cNvPr id="9" name="Text 7"/>
          <p:cNvSpPr txBox="1"/>
          <p:nvPr/>
        </p:nvSpPr>
        <p:spPr>
          <a:xfrm>
            <a:off x="932688" y="2093976"/>
            <a:ext cx="1508760" cy="512064"/>
          </a:xfrm>
          <a:prstGeom prst="rect">
            <a:avLst/>
          </a:prstGeom>
          <a:noFill/>
          <a:ln/>
        </p:spPr>
        <p:txBody>
          <a:bodyPr wrap="square" lIns="0" tIns="0" rIns="0" bIns="0" rtlCol="0" anchor="ctr">
            <a:normAutofit lnSpcReduction="10000"/>
          </a:bodyPr>
          <a:lstStyle/>
          <a:p>
            <a:pPr marL="0" indent="0" algn="l">
              <a:buNone/>
            </a:pPr>
            <a:r>
              <a:rPr lang="en-US" sz="3600" b="1" dirty="0">
                <a:solidFill>
                  <a:srgbClr val="113E47"/>
                </a:solidFill>
                <a:latin typeface="Calibri" pitchFamily="34" charset="0"/>
                <a:ea typeface="Calibri" pitchFamily="34" charset="-122"/>
                <a:cs typeface="Calibri" pitchFamily="34" charset="-120"/>
              </a:rPr>
              <a:t>0.82</a:t>
            </a:r>
            <a:endParaRPr lang="en-US" sz="3600" dirty="0"/>
          </a:p>
        </p:txBody>
      </p:sp>
      <p:sp>
        <p:nvSpPr>
          <p:cNvPr id="10" name="Text 8"/>
          <p:cNvSpPr txBox="1"/>
          <p:nvPr/>
        </p:nvSpPr>
        <p:spPr>
          <a:xfrm>
            <a:off x="2167128" y="2221992"/>
            <a:ext cx="1700784" cy="274320"/>
          </a:xfrm>
          <a:prstGeom prst="rect">
            <a:avLst/>
          </a:prstGeom>
          <a:noFill/>
          <a:ln/>
        </p:spPr>
        <p:txBody>
          <a:bodyPr wrap="square" lIns="0" tIns="0" rIns="0" bIns="0" rtlCol="0" anchor="ctr">
            <a:normAutofit/>
          </a:bodyPr>
          <a:lstStyle/>
          <a:p>
            <a:pPr marL="0" indent="0" algn="l">
              <a:buNone/>
            </a:pPr>
            <a:r>
              <a:rPr lang="en-US" sz="1300" dirty="0">
                <a:solidFill>
                  <a:srgbClr val="586B72"/>
                </a:solidFill>
                <a:latin typeface="Calibri" pitchFamily="34" charset="0"/>
                <a:ea typeface="Calibri" pitchFamily="34" charset="-122"/>
                <a:cs typeface="Calibri" pitchFamily="34" charset="-120"/>
              </a:rPr>
              <a:t>95% CI 0.795–0.851</a:t>
            </a:r>
            <a:endParaRPr lang="en-US" sz="1300" dirty="0"/>
          </a:p>
        </p:txBody>
      </p:sp>
      <p:sp>
        <p:nvSpPr>
          <p:cNvPr id="11" name="Shape 9"/>
          <p:cNvSpPr/>
          <p:nvPr/>
        </p:nvSpPr>
        <p:spPr>
          <a:xfrm>
            <a:off x="4370832" y="1627632"/>
            <a:ext cx="3401568" cy="1444752"/>
          </a:xfrm>
          <a:prstGeom prst="roundRect">
            <a:avLst>
              <a:gd name="adj" fmla="val 5063"/>
            </a:avLst>
          </a:prstGeom>
          <a:solidFill>
            <a:srgbClr val="FFFFFF"/>
          </a:solidFill>
          <a:ln w="11430">
            <a:solidFill>
              <a:srgbClr val="D8E1E4"/>
            </a:solidFill>
            <a:prstDash val="solid"/>
          </a:ln>
        </p:spPr>
      </p:sp>
      <p:sp>
        <p:nvSpPr>
          <p:cNvPr id="12" name="Shape 10"/>
          <p:cNvSpPr/>
          <p:nvPr/>
        </p:nvSpPr>
        <p:spPr>
          <a:xfrm>
            <a:off x="4370832" y="1627632"/>
            <a:ext cx="64008" cy="1444752"/>
          </a:xfrm>
          <a:prstGeom prst="rect">
            <a:avLst/>
          </a:prstGeom>
          <a:solidFill>
            <a:srgbClr val="0E6671"/>
          </a:solidFill>
          <a:ln w="10160">
            <a:solidFill>
              <a:srgbClr val="0E6671"/>
            </a:solidFill>
            <a:prstDash val="solid"/>
          </a:ln>
        </p:spPr>
      </p:sp>
      <p:sp>
        <p:nvSpPr>
          <p:cNvPr id="13" name="Text 11"/>
          <p:cNvSpPr txBox="1"/>
          <p:nvPr/>
        </p:nvSpPr>
        <p:spPr>
          <a:xfrm>
            <a:off x="4608576" y="1819656"/>
            <a:ext cx="265176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PR-AUC</a:t>
            </a:r>
            <a:endParaRPr lang="en-US" sz="1000" dirty="0"/>
          </a:p>
        </p:txBody>
      </p:sp>
      <p:sp>
        <p:nvSpPr>
          <p:cNvPr id="14" name="Text 12"/>
          <p:cNvSpPr txBox="1"/>
          <p:nvPr/>
        </p:nvSpPr>
        <p:spPr>
          <a:xfrm>
            <a:off x="4608576" y="2093976"/>
            <a:ext cx="1508760" cy="512064"/>
          </a:xfrm>
          <a:prstGeom prst="rect">
            <a:avLst/>
          </a:prstGeom>
          <a:noFill/>
          <a:ln/>
        </p:spPr>
        <p:txBody>
          <a:bodyPr wrap="square" lIns="0" tIns="0" rIns="0" bIns="0" rtlCol="0" anchor="ctr">
            <a:normAutofit lnSpcReduction="10000"/>
          </a:bodyPr>
          <a:lstStyle/>
          <a:p>
            <a:pPr marL="0" indent="0" algn="l">
              <a:buNone/>
            </a:pPr>
            <a:r>
              <a:rPr lang="en-US" sz="3600" b="1" dirty="0">
                <a:solidFill>
                  <a:srgbClr val="113E47"/>
                </a:solidFill>
                <a:latin typeface="Calibri" pitchFamily="34" charset="0"/>
                <a:ea typeface="Calibri" pitchFamily="34" charset="-122"/>
                <a:cs typeface="Calibri" pitchFamily="34" charset="-120"/>
              </a:rPr>
              <a:t>0.45</a:t>
            </a:r>
            <a:endParaRPr lang="en-US" sz="3600" dirty="0"/>
          </a:p>
        </p:txBody>
      </p:sp>
      <p:sp>
        <p:nvSpPr>
          <p:cNvPr id="15" name="Text 13"/>
          <p:cNvSpPr txBox="1"/>
          <p:nvPr/>
        </p:nvSpPr>
        <p:spPr>
          <a:xfrm>
            <a:off x="5833872" y="2103120"/>
            <a:ext cx="1691640" cy="475488"/>
          </a:xfrm>
          <a:prstGeom prst="rect">
            <a:avLst/>
          </a:prstGeom>
          <a:noFill/>
          <a:ln/>
        </p:spPr>
        <p:txBody>
          <a:bodyPr wrap="square" lIns="0" tIns="0" rIns="0" bIns="0" rtlCol="0" anchor="ctr">
            <a:normAutofit/>
          </a:bodyPr>
          <a:lstStyle/>
          <a:p>
            <a:pPr marL="0" indent="0" algn="l">
              <a:buNone/>
            </a:pPr>
            <a:r>
              <a:rPr lang="en-US" sz="1200" dirty="0">
                <a:solidFill>
                  <a:srgbClr val="586B72"/>
                </a:solidFill>
                <a:latin typeface="Calibri" pitchFamily="34" charset="0"/>
                <a:ea typeface="Calibri" pitchFamily="34" charset="-122"/>
                <a:cs typeface="Calibri" pitchFamily="34" charset="-120"/>
              </a:rPr>
              <a:t>CI 0.404–0.510</a:t>
            </a:r>
            <a:endParaRPr lang="en-US" sz="1200" dirty="0"/>
          </a:p>
          <a:p>
            <a:pPr marL="0" indent="0" algn="l">
              <a:buNone/>
            </a:pPr>
            <a:r>
              <a:rPr lang="en-US" sz="1200" dirty="0">
                <a:solidFill>
                  <a:srgbClr val="586B72"/>
                </a:solidFill>
                <a:latin typeface="Calibri" pitchFamily="34" charset="0"/>
                <a:ea typeface="Calibri" pitchFamily="34" charset="-122"/>
                <a:cs typeface="Calibri" pitchFamily="34" charset="-120"/>
              </a:rPr>
              <a:t>Base rate about 7–8%</a:t>
            </a:r>
            <a:endParaRPr lang="en-US" sz="1200" dirty="0"/>
          </a:p>
        </p:txBody>
      </p:sp>
      <p:sp>
        <p:nvSpPr>
          <p:cNvPr id="16" name="Shape 14"/>
          <p:cNvSpPr/>
          <p:nvPr/>
        </p:nvSpPr>
        <p:spPr>
          <a:xfrm>
            <a:off x="8046720" y="1627632"/>
            <a:ext cx="3401568" cy="1444752"/>
          </a:xfrm>
          <a:prstGeom prst="roundRect">
            <a:avLst>
              <a:gd name="adj" fmla="val 5063"/>
            </a:avLst>
          </a:prstGeom>
          <a:solidFill>
            <a:srgbClr val="FFFFFF"/>
          </a:solidFill>
          <a:ln w="11430">
            <a:solidFill>
              <a:srgbClr val="D8E1E4"/>
            </a:solidFill>
            <a:prstDash val="solid"/>
          </a:ln>
        </p:spPr>
      </p:sp>
      <p:sp>
        <p:nvSpPr>
          <p:cNvPr id="17" name="Shape 15"/>
          <p:cNvSpPr/>
          <p:nvPr/>
        </p:nvSpPr>
        <p:spPr>
          <a:xfrm>
            <a:off x="8046720" y="1627632"/>
            <a:ext cx="64008" cy="1444752"/>
          </a:xfrm>
          <a:prstGeom prst="rect">
            <a:avLst/>
          </a:prstGeom>
          <a:solidFill>
            <a:srgbClr val="0E6671"/>
          </a:solidFill>
          <a:ln w="10160">
            <a:solidFill>
              <a:srgbClr val="0E6671"/>
            </a:solidFill>
            <a:prstDash val="solid"/>
          </a:ln>
        </p:spPr>
      </p:sp>
      <p:sp>
        <p:nvSpPr>
          <p:cNvPr id="18" name="Text 16"/>
          <p:cNvSpPr txBox="1"/>
          <p:nvPr/>
        </p:nvSpPr>
        <p:spPr>
          <a:xfrm>
            <a:off x="8284464" y="1819656"/>
            <a:ext cx="265176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BRIER SCORE</a:t>
            </a:r>
            <a:endParaRPr lang="en-US" sz="1000" dirty="0"/>
          </a:p>
        </p:txBody>
      </p:sp>
      <p:sp>
        <p:nvSpPr>
          <p:cNvPr id="19" name="Text 17"/>
          <p:cNvSpPr txBox="1"/>
          <p:nvPr/>
        </p:nvSpPr>
        <p:spPr>
          <a:xfrm>
            <a:off x="8284464" y="2093976"/>
            <a:ext cx="1554480" cy="512064"/>
          </a:xfrm>
          <a:prstGeom prst="rect">
            <a:avLst/>
          </a:prstGeom>
          <a:noFill/>
          <a:ln/>
        </p:spPr>
        <p:txBody>
          <a:bodyPr wrap="square" lIns="0" tIns="0" rIns="0" bIns="0" rtlCol="0" anchor="ctr">
            <a:normAutofit/>
          </a:bodyPr>
          <a:lstStyle/>
          <a:p>
            <a:pPr marL="0" indent="0" algn="l">
              <a:buNone/>
            </a:pPr>
            <a:r>
              <a:rPr lang="en-US" sz="3200" b="1" dirty="0">
                <a:solidFill>
                  <a:srgbClr val="113E47"/>
                </a:solidFill>
                <a:latin typeface="Calibri" pitchFamily="34" charset="0"/>
                <a:ea typeface="Calibri" pitchFamily="34" charset="-122"/>
                <a:cs typeface="Calibri" pitchFamily="34" charset="-120"/>
              </a:rPr>
              <a:t>0.0526</a:t>
            </a:r>
            <a:endParaRPr lang="en-US" sz="3200" dirty="0"/>
          </a:p>
        </p:txBody>
      </p:sp>
      <p:sp>
        <p:nvSpPr>
          <p:cNvPr id="20" name="Text 18"/>
          <p:cNvSpPr txBox="1"/>
          <p:nvPr/>
        </p:nvSpPr>
        <p:spPr>
          <a:xfrm>
            <a:off x="9710928" y="2112264"/>
            <a:ext cx="1417320" cy="475488"/>
          </a:xfrm>
          <a:prstGeom prst="rect">
            <a:avLst/>
          </a:prstGeom>
          <a:noFill/>
          <a:ln/>
        </p:spPr>
        <p:txBody>
          <a:bodyPr wrap="square" lIns="0" tIns="0" rIns="0" bIns="0" rtlCol="0" anchor="ctr">
            <a:normAutofit/>
          </a:bodyPr>
          <a:lstStyle/>
          <a:p>
            <a:pPr marL="0" indent="0" algn="l">
              <a:buNone/>
            </a:pPr>
            <a:r>
              <a:rPr lang="en-US" sz="1200" dirty="0">
                <a:solidFill>
                  <a:srgbClr val="586B72"/>
                </a:solidFill>
                <a:latin typeface="Calibri" pitchFamily="34" charset="0"/>
                <a:ea typeface="Calibri" pitchFamily="34" charset="-122"/>
                <a:cs typeface="Calibri" pitchFamily="34" charset="-120"/>
              </a:rPr>
              <a:t>vs 0.0705</a:t>
            </a:r>
            <a:endParaRPr lang="en-US" sz="1200" dirty="0"/>
          </a:p>
          <a:p>
            <a:pPr marL="0" indent="0" algn="l">
              <a:buNone/>
            </a:pPr>
            <a:r>
              <a:rPr lang="en-US" sz="1200" dirty="0">
                <a:solidFill>
                  <a:srgbClr val="586B72"/>
                </a:solidFill>
                <a:latin typeface="Calibri" pitchFamily="34" charset="0"/>
                <a:ea typeface="Calibri" pitchFamily="34" charset="-122"/>
                <a:cs typeface="Calibri" pitchFamily="34" charset="-120"/>
              </a:rPr>
              <a:t>base-rate predictor</a:t>
            </a:r>
            <a:endParaRPr lang="en-US" sz="1200" dirty="0"/>
          </a:p>
        </p:txBody>
      </p:sp>
      <p:sp>
        <p:nvSpPr>
          <p:cNvPr id="21" name="Text 19"/>
          <p:cNvSpPr txBox="1"/>
          <p:nvPr/>
        </p:nvSpPr>
        <p:spPr>
          <a:xfrm>
            <a:off x="868680" y="3401568"/>
            <a:ext cx="6126480" cy="347472"/>
          </a:xfrm>
          <a:prstGeom prst="rect">
            <a:avLst/>
          </a:prstGeom>
          <a:noFill/>
          <a:ln/>
        </p:spPr>
        <p:txBody>
          <a:bodyPr wrap="square" lIns="0" tIns="0" rIns="0" bIns="0" rtlCol="0" anchor="ctr">
            <a:normAutofit/>
          </a:bodyPr>
          <a:lstStyle/>
          <a:p>
            <a:pPr marL="0" indent="0" algn="l">
              <a:buNone/>
            </a:pPr>
            <a:r>
              <a:rPr lang="en-US" sz="2200" b="1" dirty="0">
                <a:solidFill>
                  <a:srgbClr val="172D33"/>
                </a:solidFill>
                <a:latin typeface="Calibri" pitchFamily="34" charset="0"/>
                <a:ea typeface="Calibri" pitchFamily="34" charset="-122"/>
                <a:cs typeface="Calibri" pitchFamily="34" charset="-120"/>
              </a:rPr>
              <a:t>Observed event rate by demo risk band</a:t>
            </a:r>
            <a:endParaRPr lang="en-US" sz="2200" dirty="0"/>
          </a:p>
        </p:txBody>
      </p:sp>
      <p:sp>
        <p:nvSpPr>
          <p:cNvPr id="22" name="Text 20"/>
          <p:cNvSpPr txBox="1"/>
          <p:nvPr/>
        </p:nvSpPr>
        <p:spPr>
          <a:xfrm>
            <a:off x="886968" y="3767328"/>
            <a:ext cx="6035040" cy="256032"/>
          </a:xfrm>
          <a:prstGeom prst="rect">
            <a:avLst/>
          </a:prstGeom>
          <a:noFill/>
          <a:ln/>
        </p:spPr>
        <p:txBody>
          <a:bodyPr wrap="square" lIns="0" tIns="0" rIns="0" bIns="0" rtlCol="0" anchor="ctr">
            <a:normAutofit/>
          </a:bodyPr>
          <a:lstStyle/>
          <a:p>
            <a:pPr marL="0" indent="0" algn="l">
              <a:buNone/>
            </a:pPr>
            <a:r>
              <a:rPr lang="en-US" sz="1400" dirty="0">
                <a:solidFill>
                  <a:srgbClr val="586B72"/>
                </a:solidFill>
                <a:latin typeface="Calibri" pitchFamily="34" charset="0"/>
                <a:ea typeface="Calibri" pitchFamily="34" charset="-122"/>
                <a:cs typeface="Calibri" pitchFamily="34" charset="-120"/>
              </a:rPr>
              <a:t>These are presentation bands, not clinical thresholds.</a:t>
            </a:r>
            <a:endParaRPr lang="en-US" sz="1400" dirty="0"/>
          </a:p>
        </p:txBody>
      </p:sp>
      <p:graphicFrame>
        <p:nvGraphicFramePr>
          <p:cNvPr id="23" name="Chart 0"/>
          <p:cNvGraphicFramePr/>
          <p:nvPr/>
        </p:nvGraphicFramePr>
        <p:xfrm>
          <a:off x="658368" y="4041648"/>
          <a:ext cx="6492240" cy="1993392"/>
        </p:xfrm>
        <a:graphic>
          <a:graphicData uri="http://schemas.openxmlformats.org/drawingml/2006/chart">
            <c:chart xmlns:c="http://schemas.openxmlformats.org/drawingml/2006/chart" xmlns:r="http://schemas.openxmlformats.org/officeDocument/2006/relationships" r:id="rId3"/>
          </a:graphicData>
        </a:graphic>
      </p:graphicFrame>
      <p:sp>
        <p:nvSpPr>
          <p:cNvPr id="24" name="Shape 21"/>
          <p:cNvSpPr/>
          <p:nvPr/>
        </p:nvSpPr>
        <p:spPr>
          <a:xfrm>
            <a:off x="7543800" y="3456432"/>
            <a:ext cx="3749040" cy="2423160"/>
          </a:xfrm>
          <a:prstGeom prst="roundRect">
            <a:avLst>
              <a:gd name="adj" fmla="val 3019"/>
            </a:avLst>
          </a:prstGeom>
          <a:solidFill>
            <a:srgbClr val="FFFFFF"/>
          </a:solidFill>
          <a:ln w="11430">
            <a:solidFill>
              <a:srgbClr val="D8E1E4"/>
            </a:solidFill>
            <a:prstDash val="solid"/>
          </a:ln>
        </p:spPr>
      </p:sp>
      <p:sp>
        <p:nvSpPr>
          <p:cNvPr id="25" name="Text 22"/>
          <p:cNvSpPr txBox="1"/>
          <p:nvPr/>
        </p:nvSpPr>
        <p:spPr>
          <a:xfrm>
            <a:off x="7818120" y="3730752"/>
            <a:ext cx="292608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INTERPRETATION</a:t>
            </a:r>
            <a:endParaRPr lang="en-US" sz="1000" dirty="0"/>
          </a:p>
        </p:txBody>
      </p:sp>
      <p:sp>
        <p:nvSpPr>
          <p:cNvPr id="26" name="Text 23"/>
          <p:cNvSpPr txBox="1"/>
          <p:nvPr/>
        </p:nvSpPr>
        <p:spPr>
          <a:xfrm>
            <a:off x="7818120" y="4096512"/>
            <a:ext cx="3108960" cy="685800"/>
          </a:xfrm>
          <a:prstGeom prst="rect">
            <a:avLst/>
          </a:prstGeom>
          <a:noFill/>
          <a:ln/>
        </p:spPr>
        <p:txBody>
          <a:bodyPr wrap="square" lIns="0" tIns="0" rIns="0" bIns="0" rtlCol="0" anchor="t">
            <a:normAutofit lnSpcReduction="10000"/>
          </a:bodyPr>
          <a:lstStyle/>
          <a:p>
            <a:pPr marL="0" indent="0" algn="l">
              <a:buNone/>
            </a:pPr>
            <a:r>
              <a:rPr lang="en-US" sz="2300" b="1" dirty="0">
                <a:solidFill>
                  <a:srgbClr val="113E47"/>
                </a:solidFill>
                <a:latin typeface="Calibri" pitchFamily="34" charset="0"/>
                <a:ea typeface="Calibri" pitchFamily="34" charset="-122"/>
                <a:cs typeface="Calibri" pitchFamily="34" charset="-120"/>
              </a:rPr>
              <a:t>The pipeline learns a simulated process.</a:t>
            </a:r>
            <a:endParaRPr lang="en-US" sz="2300" dirty="0"/>
          </a:p>
        </p:txBody>
      </p:sp>
      <p:sp>
        <p:nvSpPr>
          <p:cNvPr id="27" name="Text 24"/>
          <p:cNvSpPr txBox="1"/>
          <p:nvPr/>
        </p:nvSpPr>
        <p:spPr>
          <a:xfrm>
            <a:off x="7818120" y="5001768"/>
            <a:ext cx="3108960" cy="548640"/>
          </a:xfrm>
          <a:prstGeom prst="rect">
            <a:avLst/>
          </a:prstGeom>
          <a:noFill/>
          <a:ln/>
        </p:spPr>
        <p:txBody>
          <a:bodyPr wrap="square" lIns="0" tIns="0" rIns="0" bIns="0" rtlCol="0" anchor="t">
            <a:normAutofit fontScale="92500"/>
          </a:bodyPr>
          <a:lstStyle/>
          <a:p>
            <a:pPr marL="0" indent="0" algn="l">
              <a:buNone/>
            </a:pPr>
            <a:r>
              <a:rPr lang="en-US" sz="1700" dirty="0">
                <a:solidFill>
                  <a:srgbClr val="586B72"/>
                </a:solidFill>
                <a:latin typeface="Calibri" pitchFamily="34" charset="0"/>
                <a:ea typeface="Calibri" pitchFamily="34" charset="-122"/>
                <a:cs typeface="Calibri" pitchFamily="34" charset="-120"/>
              </a:rPr>
              <a:t>No real patient outcomes were used. Metrics are not clinical performance.</a:t>
            </a:r>
            <a:endParaRPr lang="en-US" sz="1700" dirty="0"/>
          </a:p>
        </p:txBody>
      </p:sp>
      <p:sp>
        <p:nvSpPr>
          <p:cNvPr id="28" name="Text 25"/>
          <p:cNvSpPr txBox="1"/>
          <p:nvPr/>
        </p:nvSpPr>
        <p:spPr>
          <a:xfrm>
            <a:off x="621792" y="6245352"/>
            <a:ext cx="10972800" cy="164592"/>
          </a:xfrm>
          <a:prstGeom prst="rect">
            <a:avLst/>
          </a:prstGeom>
          <a:noFill/>
          <a:ln/>
        </p:spPr>
        <p:txBody>
          <a:bodyPr wrap="square" lIns="0" tIns="0" rIns="0" bIns="0" rtlCol="0" anchor="ctr">
            <a:normAutofit/>
          </a:bodyPr>
          <a:lstStyle/>
          <a:p>
            <a:pPr marL="0" indent="0" algn="l">
              <a:buNone/>
            </a:pPr>
            <a:r>
              <a:rPr lang="en-US" sz="900" b="1" dirty="0">
                <a:solidFill>
                  <a:srgbClr val="8B4444"/>
                </a:solidFill>
                <a:latin typeface="Calibri" pitchFamily="34" charset="0"/>
                <a:ea typeface="Calibri" pitchFamily="34" charset="-122"/>
                <a:cs typeface="Calibri" pitchFamily="34" charset="-120"/>
              </a:rPr>
              <a:t>Simulation-based results; not clinical performance.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EARLY WARNING</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Onset replay reveals where the model struggles</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206 true simulated onsets in the held-out test set</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graphicFrame>
        <p:nvGraphicFramePr>
          <p:cNvPr id="6" name="Chart 0"/>
          <p:cNvGraphicFramePr/>
          <p:nvPr/>
        </p:nvGraphicFramePr>
        <p:xfrm>
          <a:off x="594360" y="1591056"/>
          <a:ext cx="4251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txBox="1"/>
          <p:nvPr/>
        </p:nvSpPr>
        <p:spPr>
          <a:xfrm>
            <a:off x="1810512" y="2779776"/>
            <a:ext cx="1783080" cy="475488"/>
          </a:xfrm>
          <a:prstGeom prst="rect">
            <a:avLst/>
          </a:prstGeom>
          <a:noFill/>
          <a:ln/>
        </p:spPr>
        <p:txBody>
          <a:bodyPr wrap="square" lIns="0" tIns="0" rIns="0" bIns="0" rtlCol="0" anchor="ctr">
            <a:normAutofit lnSpcReduction="10000"/>
          </a:bodyPr>
          <a:lstStyle/>
          <a:p>
            <a:pPr marL="0" indent="0" algn="ctr">
              <a:buNone/>
            </a:pPr>
            <a:r>
              <a:rPr lang="en-US" sz="3400" b="1" dirty="0">
                <a:solidFill>
                  <a:srgbClr val="113E47"/>
                </a:solidFill>
                <a:latin typeface="Calibri" pitchFamily="34" charset="0"/>
                <a:ea typeface="Calibri" pitchFamily="34" charset="-122"/>
                <a:cs typeface="Calibri" pitchFamily="34" charset="-120"/>
              </a:rPr>
              <a:t>206</a:t>
            </a:r>
            <a:endParaRPr lang="en-US" sz="3400" dirty="0"/>
          </a:p>
        </p:txBody>
      </p:sp>
      <p:sp>
        <p:nvSpPr>
          <p:cNvPr id="8" name="Text 5"/>
          <p:cNvSpPr txBox="1"/>
          <p:nvPr/>
        </p:nvSpPr>
        <p:spPr>
          <a:xfrm>
            <a:off x="1847088" y="3246120"/>
            <a:ext cx="1700784" cy="228600"/>
          </a:xfrm>
          <a:prstGeom prst="rect">
            <a:avLst/>
          </a:prstGeom>
          <a:noFill/>
          <a:ln/>
        </p:spPr>
        <p:txBody>
          <a:bodyPr wrap="square" lIns="0" tIns="0" rIns="0" bIns="0" rtlCol="0" anchor="ctr">
            <a:normAutofit/>
          </a:bodyPr>
          <a:lstStyle/>
          <a:p>
            <a:pPr marL="0" indent="0" algn="ctr">
              <a:buNone/>
            </a:pPr>
            <a:r>
              <a:rPr lang="en-US" sz="1400" dirty="0">
                <a:solidFill>
                  <a:srgbClr val="586B72"/>
                </a:solidFill>
                <a:latin typeface="Calibri" pitchFamily="34" charset="0"/>
                <a:ea typeface="Calibri" pitchFamily="34" charset="-122"/>
                <a:cs typeface="Calibri" pitchFamily="34" charset="-120"/>
              </a:rPr>
              <a:t>true onsets</a:t>
            </a:r>
            <a:endParaRPr lang="en-US" sz="1400" dirty="0"/>
          </a:p>
        </p:txBody>
      </p:sp>
      <p:sp>
        <p:nvSpPr>
          <p:cNvPr id="9" name="Text 6"/>
          <p:cNvSpPr txBox="1"/>
          <p:nvPr/>
        </p:nvSpPr>
        <p:spPr>
          <a:xfrm>
            <a:off x="4919472" y="1773936"/>
            <a:ext cx="1920240" cy="438912"/>
          </a:xfrm>
          <a:prstGeom prst="rect">
            <a:avLst/>
          </a:prstGeom>
          <a:noFill/>
          <a:ln/>
        </p:spPr>
        <p:txBody>
          <a:bodyPr wrap="square" lIns="0" tIns="0" rIns="0" bIns="0" rtlCol="0" anchor="ctr">
            <a:normAutofit lnSpcReduction="10000"/>
          </a:bodyPr>
          <a:lstStyle/>
          <a:p>
            <a:pPr marL="0" indent="0" algn="l">
              <a:buNone/>
              <a:defRPr>
                <a:solidFill>
                  <a:srgbClr val="0E6671"/>
                </a:solidFill>
              </a:defRPr>
            </a:pPr>
            <a:r>
              <a:rPr lang="en-US" sz="3000" b="1" dirty="0">
                <a:solidFill>
                  <a:srgbClr val="0E6671"/>
                </a:solidFill>
                <a:latin typeface="Calibri" pitchFamily="34" charset="0"/>
                <a:ea typeface="Calibri" pitchFamily="34" charset="-122"/>
                <a:cs typeface="Calibri" pitchFamily="34" charset="-120"/>
              </a:rPr>
              <a:t>78.6%</a:t>
            </a:r>
            <a:endParaRPr lang="en-US" sz="3000" dirty="0"/>
          </a:p>
        </p:txBody>
      </p:sp>
      <p:sp>
        <p:nvSpPr>
          <p:cNvPr id="10" name="Text 7"/>
          <p:cNvSpPr txBox="1"/>
          <p:nvPr/>
        </p:nvSpPr>
        <p:spPr>
          <a:xfrm>
            <a:off x="6839712" y="1828800"/>
            <a:ext cx="4251960" cy="292608"/>
          </a:xfrm>
          <a:prstGeom prst="rect">
            <a:avLst/>
          </a:prstGeom>
          <a:noFill/>
          <a:ln/>
        </p:spPr>
        <p:txBody>
          <a:bodyPr wrap="square" lIns="0" tIns="0" rIns="0" bIns="0" rtlCol="0" anchor="ctr">
            <a:normAutofit/>
          </a:bodyPr>
          <a:lstStyle/>
          <a:p>
            <a:pPr marL="0" indent="0" algn="l">
              <a:buNone/>
              <a:defRPr>
                <a:solidFill>
                  <a:srgbClr val="0E6671"/>
                </a:solidFill>
              </a:defRPr>
            </a:pPr>
            <a:r>
              <a:rPr lang="en-US" sz="1800" dirty="0">
                <a:solidFill>
                  <a:srgbClr val="0E6671"/>
                </a:solidFill>
                <a:latin typeface="Calibri" pitchFamily="34" charset="0"/>
                <a:ea typeface="Calibri" pitchFamily="34" charset="-122"/>
                <a:cs typeface="Calibri" pitchFamily="34" charset="-120"/>
              </a:rPr>
              <a:t>Anticipated · 162</a:t>
            </a:r>
            <a:endParaRPr lang="en-US" sz="1800" dirty="0"/>
          </a:p>
        </p:txBody>
      </p:sp>
      <p:sp>
        <p:nvSpPr>
          <p:cNvPr id="11" name="Text 8"/>
          <p:cNvSpPr txBox="1"/>
          <p:nvPr/>
        </p:nvSpPr>
        <p:spPr>
          <a:xfrm>
            <a:off x="4919472" y="2642616"/>
            <a:ext cx="1920240" cy="438912"/>
          </a:xfrm>
          <a:prstGeom prst="rect">
            <a:avLst/>
          </a:prstGeom>
          <a:noFill/>
          <a:ln/>
        </p:spPr>
        <p:txBody>
          <a:bodyPr wrap="square" lIns="0" tIns="0" rIns="0" bIns="0" rtlCol="0" anchor="ctr">
            <a:normAutofit lnSpcReduction="10000"/>
          </a:bodyPr>
          <a:lstStyle/>
          <a:p>
            <a:pPr marL="0" indent="0" algn="l">
              <a:buNone/>
              <a:defRPr>
                <a:solidFill>
                  <a:srgbClr val="D97706"/>
                </a:solidFill>
              </a:defRPr>
            </a:pPr>
            <a:r>
              <a:rPr lang="en-US" sz="3000" b="1" dirty="0">
                <a:solidFill>
                  <a:srgbClr val="D97706"/>
                </a:solidFill>
                <a:latin typeface="Calibri" pitchFamily="34" charset="0"/>
                <a:ea typeface="Calibri" pitchFamily="34" charset="-122"/>
                <a:cs typeface="Calibri" pitchFamily="34" charset="-120"/>
              </a:rPr>
              <a:t>5.3%</a:t>
            </a:r>
            <a:endParaRPr lang="en-US" sz="3000" dirty="0"/>
          </a:p>
        </p:txBody>
      </p:sp>
      <p:sp>
        <p:nvSpPr>
          <p:cNvPr id="12" name="Text 9"/>
          <p:cNvSpPr txBox="1"/>
          <p:nvPr/>
        </p:nvSpPr>
        <p:spPr>
          <a:xfrm>
            <a:off x="6839712" y="2697480"/>
            <a:ext cx="4251960" cy="292608"/>
          </a:xfrm>
          <a:prstGeom prst="rect">
            <a:avLst/>
          </a:prstGeom>
          <a:noFill/>
          <a:ln/>
        </p:spPr>
        <p:txBody>
          <a:bodyPr wrap="square" lIns="0" tIns="0" rIns="0" bIns="0" rtlCol="0" anchor="ctr">
            <a:normAutofit/>
          </a:bodyPr>
          <a:lstStyle/>
          <a:p>
            <a:pPr marL="0" indent="0" algn="l">
              <a:buNone/>
              <a:defRPr>
                <a:solidFill>
                  <a:srgbClr val="D97706"/>
                </a:solidFill>
              </a:defRPr>
            </a:pPr>
            <a:r>
              <a:rPr lang="en-US" sz="1800" dirty="0">
                <a:solidFill>
                  <a:srgbClr val="D97706"/>
                </a:solidFill>
                <a:latin typeface="Calibri" pitchFamily="34" charset="0"/>
                <a:ea typeface="Calibri" pitchFamily="34" charset="-122"/>
                <a:cs typeface="Calibri" pitchFamily="34" charset="-120"/>
              </a:rPr>
              <a:t>Late within 6h · 11</a:t>
            </a:r>
            <a:endParaRPr lang="en-US" sz="1800" dirty="0"/>
          </a:p>
        </p:txBody>
      </p:sp>
      <p:sp>
        <p:nvSpPr>
          <p:cNvPr id="13" name="Text 10"/>
          <p:cNvSpPr txBox="1"/>
          <p:nvPr/>
        </p:nvSpPr>
        <p:spPr>
          <a:xfrm>
            <a:off x="4919472" y="3511296"/>
            <a:ext cx="1920240" cy="438912"/>
          </a:xfrm>
          <a:prstGeom prst="rect">
            <a:avLst/>
          </a:prstGeom>
          <a:noFill/>
          <a:ln/>
        </p:spPr>
        <p:txBody>
          <a:bodyPr wrap="square" lIns="0" tIns="0" rIns="0" bIns="0" rtlCol="0" anchor="ctr">
            <a:normAutofit lnSpcReduction="10000"/>
          </a:bodyPr>
          <a:lstStyle/>
          <a:p>
            <a:pPr marL="0" indent="0" algn="l">
              <a:buNone/>
              <a:defRPr>
                <a:solidFill>
                  <a:srgbClr val="B91C1C"/>
                </a:solidFill>
              </a:defRPr>
            </a:pPr>
            <a:r>
              <a:rPr lang="en-US" sz="3000" b="1" dirty="0">
                <a:solidFill>
                  <a:srgbClr val="B91C1C"/>
                </a:solidFill>
                <a:latin typeface="Calibri" pitchFamily="34" charset="0"/>
                <a:ea typeface="Calibri" pitchFamily="34" charset="-122"/>
                <a:cs typeface="Calibri" pitchFamily="34" charset="-120"/>
              </a:rPr>
              <a:t>16.0%</a:t>
            </a:r>
            <a:endParaRPr lang="en-US" sz="3000" dirty="0"/>
          </a:p>
        </p:txBody>
      </p:sp>
      <p:sp>
        <p:nvSpPr>
          <p:cNvPr id="14" name="Text 11"/>
          <p:cNvSpPr txBox="1"/>
          <p:nvPr/>
        </p:nvSpPr>
        <p:spPr>
          <a:xfrm>
            <a:off x="6839712" y="3566160"/>
            <a:ext cx="4251960" cy="292608"/>
          </a:xfrm>
          <a:prstGeom prst="rect">
            <a:avLst/>
          </a:prstGeom>
          <a:noFill/>
          <a:ln/>
        </p:spPr>
        <p:txBody>
          <a:bodyPr wrap="square" lIns="0" tIns="0" rIns="0" bIns="0" rtlCol="0" anchor="ctr">
            <a:normAutofit/>
          </a:bodyPr>
          <a:lstStyle/>
          <a:p>
            <a:pPr marL="0" indent="0" algn="l">
              <a:buNone/>
              <a:defRPr>
                <a:solidFill>
                  <a:srgbClr val="B91C1C"/>
                </a:solidFill>
              </a:defRPr>
            </a:pPr>
            <a:r>
              <a:rPr lang="en-US" sz="1800" dirty="0">
                <a:solidFill>
                  <a:srgbClr val="B91C1C"/>
                </a:solidFill>
                <a:latin typeface="Calibri" pitchFamily="34" charset="0"/>
                <a:ea typeface="Calibri" pitchFamily="34" charset="-122"/>
                <a:cs typeface="Calibri" pitchFamily="34" charset="-120"/>
              </a:rPr>
              <a:t>Missed · 33</a:t>
            </a:r>
            <a:endParaRPr lang="en-US" sz="1800" dirty="0"/>
          </a:p>
        </p:txBody>
      </p:sp>
      <p:sp>
        <p:nvSpPr>
          <p:cNvPr id="15" name="Shape 12"/>
          <p:cNvSpPr/>
          <p:nvPr/>
        </p:nvSpPr>
        <p:spPr>
          <a:xfrm>
            <a:off x="4919472" y="4416552"/>
            <a:ext cx="6309360" cy="566928"/>
          </a:xfrm>
          <a:prstGeom prst="roundRect">
            <a:avLst>
              <a:gd name="adj" fmla="val 12903"/>
            </a:avLst>
          </a:prstGeom>
          <a:solidFill>
            <a:srgbClr val="EFF7F7"/>
          </a:solidFill>
          <a:ln w="11430">
            <a:solidFill>
              <a:srgbClr val="C7DDE0"/>
            </a:solidFill>
            <a:prstDash val="solid"/>
          </a:ln>
        </p:spPr>
      </p:sp>
      <p:sp>
        <p:nvSpPr>
          <p:cNvPr id="16" name="Text 13"/>
          <p:cNvSpPr txBox="1"/>
          <p:nvPr/>
        </p:nvSpPr>
        <p:spPr>
          <a:xfrm>
            <a:off x="5148072" y="4535424"/>
            <a:ext cx="5806440" cy="292608"/>
          </a:xfrm>
          <a:prstGeom prst="rect">
            <a:avLst/>
          </a:prstGeom>
          <a:noFill/>
          <a:ln/>
        </p:spPr>
        <p:txBody>
          <a:bodyPr wrap="square" lIns="0" tIns="0" rIns="0" bIns="0" rtlCol="0" anchor="ctr">
            <a:normAutofit lnSpcReduction="10000"/>
          </a:bodyPr>
          <a:lstStyle/>
          <a:p>
            <a:pPr marL="0" indent="0" algn="ctr">
              <a:buNone/>
            </a:pPr>
            <a:r>
              <a:rPr lang="en-US" sz="2100" b="1" dirty="0">
                <a:solidFill>
                  <a:srgbClr val="113E47"/>
                </a:solidFill>
                <a:latin typeface="Calibri" pitchFamily="34" charset="0"/>
                <a:ea typeface="Calibri" pitchFamily="34" charset="-122"/>
                <a:cs typeface="Calibri" pitchFamily="34" charset="-120"/>
              </a:rPr>
              <a:t>Median lead time: 12 hours</a:t>
            </a:r>
            <a:endParaRPr lang="en-US" sz="2100" dirty="0"/>
          </a:p>
        </p:txBody>
      </p:sp>
      <p:sp>
        <p:nvSpPr>
          <p:cNvPr id="17" name="Text 14"/>
          <p:cNvSpPr txBox="1"/>
          <p:nvPr/>
        </p:nvSpPr>
        <p:spPr>
          <a:xfrm>
            <a:off x="749808" y="5166944"/>
            <a:ext cx="1828800" cy="237744"/>
          </a:xfrm>
          <a:prstGeom prst="rect">
            <a:avLst/>
          </a:prstGeom>
          <a:noFill/>
          <a:ln/>
        </p:spPr>
        <p:txBody>
          <a:bodyPr wrap="square" lIns="0" tIns="0" rIns="0" bIns="0" rtlCol="0" anchor="ctr">
            <a:normAutofit/>
          </a:bodyPr>
          <a:lstStyle/>
          <a:p>
            <a:pPr marL="0" indent="0" algn="l">
              <a:buNone/>
            </a:pPr>
            <a:r>
              <a:rPr lang="en-US" sz="1300" b="1" dirty="0">
                <a:solidFill>
                  <a:srgbClr val="0E6671"/>
                </a:solidFill>
                <a:latin typeface="Calibri" pitchFamily="34" charset="0"/>
                <a:ea typeface="Calibri" pitchFamily="34" charset="-122"/>
                <a:cs typeface="Calibri" pitchFamily="34" charset="-120"/>
              </a:rPr>
              <a:t>Episode type</a:t>
            </a:r>
            <a:endParaRPr lang="en-US" sz="1300" dirty="0"/>
          </a:p>
        </p:txBody>
      </p:sp>
      <p:sp>
        <p:nvSpPr>
          <p:cNvPr id="18" name="Text 15"/>
          <p:cNvSpPr txBox="1"/>
          <p:nvPr/>
        </p:nvSpPr>
        <p:spPr>
          <a:xfrm>
            <a:off x="2944368" y="5166944"/>
            <a:ext cx="1828800" cy="237744"/>
          </a:xfrm>
          <a:prstGeom prst="rect">
            <a:avLst/>
          </a:prstGeom>
          <a:noFill/>
          <a:ln/>
        </p:spPr>
        <p:txBody>
          <a:bodyPr wrap="square" lIns="0" tIns="0" rIns="0" bIns="0" rtlCol="0" anchor="ctr">
            <a:normAutofit/>
          </a:bodyPr>
          <a:lstStyle/>
          <a:p>
            <a:pPr marL="0" indent="0" algn="l">
              <a:buNone/>
            </a:pPr>
            <a:r>
              <a:rPr lang="en-US" sz="1300" b="1" dirty="0">
                <a:solidFill>
                  <a:srgbClr val="0E6671"/>
                </a:solidFill>
                <a:latin typeface="Calibri" pitchFamily="34" charset="0"/>
                <a:ea typeface="Calibri" pitchFamily="34" charset="-122"/>
                <a:cs typeface="Calibri" pitchFamily="34" charset="-120"/>
              </a:rPr>
              <a:t>Anticipated</a:t>
            </a:r>
            <a:endParaRPr lang="en-US" sz="1300" dirty="0"/>
          </a:p>
        </p:txBody>
      </p:sp>
      <p:sp>
        <p:nvSpPr>
          <p:cNvPr id="19" name="Text 16"/>
          <p:cNvSpPr txBox="1"/>
          <p:nvPr/>
        </p:nvSpPr>
        <p:spPr>
          <a:xfrm>
            <a:off x="5486400" y="5166944"/>
            <a:ext cx="1280160" cy="237744"/>
          </a:xfrm>
          <a:prstGeom prst="rect">
            <a:avLst/>
          </a:prstGeom>
          <a:noFill/>
          <a:ln/>
        </p:spPr>
        <p:txBody>
          <a:bodyPr wrap="square" lIns="0" tIns="0" rIns="0" bIns="0" rtlCol="0" anchor="ctr">
            <a:normAutofit/>
          </a:bodyPr>
          <a:lstStyle/>
          <a:p>
            <a:pPr marL="0" indent="0" algn="l">
              <a:buNone/>
            </a:pPr>
            <a:r>
              <a:rPr lang="en-US" sz="1300" b="1" dirty="0">
                <a:solidFill>
                  <a:srgbClr val="0E6671"/>
                </a:solidFill>
                <a:latin typeface="Calibri" pitchFamily="34" charset="0"/>
                <a:ea typeface="Calibri" pitchFamily="34" charset="-122"/>
                <a:cs typeface="Calibri" pitchFamily="34" charset="-120"/>
              </a:rPr>
              <a:t>Late</a:t>
            </a:r>
            <a:endParaRPr lang="en-US" sz="1300" dirty="0"/>
          </a:p>
        </p:txBody>
      </p:sp>
      <p:sp>
        <p:nvSpPr>
          <p:cNvPr id="20" name="Text 17"/>
          <p:cNvSpPr txBox="1"/>
          <p:nvPr/>
        </p:nvSpPr>
        <p:spPr>
          <a:xfrm>
            <a:off x="7498080" y="5166944"/>
            <a:ext cx="1371600" cy="237744"/>
          </a:xfrm>
          <a:prstGeom prst="rect">
            <a:avLst/>
          </a:prstGeom>
          <a:noFill/>
          <a:ln/>
        </p:spPr>
        <p:txBody>
          <a:bodyPr wrap="square" lIns="0" tIns="0" rIns="0" bIns="0" rtlCol="0" anchor="ctr">
            <a:normAutofit/>
          </a:bodyPr>
          <a:lstStyle/>
          <a:p>
            <a:pPr marL="0" indent="0" algn="l">
              <a:buNone/>
            </a:pPr>
            <a:r>
              <a:rPr lang="en-US" sz="1300" b="1" dirty="0">
                <a:solidFill>
                  <a:srgbClr val="0E6671"/>
                </a:solidFill>
                <a:latin typeface="Calibri" pitchFamily="34" charset="0"/>
                <a:ea typeface="Calibri" pitchFamily="34" charset="-122"/>
                <a:cs typeface="Calibri" pitchFamily="34" charset="-120"/>
              </a:rPr>
              <a:t>Missed</a:t>
            </a:r>
            <a:endParaRPr lang="en-US" sz="1300" dirty="0"/>
          </a:p>
        </p:txBody>
      </p:sp>
      <p:sp>
        <p:nvSpPr>
          <p:cNvPr id="21" name="Shape 18"/>
          <p:cNvSpPr/>
          <p:nvPr/>
        </p:nvSpPr>
        <p:spPr>
          <a:xfrm>
            <a:off x="749808" y="5441264"/>
            <a:ext cx="10561320" cy="13716"/>
          </a:xfrm>
          <a:prstGeom prst="rect">
            <a:avLst/>
          </a:prstGeom>
          <a:solidFill>
            <a:srgbClr val="D8E1E4"/>
          </a:solidFill>
          <a:ln w="10160">
            <a:solidFill>
              <a:srgbClr val="D8E1E4"/>
            </a:solidFill>
            <a:prstDash val="solid"/>
          </a:ln>
        </p:spPr>
      </p:sp>
      <p:sp>
        <p:nvSpPr>
          <p:cNvPr id="22" name="Text 19"/>
          <p:cNvSpPr txBox="1"/>
          <p:nvPr/>
        </p:nvSpPr>
        <p:spPr>
          <a:xfrm>
            <a:off x="749808" y="5532704"/>
            <a:ext cx="1828800" cy="256032"/>
          </a:xfrm>
          <a:prstGeom prst="rect">
            <a:avLst/>
          </a:prstGeom>
          <a:noFill/>
          <a:ln/>
        </p:spPr>
        <p:txBody>
          <a:bodyPr wrap="square" lIns="0" tIns="0" rIns="0" bIns="0" rtlCol="0" anchor="ctr">
            <a:normAutofit/>
          </a:bodyPr>
          <a:lstStyle/>
          <a:p>
            <a:pPr marL="0" indent="0" algn="l">
              <a:buNone/>
            </a:pPr>
            <a:r>
              <a:rPr lang="en-US" sz="1600" b="1" dirty="0">
                <a:solidFill>
                  <a:srgbClr val="172D33"/>
                </a:solidFill>
                <a:latin typeface="Calibri" pitchFamily="34" charset="0"/>
                <a:ea typeface="Calibri" pitchFamily="34" charset="-122"/>
                <a:cs typeface="Calibri" pitchFamily="34" charset="-120"/>
              </a:rPr>
              <a:t>Non-silent</a:t>
            </a:r>
            <a:endParaRPr lang="en-US" sz="1600" dirty="0"/>
          </a:p>
        </p:txBody>
      </p:sp>
      <p:sp>
        <p:nvSpPr>
          <p:cNvPr id="23" name="Text 20"/>
          <p:cNvSpPr txBox="1"/>
          <p:nvPr/>
        </p:nvSpPr>
        <p:spPr>
          <a:xfrm>
            <a:off x="2944368" y="5532704"/>
            <a:ext cx="1828800" cy="256032"/>
          </a:xfrm>
          <a:prstGeom prst="rect">
            <a:avLst/>
          </a:prstGeom>
          <a:noFill/>
          <a:ln/>
        </p:spPr>
        <p:txBody>
          <a:bodyPr wrap="square" lIns="0" tIns="0" rIns="0" bIns="0" rtlCol="0" anchor="ctr">
            <a:normAutofit/>
          </a:bodyPr>
          <a:lstStyle/>
          <a:p>
            <a:pPr marL="0" indent="0" algn="l">
              <a:buNone/>
            </a:pPr>
            <a:r>
              <a:rPr lang="en-US" sz="1600" b="1" dirty="0">
                <a:solidFill>
                  <a:srgbClr val="113E47"/>
                </a:solidFill>
                <a:latin typeface="Calibri" pitchFamily="34" charset="0"/>
                <a:ea typeface="Calibri" pitchFamily="34" charset="-122"/>
                <a:cs typeface="Calibri" pitchFamily="34" charset="-120"/>
              </a:rPr>
              <a:t>100% (138/138)</a:t>
            </a:r>
            <a:endParaRPr lang="en-US" sz="1600" dirty="0"/>
          </a:p>
        </p:txBody>
      </p:sp>
      <p:sp>
        <p:nvSpPr>
          <p:cNvPr id="24" name="Text 21"/>
          <p:cNvSpPr txBox="1"/>
          <p:nvPr/>
        </p:nvSpPr>
        <p:spPr>
          <a:xfrm>
            <a:off x="5486400" y="5532704"/>
            <a:ext cx="1280160" cy="256032"/>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a:t>
            </a:r>
            <a:endParaRPr lang="en-US" sz="1600" dirty="0"/>
          </a:p>
        </p:txBody>
      </p:sp>
      <p:sp>
        <p:nvSpPr>
          <p:cNvPr id="25" name="Text 22"/>
          <p:cNvSpPr txBox="1"/>
          <p:nvPr/>
        </p:nvSpPr>
        <p:spPr>
          <a:xfrm>
            <a:off x="7498080" y="5532704"/>
            <a:ext cx="1371600" cy="256032"/>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a:t>
            </a:r>
            <a:endParaRPr lang="en-US" sz="1600" dirty="0"/>
          </a:p>
        </p:txBody>
      </p:sp>
      <p:sp>
        <p:nvSpPr>
          <p:cNvPr id="26" name="Text 23"/>
          <p:cNvSpPr txBox="1"/>
          <p:nvPr/>
        </p:nvSpPr>
        <p:spPr>
          <a:xfrm>
            <a:off x="749808" y="5825312"/>
            <a:ext cx="1828800" cy="256032"/>
          </a:xfrm>
          <a:prstGeom prst="rect">
            <a:avLst/>
          </a:prstGeom>
          <a:noFill/>
          <a:ln/>
        </p:spPr>
        <p:txBody>
          <a:bodyPr wrap="square" lIns="0" tIns="0" rIns="0" bIns="0" rtlCol="0" anchor="ctr">
            <a:normAutofit/>
          </a:bodyPr>
          <a:lstStyle/>
          <a:p>
            <a:pPr marL="0" indent="0" algn="l">
              <a:buNone/>
            </a:pPr>
            <a:r>
              <a:rPr lang="en-US" sz="1600" b="1" dirty="0">
                <a:solidFill>
                  <a:srgbClr val="172D33"/>
                </a:solidFill>
                <a:latin typeface="Calibri" pitchFamily="34" charset="0"/>
                <a:ea typeface="Calibri" pitchFamily="34" charset="-122"/>
                <a:cs typeface="Calibri" pitchFamily="34" charset="-120"/>
              </a:rPr>
              <a:t>Silent</a:t>
            </a:r>
            <a:endParaRPr lang="en-US" sz="1600" dirty="0"/>
          </a:p>
        </p:txBody>
      </p:sp>
      <p:sp>
        <p:nvSpPr>
          <p:cNvPr id="27" name="Text 24"/>
          <p:cNvSpPr txBox="1"/>
          <p:nvPr/>
        </p:nvSpPr>
        <p:spPr>
          <a:xfrm>
            <a:off x="2944368" y="5825312"/>
            <a:ext cx="1828800" cy="256032"/>
          </a:xfrm>
          <a:prstGeom prst="rect">
            <a:avLst/>
          </a:prstGeom>
          <a:noFill/>
          <a:ln/>
        </p:spPr>
        <p:txBody>
          <a:bodyPr wrap="square" lIns="0" tIns="0" rIns="0" bIns="0" rtlCol="0" anchor="ctr">
            <a:normAutofit/>
          </a:bodyPr>
          <a:lstStyle/>
          <a:p>
            <a:pPr marL="0" indent="0" algn="l">
              <a:buNone/>
            </a:pPr>
            <a:r>
              <a:rPr lang="en-US" sz="1600" b="1" dirty="0">
                <a:solidFill>
                  <a:srgbClr val="113E47"/>
                </a:solidFill>
                <a:latin typeface="Calibri" pitchFamily="34" charset="0"/>
                <a:ea typeface="Calibri" pitchFamily="34" charset="-122"/>
                <a:cs typeface="Calibri" pitchFamily="34" charset="-120"/>
              </a:rPr>
              <a:t>35.3% (24/68)</a:t>
            </a:r>
            <a:endParaRPr lang="en-US" sz="1600" dirty="0"/>
          </a:p>
        </p:txBody>
      </p:sp>
      <p:sp>
        <p:nvSpPr>
          <p:cNvPr id="28" name="Text 25"/>
          <p:cNvSpPr txBox="1"/>
          <p:nvPr/>
        </p:nvSpPr>
        <p:spPr>
          <a:xfrm>
            <a:off x="5486400" y="5825312"/>
            <a:ext cx="1280160" cy="256032"/>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16.2%</a:t>
            </a:r>
            <a:endParaRPr lang="en-US" sz="1600" dirty="0"/>
          </a:p>
        </p:txBody>
      </p:sp>
      <p:sp>
        <p:nvSpPr>
          <p:cNvPr id="29" name="Text 26"/>
          <p:cNvSpPr txBox="1"/>
          <p:nvPr/>
        </p:nvSpPr>
        <p:spPr>
          <a:xfrm>
            <a:off x="7498080" y="5825312"/>
            <a:ext cx="1371600" cy="256032"/>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48.5%</a:t>
            </a:r>
            <a:endParaRPr lang="en-US" sz="1600" dirty="0"/>
          </a:p>
        </p:txBody>
      </p:sp>
      <p:sp>
        <p:nvSpPr>
          <p:cNvPr id="30" name="Text 27"/>
          <p:cNvSpPr txBox="1"/>
          <p:nvPr/>
        </p:nvSpPr>
        <p:spPr>
          <a:xfrm>
            <a:off x="621792" y="6180000"/>
            <a:ext cx="10972800" cy="164592"/>
          </a:xfrm>
          <a:prstGeom prst="rect">
            <a:avLst/>
          </a:prstGeom>
          <a:noFill/>
          <a:ln/>
        </p:spPr>
        <p:txBody>
          <a:bodyPr wrap="square" lIns="0" tIns="0" rIns="0" bIns="0" rtlCol="0" anchor="ctr">
            <a:normAutofit/>
          </a:bodyPr>
          <a:lstStyle/>
          <a:p>
            <a:pPr marL="0" indent="0" algn="l">
              <a:buNone/>
              <a:defRPr sz="950">
                <a:solidFill>
                  <a:srgbClr val="64748B"/>
                </a:solidFill>
              </a:defRPr>
            </a:pPr>
            <a:r>
              <a:rPr lang="en-US" sz="950" b="1" dirty="0">
                <a:solidFill>
                  <a:srgbClr val="64748B"/>
                </a:solidFill>
                <a:latin typeface="Calibri" pitchFamily="34" charset="0"/>
                <a:ea typeface="Calibri" pitchFamily="34" charset="-122"/>
                <a:cs typeface="Calibri" pitchFamily="34" charset="-120"/>
              </a:rPr>
              <a:t>Simulation-based results; not clinical performance.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BASELINES</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Coverage is similar to a pollution rule; alert burden differs</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Comparisons use the same event and alert definitions.</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Text 4"/>
          <p:cNvSpPr txBox="1"/>
          <p:nvPr/>
        </p:nvSpPr>
        <p:spPr>
          <a:xfrm>
            <a:off x="749808" y="1600200"/>
            <a:ext cx="5303520" cy="310896"/>
          </a:xfrm>
          <a:prstGeom prst="rect">
            <a:avLst/>
          </a:prstGeom>
          <a:noFill/>
          <a:ln/>
        </p:spPr>
        <p:txBody>
          <a:bodyPr wrap="square" lIns="0" tIns="0" rIns="0" bIns="0" rtlCol="0" anchor="ctr">
            <a:normAutofit fontScale="92500" lnSpcReduction="10000"/>
          </a:bodyPr>
          <a:lstStyle/>
          <a:p>
            <a:pPr marL="0" indent="0" algn="l">
              <a:buNone/>
            </a:pPr>
            <a:r>
              <a:rPr lang="en-US" sz="2300" b="1" dirty="0">
                <a:solidFill>
                  <a:srgbClr val="172D33"/>
                </a:solidFill>
                <a:latin typeface="Calibri" pitchFamily="34" charset="0"/>
                <a:ea typeface="Calibri" pitchFamily="34" charset="-122"/>
                <a:cs typeface="Calibri" pitchFamily="34" charset="-120"/>
              </a:rPr>
              <a:t>Alert precision</a:t>
            </a:r>
            <a:endParaRPr lang="en-US" sz="2300" dirty="0"/>
          </a:p>
        </p:txBody>
      </p:sp>
      <p:sp>
        <p:nvSpPr>
          <p:cNvPr id="7" name="Text 5"/>
          <p:cNvSpPr txBox="1"/>
          <p:nvPr/>
        </p:nvSpPr>
        <p:spPr>
          <a:xfrm>
            <a:off x="758952" y="1920240"/>
            <a:ext cx="5303520" cy="256032"/>
          </a:xfrm>
          <a:prstGeom prst="rect">
            <a:avLst/>
          </a:prstGeom>
          <a:noFill/>
          <a:ln/>
        </p:spPr>
        <p:txBody>
          <a:bodyPr wrap="square" lIns="0" tIns="0" rIns="0" bIns="0" rtlCol="0" anchor="ctr">
            <a:normAutofit/>
          </a:bodyPr>
          <a:lstStyle/>
          <a:p>
            <a:pPr marL="0" indent="0" algn="l">
              <a:buNone/>
            </a:pPr>
            <a:r>
              <a:rPr lang="en-US" sz="1300" dirty="0">
                <a:solidFill>
                  <a:srgbClr val="586B72"/>
                </a:solidFill>
                <a:latin typeface="Calibri" pitchFamily="34" charset="0"/>
                <a:ea typeface="Calibri" pitchFamily="34" charset="-122"/>
                <a:cs typeface="Calibri" pitchFamily="34" charset="-120"/>
              </a:rPr>
              <a:t>Share of alert episodes followed by an onset within 24h</a:t>
            </a:r>
            <a:endParaRPr lang="en-US" sz="1300" dirty="0"/>
          </a:p>
        </p:txBody>
      </p:sp>
      <p:graphicFrame>
        <p:nvGraphicFramePr>
          <p:cNvPr id="8" name="Chart 0"/>
          <p:cNvGraphicFramePr/>
          <p:nvPr/>
        </p:nvGraphicFramePr>
        <p:xfrm>
          <a:off x="548640" y="2185416"/>
          <a:ext cx="5532120" cy="245059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6327648" y="1600200"/>
            <a:ext cx="5029200" cy="310896"/>
          </a:xfrm>
          <a:prstGeom prst="rect">
            <a:avLst/>
          </a:prstGeom>
          <a:noFill/>
          <a:ln/>
        </p:spPr>
        <p:txBody>
          <a:bodyPr wrap="square" lIns="0" tIns="0" rIns="0" bIns="0" rtlCol="0" anchor="ctr">
            <a:normAutofit fontScale="92500" lnSpcReduction="10000"/>
          </a:bodyPr>
          <a:lstStyle/>
          <a:p>
            <a:pPr marL="0" indent="0" algn="l">
              <a:buNone/>
            </a:pPr>
            <a:r>
              <a:rPr lang="en-US" sz="2300" b="1" dirty="0">
                <a:solidFill>
                  <a:srgbClr val="172D33"/>
                </a:solidFill>
                <a:latin typeface="Calibri" pitchFamily="34" charset="0"/>
                <a:ea typeface="Calibri" pitchFamily="34" charset="-122"/>
                <a:cs typeface="Calibri" pitchFamily="34" charset="-120"/>
              </a:rPr>
              <a:t>False alert episodes per patient-month</a:t>
            </a:r>
            <a:endParaRPr lang="en-US" sz="2300" dirty="0"/>
          </a:p>
        </p:txBody>
      </p:sp>
      <p:sp>
        <p:nvSpPr>
          <p:cNvPr id="10" name="Text 7"/>
          <p:cNvSpPr txBox="1"/>
          <p:nvPr/>
        </p:nvSpPr>
        <p:spPr>
          <a:xfrm>
            <a:off x="6336792" y="1920240"/>
            <a:ext cx="5029200" cy="256032"/>
          </a:xfrm>
          <a:prstGeom prst="rect">
            <a:avLst/>
          </a:prstGeom>
          <a:noFill/>
          <a:ln/>
        </p:spPr>
        <p:txBody>
          <a:bodyPr wrap="square" lIns="0" tIns="0" rIns="0" bIns="0" rtlCol="0" anchor="ctr">
            <a:normAutofit/>
          </a:bodyPr>
          <a:lstStyle/>
          <a:p>
            <a:pPr marL="0" indent="0" algn="l">
              <a:buNone/>
            </a:pPr>
            <a:r>
              <a:rPr lang="en-US" sz="1300" dirty="0">
                <a:solidFill>
                  <a:srgbClr val="586B72"/>
                </a:solidFill>
                <a:latin typeface="Calibri" pitchFamily="34" charset="0"/>
                <a:ea typeface="Calibri" pitchFamily="34" charset="-122"/>
                <a:cs typeface="Calibri" pitchFamily="34" charset="-120"/>
              </a:rPr>
              <a:t>Lower is fewer false alert episodes</a:t>
            </a:r>
            <a:endParaRPr lang="en-US" sz="1300" dirty="0"/>
          </a:p>
        </p:txBody>
      </p:sp>
      <p:graphicFrame>
        <p:nvGraphicFramePr>
          <p:cNvPr id="11" name="Chart 1"/>
          <p:cNvGraphicFramePr/>
          <p:nvPr/>
        </p:nvGraphicFramePr>
        <p:xfrm>
          <a:off x="6126480" y="2185416"/>
          <a:ext cx="5600000" cy="2450592"/>
        </p:xfrm>
        <a:graphic>
          <a:graphicData uri="http://schemas.openxmlformats.org/drawingml/2006/chart">
            <c:chart xmlns:c="http://schemas.openxmlformats.org/drawingml/2006/chart" xmlns:r="http://schemas.openxmlformats.org/officeDocument/2006/relationships" r:id="rId4"/>
          </a:graphicData>
        </a:graphic>
      </p:graphicFrame>
      <p:sp>
        <p:nvSpPr>
          <p:cNvPr id="12" name="Shape 8"/>
          <p:cNvSpPr/>
          <p:nvPr/>
        </p:nvSpPr>
        <p:spPr>
          <a:xfrm>
            <a:off x="749808" y="4828032"/>
            <a:ext cx="10698480" cy="585216"/>
          </a:xfrm>
          <a:prstGeom prst="roundRect">
            <a:avLst>
              <a:gd name="adj" fmla="val 12500"/>
            </a:avLst>
          </a:prstGeom>
          <a:solidFill>
            <a:srgbClr val="EFF7F7"/>
          </a:solidFill>
          <a:ln w="11430">
            <a:solidFill>
              <a:srgbClr val="C7DDE0"/>
            </a:solidFill>
            <a:prstDash val="solid"/>
          </a:ln>
        </p:spPr>
      </p:sp>
      <p:sp>
        <p:nvSpPr>
          <p:cNvPr id="13" name="Text 9"/>
          <p:cNvSpPr txBox="1"/>
          <p:nvPr/>
        </p:nvSpPr>
        <p:spPr>
          <a:xfrm>
            <a:off x="932688" y="4956048"/>
            <a:ext cx="10332720" cy="292608"/>
          </a:xfrm>
          <a:prstGeom prst="rect">
            <a:avLst/>
          </a:prstGeom>
          <a:noFill/>
          <a:ln/>
        </p:spPr>
        <p:txBody>
          <a:bodyPr wrap="square" lIns="0" tIns="0" rIns="0" bIns="0" rtlCol="0" anchor="ctr">
            <a:normAutofit/>
          </a:bodyPr>
          <a:lstStyle/>
          <a:p>
            <a:pPr>
              <a:defRPr sz="1300" b="1">
                <a:solidFill>
                  <a:srgbClr val="0E6671"/>
                </a:solidFill>
              </a:defRPr>
            </a:pPr>
            <a:r>
              <a:rPr sz="1300" b="1">
                <a:solidFill>
                  <a:srgbClr val="0E6671"/>
                </a:solidFill>
              </a:rPr>
              <a:t>Similar coverage to a PM2.5 rule, with about 15x fewer false alerts than that rule</a:t>
            </a:r>
          </a:p>
        </p:txBody>
      </p:sp>
      <p:sp>
        <p:nvSpPr>
          <p:cNvPr id="14" name="Text 10"/>
          <p:cNvSpPr txBox="1"/>
          <p:nvPr/>
        </p:nvSpPr>
        <p:spPr>
          <a:xfrm>
            <a:off x="932688" y="5586984"/>
            <a:ext cx="10332720" cy="292608"/>
          </a:xfrm>
          <a:prstGeom prst="rect">
            <a:avLst/>
          </a:prstGeom>
          <a:noFill/>
          <a:ln/>
        </p:spPr>
        <p:txBody>
          <a:bodyPr wrap="square" lIns="0" tIns="0" rIns="0" bIns="0" rtlCol="0" anchor="ctr">
            <a:normAutofit/>
          </a:bodyPr>
          <a:lstStyle/>
          <a:p>
            <a:pPr marL="0" indent="0" algn="ctr">
              <a:buNone/>
            </a:pPr>
            <a:r>
              <a:rPr lang="en-US" sz="1800" b="1" dirty="0">
                <a:solidFill>
                  <a:srgbClr val="172D33"/>
                </a:solidFill>
                <a:latin typeface="Calibri" pitchFamily="34" charset="0"/>
                <a:ea typeface="Calibri" pitchFamily="34" charset="-122"/>
                <a:cs typeface="Calibri" pitchFamily="34" charset="-120"/>
              </a:rPr>
              <a:t>PM2.5 rule anticipates 83.0% of onsets vs RespiraTwin at 78.6%.</a:t>
            </a:r>
            <a:endParaRPr lang="en-US" sz="1800" dirty="0"/>
          </a:p>
        </p:txBody>
      </p:sp>
      <p:sp>
        <p:nvSpPr>
          <p:cNvPr id="15" name="Text 11"/>
          <p:cNvSpPr txBox="1"/>
          <p:nvPr/>
        </p:nvSpPr>
        <p:spPr>
          <a:xfrm>
            <a:off x="621792" y="6245352"/>
            <a:ext cx="10972800" cy="164592"/>
          </a:xfrm>
          <a:prstGeom prst="rect">
            <a:avLst/>
          </a:prstGeom>
          <a:noFill/>
          <a:ln/>
        </p:spPr>
        <p:txBody>
          <a:bodyPr wrap="square" lIns="0" tIns="0" rIns="0" bIns="0" rtlCol="0" anchor="ctr">
            <a:normAutofit/>
          </a:bodyPr>
          <a:lstStyle/>
          <a:p>
            <a:pPr marL="0" indent="0" algn="l">
              <a:buNone/>
            </a:pPr>
            <a:r>
              <a:rPr lang="en-US" sz="900" b="1" dirty="0">
                <a:solidFill>
                  <a:srgbClr val="8B4444"/>
                </a:solidFill>
                <a:latin typeface="Calibri" pitchFamily="34" charset="0"/>
                <a:ea typeface="Calibri" pitchFamily="34" charset="-122"/>
                <a:cs typeface="Calibri" pitchFamily="34" charset="-120"/>
              </a:rPr>
              <a:t>Simulation-based results; not clinical performance.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DOCTOR DASHBOARD</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What a reviewer should see in the working app</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r>
              <a:t>Interface views for risk forecasting, early warning, and episode replay.</a:t>
            </a:r>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7" name="Text 5"/>
          <p:cNvSpPr txBox="1"/>
          <p:nvPr/>
        </p:nvSpPr>
        <p:spPr>
          <a:xfrm>
            <a:off x="1024128" y="1783080"/>
            <a:ext cx="5029200" cy="219456"/>
          </a:xfrm>
          <a:prstGeom prst="rect">
            <a:avLst/>
          </a:prstGeom>
          <a:noFill/>
          <a:ln/>
        </p:spPr>
        <p:txBody>
          <a:bodyPr wrap="square" lIns="0" tIns="0" rIns="0" bIns="0" rtlCol="0" anchor="ctr">
            <a:normAutofit fontScale="92500" lnSpcReduction="20000"/>
          </a:bodyPr>
          <a:lstStyle/>
          <a:p>
            <a:endParaRPr/>
          </a:p>
        </p:txBody>
      </p:sp>
      <p:sp>
        <p:nvSpPr>
          <p:cNvPr id="14" name="Text 12"/>
          <p:cNvSpPr txBox="1"/>
          <p:nvPr/>
        </p:nvSpPr>
        <p:spPr>
          <a:xfrm>
            <a:off x="1024128" y="3913632"/>
            <a:ext cx="5029200" cy="219456"/>
          </a:xfrm>
          <a:prstGeom prst="rect">
            <a:avLst/>
          </a:prstGeom>
          <a:noFill/>
          <a:ln/>
        </p:spPr>
        <p:txBody>
          <a:bodyPr wrap="square" lIns="0" tIns="0" rIns="0" bIns="0" rtlCol="0" anchor="ctr">
            <a:normAutofit fontScale="92500" lnSpcReduction="20000"/>
          </a:bodyPr>
          <a:lstStyle/>
          <a:p>
            <a:endParaRPr/>
          </a:p>
        </p:txBody>
      </p:sp>
      <p:sp>
        <p:nvSpPr>
          <p:cNvPr id="20" name="Shape 18"/>
          <p:cNvSpPr/>
          <p:nvPr/>
        </p:nvSpPr>
        <p:spPr>
          <a:xfrm>
            <a:off x="7313487" y="1705356"/>
            <a:ext cx="4617720" cy="3977640"/>
          </a:xfrm>
          <a:prstGeom prst="roundRect">
            <a:avLst>
              <a:gd name="adj" fmla="val 1839"/>
            </a:avLst>
          </a:prstGeom>
          <a:solidFill>
            <a:srgbClr val="FFFFFF"/>
          </a:solidFill>
          <a:ln w="11430">
            <a:solidFill>
              <a:srgbClr val="D8E1E4"/>
            </a:solidFill>
            <a:prstDash val="solid"/>
          </a:ln>
        </p:spPr>
      </p:sp>
      <p:sp>
        <p:nvSpPr>
          <p:cNvPr id="21" name="Shape 19"/>
          <p:cNvSpPr/>
          <p:nvPr/>
        </p:nvSpPr>
        <p:spPr>
          <a:xfrm>
            <a:off x="7441036" y="2050542"/>
            <a:ext cx="86868" cy="86868"/>
          </a:xfrm>
          <a:prstGeom prst="ellipse">
            <a:avLst/>
          </a:prstGeom>
          <a:solidFill>
            <a:srgbClr val="0E6671"/>
          </a:solidFill>
          <a:ln w="6350">
            <a:solidFill>
              <a:srgbClr val="0E6671"/>
            </a:solidFill>
            <a:prstDash val="solid"/>
          </a:ln>
        </p:spPr>
      </p:sp>
      <p:sp>
        <p:nvSpPr>
          <p:cNvPr id="22" name="Text 20"/>
          <p:cNvSpPr txBox="1"/>
          <p:nvPr/>
        </p:nvSpPr>
        <p:spPr>
          <a:xfrm>
            <a:off x="7670103" y="1959102"/>
            <a:ext cx="3904488" cy="475488"/>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Synthetic-patient banner</a:t>
            </a:r>
            <a:endParaRPr lang="en-US" sz="1700" dirty="0"/>
          </a:p>
        </p:txBody>
      </p:sp>
      <p:sp>
        <p:nvSpPr>
          <p:cNvPr id="23" name="Shape 21"/>
          <p:cNvSpPr/>
          <p:nvPr/>
        </p:nvSpPr>
        <p:spPr>
          <a:xfrm>
            <a:off x="7441036" y="2620899"/>
            <a:ext cx="86868" cy="86868"/>
          </a:xfrm>
          <a:prstGeom prst="ellipse">
            <a:avLst/>
          </a:prstGeom>
          <a:solidFill>
            <a:srgbClr val="0E6671"/>
          </a:solidFill>
          <a:ln w="6350">
            <a:solidFill>
              <a:srgbClr val="0E6671"/>
            </a:solidFill>
            <a:prstDash val="solid"/>
          </a:ln>
        </p:spPr>
      </p:sp>
      <p:sp>
        <p:nvSpPr>
          <p:cNvPr id="24" name="Text 22"/>
          <p:cNvSpPr txBox="1"/>
          <p:nvPr/>
        </p:nvSpPr>
        <p:spPr>
          <a:xfrm>
            <a:off x="7670103" y="2514600"/>
            <a:ext cx="3904488" cy="475488"/>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Signal charts with provenance badges</a:t>
            </a:r>
            <a:endParaRPr lang="en-US" sz="1700" dirty="0"/>
          </a:p>
        </p:txBody>
      </p:sp>
      <p:sp>
        <p:nvSpPr>
          <p:cNvPr id="25" name="Shape 23"/>
          <p:cNvSpPr/>
          <p:nvPr/>
        </p:nvSpPr>
        <p:spPr>
          <a:xfrm>
            <a:off x="7441036" y="3313860"/>
            <a:ext cx="86868" cy="86868"/>
          </a:xfrm>
          <a:prstGeom prst="ellipse">
            <a:avLst/>
          </a:prstGeom>
          <a:solidFill>
            <a:srgbClr val="0E6671"/>
          </a:solidFill>
          <a:ln w="6350">
            <a:solidFill>
              <a:srgbClr val="0E6671"/>
            </a:solidFill>
            <a:prstDash val="solid"/>
          </a:ln>
        </p:spPr>
      </p:sp>
      <p:sp>
        <p:nvSpPr>
          <p:cNvPr id="26" name="Text 24"/>
          <p:cNvSpPr txBox="1"/>
          <p:nvPr/>
        </p:nvSpPr>
        <p:spPr>
          <a:xfrm>
            <a:off x="7670103" y="3191256"/>
            <a:ext cx="3904488" cy="475488"/>
          </a:xfrm>
          <a:prstGeom prst="rect">
            <a:avLst/>
          </a:prstGeom>
          <a:noFill/>
          <a:ln/>
        </p:spPr>
        <p:txBody>
          <a:bodyPr wrap="square" lIns="0" tIns="0" rIns="0" bIns="0" rtlCol="0" anchor="t">
            <a:normAutofit lnSpcReduction="10000"/>
          </a:bodyPr>
          <a:lstStyle/>
          <a:p>
            <a:pPr marL="0" indent="0" algn="l">
              <a:buNone/>
            </a:pPr>
            <a:r>
              <a:rPr lang="en-US" sz="1700" dirty="0">
                <a:solidFill>
                  <a:srgbClr val="172D33"/>
                </a:solidFill>
                <a:latin typeface="Calibri" pitchFamily="34" charset="0"/>
                <a:ea typeface="Calibri" pitchFamily="34" charset="-122"/>
                <a:cs typeface="Calibri" pitchFamily="34" charset="-120"/>
              </a:rPr>
              <a:t>0–100 risk score with Low / Watch / High demo bands</a:t>
            </a:r>
            <a:endParaRPr lang="en-US" sz="1700" dirty="0"/>
          </a:p>
        </p:txBody>
      </p:sp>
      <p:sp>
        <p:nvSpPr>
          <p:cNvPr id="27" name="Shape 25"/>
          <p:cNvSpPr/>
          <p:nvPr/>
        </p:nvSpPr>
        <p:spPr>
          <a:xfrm>
            <a:off x="7441036" y="3986784"/>
            <a:ext cx="86868" cy="86868"/>
          </a:xfrm>
          <a:prstGeom prst="ellipse">
            <a:avLst/>
          </a:prstGeom>
          <a:solidFill>
            <a:srgbClr val="0E6671"/>
          </a:solidFill>
          <a:ln w="6350">
            <a:solidFill>
              <a:srgbClr val="0E6671"/>
            </a:solidFill>
            <a:prstDash val="solid"/>
          </a:ln>
        </p:spPr>
      </p:sp>
      <p:sp>
        <p:nvSpPr>
          <p:cNvPr id="28" name="Text 26"/>
          <p:cNvSpPr txBox="1"/>
          <p:nvPr/>
        </p:nvSpPr>
        <p:spPr>
          <a:xfrm>
            <a:off x="7671816" y="3877056"/>
            <a:ext cx="3904488" cy="475488"/>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Reason codes and twin-history timeline</a:t>
            </a:r>
            <a:endParaRPr lang="en-US" sz="1700" dirty="0"/>
          </a:p>
        </p:txBody>
      </p:sp>
      <p:sp>
        <p:nvSpPr>
          <p:cNvPr id="29" name="Shape 27"/>
          <p:cNvSpPr/>
          <p:nvPr/>
        </p:nvSpPr>
        <p:spPr>
          <a:xfrm>
            <a:off x="7435095" y="4601718"/>
            <a:ext cx="86868" cy="86868"/>
          </a:xfrm>
          <a:prstGeom prst="ellipse">
            <a:avLst/>
          </a:prstGeom>
          <a:solidFill>
            <a:srgbClr val="0E6671"/>
          </a:solidFill>
          <a:ln w="6350">
            <a:solidFill>
              <a:srgbClr val="0E6671"/>
            </a:solidFill>
            <a:prstDash val="solid"/>
          </a:ln>
        </p:spPr>
      </p:sp>
      <p:sp>
        <p:nvSpPr>
          <p:cNvPr id="30" name="Text 28"/>
          <p:cNvSpPr txBox="1"/>
          <p:nvPr/>
        </p:nvSpPr>
        <p:spPr>
          <a:xfrm>
            <a:off x="7671816" y="4498848"/>
            <a:ext cx="3904488" cy="475488"/>
          </a:xfrm>
          <a:prstGeom prst="rect">
            <a:avLst/>
          </a:prstGeom>
          <a:noFill/>
          <a:ln/>
        </p:spPr>
        <p:txBody>
          <a:bodyPr wrap="square" lIns="0" tIns="0" rIns="0" bIns="0" rtlCol="0" anchor="t">
            <a:normAutofit lnSpcReduction="10000"/>
          </a:bodyPr>
          <a:lstStyle/>
          <a:p>
            <a:pPr marL="0" indent="0" algn="l">
              <a:buNone/>
            </a:pPr>
            <a:r>
              <a:rPr lang="en-US" sz="1700" dirty="0">
                <a:solidFill>
                  <a:srgbClr val="172D33"/>
                </a:solidFill>
                <a:latin typeface="Calibri" pitchFamily="34" charset="0"/>
                <a:ea typeface="Calibri" pitchFamily="34" charset="-122"/>
                <a:cs typeface="Calibri" pitchFamily="34" charset="-120"/>
              </a:rPr>
              <a:t>Replay of held-out episodes, including a miss</a:t>
            </a:r>
            <a:endParaRPr lang="en-US" sz="1700" dirty="0"/>
          </a:p>
        </p:txBody>
      </p:sp>
      <p:sp>
        <p:nvSpPr>
          <p:cNvPr id="31" name="Text 29"/>
          <p:cNvSpPr txBox="1"/>
          <p:nvPr/>
        </p:nvSpPr>
        <p:spPr>
          <a:xfrm>
            <a:off x="7610667" y="5285232"/>
            <a:ext cx="4023360" cy="274320"/>
          </a:xfrm>
          <a:prstGeom prst="rect">
            <a:avLst/>
          </a:prstGeom>
          <a:noFill/>
          <a:ln/>
        </p:spPr>
        <p:txBody>
          <a:bodyPr wrap="square" lIns="0" tIns="0" rIns="0" bIns="0" rtlCol="0" anchor="ctr">
            <a:normAutofit/>
          </a:bodyPr>
          <a:lstStyle/>
          <a:p>
            <a:pPr>
              <a:defRPr sz="1000">
                <a:solidFill>
                  <a:srgbClr val="64748B"/>
                </a:solidFill>
              </a:defRPr>
            </a:pPr>
            <a:r>
              <a:rPr sz="1000" dirty="0">
                <a:solidFill>
                  <a:srgbClr val="64748B"/>
                </a:solidFill>
              </a:rPr>
              <a:t>Interactive virtual patient timeline and episode replay.</a:t>
            </a:r>
          </a:p>
        </p:txBody>
      </p:sp>
      <p:pic>
        <p:nvPicPr>
          <p:cNvPr id="33" name="Picture 32">
            <a:extLst>
              <a:ext uri="{FF2B5EF4-FFF2-40B4-BE49-F238E27FC236}">
                <a16:creationId xmlns:a16="http://schemas.microsoft.com/office/drawing/2014/main" id="{15659C2F-E3C3-76E5-3E81-9EFC21F64A3D}"/>
              </a:ext>
            </a:extLst>
          </p:cNvPr>
          <p:cNvPicPr>
            <a:picLocks noChangeAspect="1"/>
          </p:cNvPicPr>
          <p:nvPr/>
        </p:nvPicPr>
        <p:blipFill>
          <a:blip r:embed="rId3"/>
          <a:stretch>
            <a:fillRect/>
          </a:stretch>
        </p:blipFill>
        <p:spPr>
          <a:xfrm>
            <a:off x="260794" y="1512352"/>
            <a:ext cx="5685080" cy="2266732"/>
          </a:xfrm>
          <a:prstGeom prst="rect">
            <a:avLst/>
          </a:prstGeom>
        </p:spPr>
      </p:pic>
      <p:pic>
        <p:nvPicPr>
          <p:cNvPr id="35" name="Picture 34">
            <a:extLst>
              <a:ext uri="{FF2B5EF4-FFF2-40B4-BE49-F238E27FC236}">
                <a16:creationId xmlns:a16="http://schemas.microsoft.com/office/drawing/2014/main" id="{5EBD1915-80C6-83C2-F252-DF023618768B}"/>
              </a:ext>
            </a:extLst>
          </p:cNvPr>
          <p:cNvPicPr>
            <a:picLocks noChangeAspect="1"/>
          </p:cNvPicPr>
          <p:nvPr/>
        </p:nvPicPr>
        <p:blipFill>
          <a:blip r:embed="rId4"/>
          <a:stretch>
            <a:fillRect/>
          </a:stretch>
        </p:blipFill>
        <p:spPr>
          <a:xfrm>
            <a:off x="260794" y="3779084"/>
            <a:ext cx="6012701" cy="26034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WHAT-IF AND EXPLANATIONS</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Explore model response without changing source history</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Hypothetical scenarios are not intervention recommendations.</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15" name="Text 13"/>
          <p:cNvSpPr txBox="1"/>
          <p:nvPr/>
        </p:nvSpPr>
        <p:spPr>
          <a:xfrm>
            <a:off x="960120" y="5413248"/>
            <a:ext cx="5532120" cy="310896"/>
          </a:xfrm>
          <a:prstGeom prst="rect">
            <a:avLst/>
          </a:prstGeom>
          <a:noFill/>
          <a:ln/>
        </p:spPr>
        <p:txBody>
          <a:bodyPr wrap="square" lIns="0" tIns="0" rIns="0" bIns="0" rtlCol="0" anchor="ctr">
            <a:normAutofit/>
          </a:bodyPr>
          <a:lstStyle/>
          <a:p>
            <a:endParaRPr/>
          </a:p>
        </p:txBody>
      </p:sp>
      <p:sp>
        <p:nvSpPr>
          <p:cNvPr id="16" name="Shape 14"/>
          <p:cNvSpPr/>
          <p:nvPr/>
        </p:nvSpPr>
        <p:spPr>
          <a:xfrm>
            <a:off x="7059168" y="1645920"/>
            <a:ext cx="4407408" cy="1847088"/>
          </a:xfrm>
          <a:prstGeom prst="roundRect">
            <a:avLst>
              <a:gd name="adj" fmla="val 3960"/>
            </a:avLst>
          </a:prstGeom>
          <a:solidFill>
            <a:srgbClr val="FFFFFF"/>
          </a:solidFill>
          <a:ln w="11430">
            <a:solidFill>
              <a:srgbClr val="D8E1E4"/>
            </a:solidFill>
            <a:prstDash val="solid"/>
          </a:ln>
        </p:spPr>
      </p:sp>
      <p:sp>
        <p:nvSpPr>
          <p:cNvPr id="17" name="Shape 15"/>
          <p:cNvSpPr/>
          <p:nvPr/>
        </p:nvSpPr>
        <p:spPr>
          <a:xfrm>
            <a:off x="7059168" y="1645920"/>
            <a:ext cx="64008" cy="1847088"/>
          </a:xfrm>
          <a:prstGeom prst="rect">
            <a:avLst/>
          </a:prstGeom>
          <a:solidFill>
            <a:srgbClr val="0E6671"/>
          </a:solidFill>
          <a:ln w="10160">
            <a:solidFill>
              <a:srgbClr val="0E6671"/>
            </a:solidFill>
            <a:prstDash val="solid"/>
          </a:ln>
        </p:spPr>
      </p:sp>
      <p:sp>
        <p:nvSpPr>
          <p:cNvPr id="18" name="Text 16"/>
          <p:cNvSpPr txBox="1"/>
          <p:nvPr/>
        </p:nvSpPr>
        <p:spPr>
          <a:xfrm>
            <a:off x="7315200" y="1901952"/>
            <a:ext cx="34747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CONSISTENCY CHECK</a:t>
            </a:r>
            <a:endParaRPr lang="en-US" sz="1000" dirty="0"/>
          </a:p>
        </p:txBody>
      </p:sp>
      <p:sp>
        <p:nvSpPr>
          <p:cNvPr id="19" name="Text 17"/>
          <p:cNvSpPr txBox="1"/>
          <p:nvPr/>
        </p:nvSpPr>
        <p:spPr>
          <a:xfrm>
            <a:off x="7315200" y="2167128"/>
            <a:ext cx="1645920" cy="502920"/>
          </a:xfrm>
          <a:prstGeom prst="rect">
            <a:avLst/>
          </a:prstGeom>
          <a:noFill/>
          <a:ln/>
        </p:spPr>
        <p:txBody>
          <a:bodyPr wrap="square" lIns="0" tIns="0" rIns="0" bIns="0" rtlCol="0" anchor="ctr">
            <a:normAutofit fontScale="92500" lnSpcReduction="10000"/>
          </a:bodyPr>
          <a:lstStyle/>
          <a:p>
            <a:pPr marL="0" indent="0" algn="l">
              <a:buNone/>
            </a:pPr>
            <a:r>
              <a:rPr lang="en-US" sz="3700" b="1" dirty="0">
                <a:solidFill>
                  <a:srgbClr val="113E47"/>
                </a:solidFill>
                <a:latin typeface="Calibri" pitchFamily="34" charset="0"/>
                <a:ea typeface="Calibri" pitchFamily="34" charset="-122"/>
                <a:cs typeface="Calibri" pitchFamily="34" charset="-120"/>
              </a:rPr>
              <a:t>100%</a:t>
            </a:r>
            <a:endParaRPr lang="en-US" sz="3700" dirty="0"/>
          </a:p>
        </p:txBody>
      </p:sp>
      <p:sp>
        <p:nvSpPr>
          <p:cNvPr id="20" name="Text 18"/>
          <p:cNvSpPr txBox="1"/>
          <p:nvPr/>
        </p:nvSpPr>
        <p:spPr>
          <a:xfrm>
            <a:off x="8823960" y="2258568"/>
            <a:ext cx="2240280" cy="292608"/>
          </a:xfrm>
          <a:prstGeom prst="rect">
            <a:avLst/>
          </a:prstGeom>
          <a:noFill/>
          <a:ln/>
        </p:spPr>
        <p:txBody>
          <a:bodyPr wrap="square" lIns="0" tIns="0" rIns="0" bIns="0" rtlCol="0" anchor="ctr">
            <a:normAutofit/>
          </a:bodyPr>
          <a:lstStyle/>
          <a:p>
            <a:pPr marL="0" indent="0" algn="l">
              <a:buNone/>
            </a:pPr>
            <a:r>
              <a:rPr lang="en-US" sz="1500" b="1" dirty="0">
                <a:solidFill>
                  <a:srgbClr val="172D33"/>
                </a:solidFill>
                <a:latin typeface="Calibri" pitchFamily="34" charset="0"/>
                <a:ea typeface="Calibri" pitchFamily="34" charset="-122"/>
                <a:cs typeface="Calibri" pitchFamily="34" charset="-120"/>
              </a:rPr>
              <a:t>expected-direction results</a:t>
            </a:r>
            <a:endParaRPr lang="en-US" sz="1500" dirty="0"/>
          </a:p>
        </p:txBody>
      </p:sp>
      <p:sp>
        <p:nvSpPr>
          <p:cNvPr id="21" name="Text 19"/>
          <p:cNvSpPr txBox="1"/>
          <p:nvPr/>
        </p:nvSpPr>
        <p:spPr>
          <a:xfrm>
            <a:off x="7315200" y="2816352"/>
            <a:ext cx="3749040" cy="292608"/>
          </a:xfrm>
          <a:prstGeom prst="rect">
            <a:avLst/>
          </a:prstGeom>
          <a:noFill/>
          <a:ln/>
        </p:spPr>
        <p:txBody>
          <a:bodyPr wrap="square" lIns="0" tIns="0" rIns="0" bIns="0" rtlCol="0" anchor="ctr">
            <a:normAutofit/>
          </a:bodyPr>
          <a:lstStyle/>
          <a:p>
            <a:pPr marL="0" indent="0" algn="l">
              <a:buNone/>
            </a:pPr>
            <a:r>
              <a:rPr lang="en-US" sz="1500" dirty="0">
                <a:solidFill>
                  <a:srgbClr val="586B72"/>
                </a:solidFill>
                <a:latin typeface="Calibri" pitchFamily="34" charset="0"/>
                <a:ea typeface="Calibri" pitchFamily="34" charset="-122"/>
                <a:cs typeface="Calibri" pitchFamily="34" charset="-120"/>
              </a:rPr>
              <a:t>5 sweeps · 200 test patient-hours</a:t>
            </a:r>
            <a:endParaRPr lang="en-US" sz="1500" dirty="0"/>
          </a:p>
        </p:txBody>
      </p:sp>
      <p:sp>
        <p:nvSpPr>
          <p:cNvPr id="22" name="Shape 20"/>
          <p:cNvSpPr/>
          <p:nvPr/>
        </p:nvSpPr>
        <p:spPr>
          <a:xfrm>
            <a:off x="7059168" y="3730752"/>
            <a:ext cx="4407408" cy="2331720"/>
          </a:xfrm>
          <a:prstGeom prst="roundRect">
            <a:avLst>
              <a:gd name="adj" fmla="val 3137"/>
            </a:avLst>
          </a:prstGeom>
          <a:solidFill>
            <a:srgbClr val="FFFFFF"/>
          </a:solidFill>
          <a:ln w="11430">
            <a:solidFill>
              <a:srgbClr val="D8E1E4"/>
            </a:solidFill>
            <a:prstDash val="solid"/>
          </a:ln>
        </p:spPr>
      </p:sp>
      <p:sp>
        <p:nvSpPr>
          <p:cNvPr id="23" name="Shape 21"/>
          <p:cNvSpPr/>
          <p:nvPr/>
        </p:nvSpPr>
        <p:spPr>
          <a:xfrm>
            <a:off x="7315200" y="4087368"/>
            <a:ext cx="86868" cy="86868"/>
          </a:xfrm>
          <a:prstGeom prst="ellipse">
            <a:avLst/>
          </a:prstGeom>
          <a:solidFill>
            <a:srgbClr val="0E6671"/>
          </a:solidFill>
          <a:ln w="6350">
            <a:solidFill>
              <a:srgbClr val="0E6671"/>
            </a:solidFill>
            <a:prstDash val="solid"/>
          </a:ln>
        </p:spPr>
      </p:sp>
      <p:sp>
        <p:nvSpPr>
          <p:cNvPr id="24" name="Text 22"/>
          <p:cNvSpPr txBox="1"/>
          <p:nvPr/>
        </p:nvSpPr>
        <p:spPr>
          <a:xfrm>
            <a:off x="7507224" y="3977640"/>
            <a:ext cx="3557016" cy="384048"/>
          </a:xfrm>
          <a:prstGeom prst="rect">
            <a:avLst/>
          </a:prstGeom>
          <a:noFill/>
          <a:ln/>
        </p:spPr>
        <p:txBody>
          <a:bodyPr wrap="square" lIns="0" tIns="0" rIns="0" bIns="0" rtlCol="0" anchor="t">
            <a:normAutofit/>
          </a:bodyPr>
          <a:lstStyle/>
          <a:p>
            <a:pPr marL="0" indent="0" algn="l">
              <a:buNone/>
            </a:pPr>
            <a:r>
              <a:rPr lang="en-US" sz="1600" dirty="0">
                <a:solidFill>
                  <a:srgbClr val="172D33"/>
                </a:solidFill>
                <a:latin typeface="Calibri" pitchFamily="34" charset="0"/>
                <a:ea typeface="Calibri" pitchFamily="34" charset="-122"/>
                <a:cs typeface="Calibri" pitchFamily="34" charset="-120"/>
              </a:rPr>
              <a:t>Scenario presets and sliders</a:t>
            </a:r>
            <a:endParaRPr lang="en-US" sz="1600" dirty="0"/>
          </a:p>
        </p:txBody>
      </p:sp>
      <p:sp>
        <p:nvSpPr>
          <p:cNvPr id="25" name="Shape 23"/>
          <p:cNvSpPr/>
          <p:nvPr/>
        </p:nvSpPr>
        <p:spPr>
          <a:xfrm>
            <a:off x="7315200" y="4562856"/>
            <a:ext cx="86868" cy="86868"/>
          </a:xfrm>
          <a:prstGeom prst="ellipse">
            <a:avLst/>
          </a:prstGeom>
          <a:solidFill>
            <a:srgbClr val="0E6671"/>
          </a:solidFill>
          <a:ln w="6350">
            <a:solidFill>
              <a:srgbClr val="0E6671"/>
            </a:solidFill>
            <a:prstDash val="solid"/>
          </a:ln>
        </p:spPr>
      </p:sp>
      <p:sp>
        <p:nvSpPr>
          <p:cNvPr id="26" name="Text 24"/>
          <p:cNvSpPr txBox="1"/>
          <p:nvPr/>
        </p:nvSpPr>
        <p:spPr>
          <a:xfrm>
            <a:off x="7507224" y="4453128"/>
            <a:ext cx="3557016" cy="384048"/>
          </a:xfrm>
          <a:prstGeom prst="rect">
            <a:avLst/>
          </a:prstGeom>
          <a:noFill/>
          <a:ln/>
        </p:spPr>
        <p:txBody>
          <a:bodyPr wrap="square" lIns="0" tIns="0" rIns="0" bIns="0" rtlCol="0" anchor="t">
            <a:normAutofit/>
          </a:bodyPr>
          <a:lstStyle/>
          <a:p>
            <a:pPr marL="0" indent="0" algn="l">
              <a:buNone/>
            </a:pPr>
            <a:r>
              <a:rPr lang="en-US" sz="1600" dirty="0">
                <a:solidFill>
                  <a:srgbClr val="172D33"/>
                </a:solidFill>
                <a:latin typeface="Calibri" pitchFamily="34" charset="0"/>
                <a:ea typeface="Calibri" pitchFamily="34" charset="-122"/>
                <a:cs typeface="Calibri" pitchFamily="34" charset="-120"/>
              </a:rPr>
              <a:t>Original data never overwritten</a:t>
            </a:r>
            <a:endParaRPr lang="en-US" sz="1600" dirty="0"/>
          </a:p>
        </p:txBody>
      </p:sp>
      <p:sp>
        <p:nvSpPr>
          <p:cNvPr id="27" name="Shape 25"/>
          <p:cNvSpPr/>
          <p:nvPr/>
        </p:nvSpPr>
        <p:spPr>
          <a:xfrm>
            <a:off x="7315200" y="5038344"/>
            <a:ext cx="86868" cy="86868"/>
          </a:xfrm>
          <a:prstGeom prst="ellipse">
            <a:avLst/>
          </a:prstGeom>
          <a:solidFill>
            <a:srgbClr val="0E6671"/>
          </a:solidFill>
          <a:ln w="6350">
            <a:solidFill>
              <a:srgbClr val="0E6671"/>
            </a:solidFill>
            <a:prstDash val="solid"/>
          </a:ln>
        </p:spPr>
      </p:sp>
      <p:sp>
        <p:nvSpPr>
          <p:cNvPr id="28" name="Text 26"/>
          <p:cNvSpPr txBox="1"/>
          <p:nvPr/>
        </p:nvSpPr>
        <p:spPr>
          <a:xfrm>
            <a:off x="7507224" y="4928616"/>
            <a:ext cx="3557016" cy="457200"/>
          </a:xfrm>
          <a:prstGeom prst="rect">
            <a:avLst/>
          </a:prstGeom>
          <a:noFill/>
          <a:ln/>
        </p:spPr>
        <p:txBody>
          <a:bodyPr wrap="square" lIns="0" tIns="0" rIns="0" bIns="0" rtlCol="0" anchor="t">
            <a:normAutofit/>
          </a:bodyPr>
          <a:lstStyle/>
          <a:p>
            <a:pPr marL="0" indent="0" algn="l">
              <a:buNone/>
            </a:pPr>
            <a:r>
              <a:rPr lang="en-US" sz="1500" dirty="0">
                <a:solidFill>
                  <a:srgbClr val="172D33"/>
                </a:solidFill>
                <a:latin typeface="Calibri" pitchFamily="34" charset="0"/>
                <a:ea typeface="Calibri" pitchFamily="34" charset="-122"/>
                <a:cs typeface="Calibri" pitchFamily="34" charset="-120"/>
              </a:rPr>
              <a:t>Personal-baseline occlusion by signal family</a:t>
            </a:r>
            <a:endParaRPr lang="en-US" sz="1500" dirty="0"/>
          </a:p>
        </p:txBody>
      </p:sp>
      <p:sp>
        <p:nvSpPr>
          <p:cNvPr id="29" name="Text 27"/>
          <p:cNvSpPr txBox="1"/>
          <p:nvPr/>
        </p:nvSpPr>
        <p:spPr>
          <a:xfrm>
            <a:off x="7315200" y="5440680"/>
            <a:ext cx="3767328" cy="502920"/>
          </a:xfrm>
          <a:prstGeom prst="rect">
            <a:avLst/>
          </a:prstGeom>
          <a:noFill/>
          <a:ln/>
        </p:spPr>
        <p:txBody>
          <a:bodyPr wrap="square" lIns="0" tIns="0" rIns="0" bIns="0" rtlCol="0" anchor="t">
            <a:normAutofit/>
          </a:bodyPr>
          <a:lstStyle/>
          <a:p>
            <a:pPr>
              <a:defRPr sz="950">
                <a:solidFill>
                  <a:srgbClr val="64748B"/>
                </a:solidFill>
              </a:defRPr>
            </a:pPr>
            <a:r>
              <a:rPr sz="950">
                <a:solidFill>
                  <a:srgbClr val="64748B"/>
                </a:solidFill>
              </a:rPr>
              <a:t>Caveat: adherence alone has a small effect; about 77% of test-set hours have 100% adherence and the model rarely splits on it.</a:t>
            </a:r>
          </a:p>
        </p:txBody>
      </p:sp>
      <p:pic>
        <p:nvPicPr>
          <p:cNvPr id="31" name="Picture 30">
            <a:extLst>
              <a:ext uri="{FF2B5EF4-FFF2-40B4-BE49-F238E27FC236}">
                <a16:creationId xmlns:a16="http://schemas.microsoft.com/office/drawing/2014/main" id="{6A3E528E-ED4A-42C6-DA16-F69FBE230A59}"/>
              </a:ext>
            </a:extLst>
          </p:cNvPr>
          <p:cNvPicPr>
            <a:picLocks noChangeAspect="1"/>
          </p:cNvPicPr>
          <p:nvPr/>
        </p:nvPicPr>
        <p:blipFill>
          <a:blip r:embed="rId3"/>
          <a:stretch>
            <a:fillRect/>
          </a:stretch>
        </p:blipFill>
        <p:spPr>
          <a:xfrm>
            <a:off x="509800" y="1515367"/>
            <a:ext cx="6051020" cy="48671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LIMITATIONS AND ETHICS</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A transparent proof of concept—not a clinical tool</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Limits define what the results can and cannot support.</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749808" y="1719072"/>
            <a:ext cx="5193792" cy="3429000"/>
          </a:xfrm>
          <a:prstGeom prst="roundRect">
            <a:avLst>
              <a:gd name="adj" fmla="val 2133"/>
            </a:avLst>
          </a:prstGeom>
          <a:solidFill>
            <a:srgbClr val="FFFFFF"/>
          </a:solidFill>
          <a:ln w="11430">
            <a:solidFill>
              <a:srgbClr val="D8E1E4"/>
            </a:solidFill>
            <a:prstDash val="solid"/>
          </a:ln>
        </p:spPr>
      </p:sp>
      <p:sp>
        <p:nvSpPr>
          <p:cNvPr id="7" name="Shape 5"/>
          <p:cNvSpPr/>
          <p:nvPr/>
        </p:nvSpPr>
        <p:spPr>
          <a:xfrm>
            <a:off x="749808" y="1719072"/>
            <a:ext cx="64008" cy="3429000"/>
          </a:xfrm>
          <a:prstGeom prst="rect">
            <a:avLst/>
          </a:prstGeom>
          <a:solidFill>
            <a:srgbClr val="0E6671"/>
          </a:solidFill>
          <a:ln w="10160">
            <a:solidFill>
              <a:srgbClr val="0E6671"/>
            </a:solidFill>
            <a:prstDash val="solid"/>
          </a:ln>
        </p:spPr>
      </p:sp>
      <p:sp>
        <p:nvSpPr>
          <p:cNvPr id="8" name="Shape 6"/>
          <p:cNvSpPr/>
          <p:nvPr/>
        </p:nvSpPr>
        <p:spPr>
          <a:xfrm>
            <a:off x="6236208" y="1719072"/>
            <a:ext cx="5193792" cy="3429000"/>
          </a:xfrm>
          <a:prstGeom prst="roundRect">
            <a:avLst>
              <a:gd name="adj" fmla="val 2133"/>
            </a:avLst>
          </a:prstGeom>
          <a:solidFill>
            <a:srgbClr val="FFFFFF"/>
          </a:solidFill>
          <a:ln w="11430">
            <a:solidFill>
              <a:srgbClr val="D8E1E4"/>
            </a:solidFill>
            <a:prstDash val="solid"/>
          </a:ln>
        </p:spPr>
      </p:sp>
      <p:sp>
        <p:nvSpPr>
          <p:cNvPr id="9" name="Shape 7"/>
          <p:cNvSpPr/>
          <p:nvPr/>
        </p:nvSpPr>
        <p:spPr>
          <a:xfrm>
            <a:off x="6236208" y="1719072"/>
            <a:ext cx="64008" cy="3429000"/>
          </a:xfrm>
          <a:prstGeom prst="rect">
            <a:avLst/>
          </a:prstGeom>
          <a:solidFill>
            <a:srgbClr val="2A7F88"/>
          </a:solidFill>
          <a:ln w="10160">
            <a:solidFill>
              <a:srgbClr val="2A7F88"/>
            </a:solidFill>
            <a:prstDash val="solid"/>
          </a:ln>
        </p:spPr>
      </p:sp>
      <p:sp>
        <p:nvSpPr>
          <p:cNvPr id="10" name="Shape 8"/>
          <p:cNvSpPr/>
          <p:nvPr/>
        </p:nvSpPr>
        <p:spPr>
          <a:xfrm>
            <a:off x="1024128" y="2167128"/>
            <a:ext cx="86868" cy="86868"/>
          </a:xfrm>
          <a:prstGeom prst="ellipse">
            <a:avLst/>
          </a:prstGeom>
          <a:solidFill>
            <a:srgbClr val="0E6671"/>
          </a:solidFill>
          <a:ln w="6350">
            <a:solidFill>
              <a:srgbClr val="0E6671"/>
            </a:solidFill>
            <a:prstDash val="solid"/>
          </a:ln>
        </p:spPr>
      </p:sp>
      <p:sp>
        <p:nvSpPr>
          <p:cNvPr id="11" name="Text 9"/>
          <p:cNvSpPr txBox="1"/>
          <p:nvPr/>
        </p:nvSpPr>
        <p:spPr>
          <a:xfrm>
            <a:off x="1216152" y="2057400"/>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All patient, wearable, pollution and event data are simulated.</a:t>
            </a:r>
            <a:endParaRPr lang="en-US" sz="1800" dirty="0"/>
          </a:p>
        </p:txBody>
      </p:sp>
      <p:sp>
        <p:nvSpPr>
          <p:cNvPr id="12" name="Shape 10"/>
          <p:cNvSpPr/>
          <p:nvPr/>
        </p:nvSpPr>
        <p:spPr>
          <a:xfrm>
            <a:off x="1024128" y="3044952"/>
            <a:ext cx="86868" cy="86868"/>
          </a:xfrm>
          <a:prstGeom prst="ellipse">
            <a:avLst/>
          </a:prstGeom>
          <a:solidFill>
            <a:srgbClr val="0E6671"/>
          </a:solidFill>
          <a:ln w="6350">
            <a:solidFill>
              <a:srgbClr val="0E6671"/>
            </a:solidFill>
            <a:prstDash val="solid"/>
          </a:ln>
        </p:spPr>
      </p:sp>
      <p:sp>
        <p:nvSpPr>
          <p:cNvPr id="13" name="Text 11"/>
          <p:cNvSpPr txBox="1"/>
          <p:nvPr/>
        </p:nvSpPr>
        <p:spPr>
          <a:xfrm>
            <a:off x="1216152" y="2935224"/>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Metrics reflect the simulator’s assumptions.</a:t>
            </a:r>
            <a:endParaRPr lang="en-US" sz="1800" dirty="0"/>
          </a:p>
        </p:txBody>
      </p:sp>
      <p:sp>
        <p:nvSpPr>
          <p:cNvPr id="14" name="Shape 12"/>
          <p:cNvSpPr/>
          <p:nvPr/>
        </p:nvSpPr>
        <p:spPr>
          <a:xfrm>
            <a:off x="1024128" y="3922776"/>
            <a:ext cx="86868" cy="86868"/>
          </a:xfrm>
          <a:prstGeom prst="ellipse">
            <a:avLst/>
          </a:prstGeom>
          <a:solidFill>
            <a:srgbClr val="0E6671"/>
          </a:solidFill>
          <a:ln w="6350">
            <a:solidFill>
              <a:srgbClr val="0E6671"/>
            </a:solidFill>
            <a:prstDash val="solid"/>
          </a:ln>
        </p:spPr>
      </p:sp>
      <p:sp>
        <p:nvSpPr>
          <p:cNvPr id="15" name="Text 13"/>
          <p:cNvSpPr txBox="1"/>
          <p:nvPr/>
        </p:nvSpPr>
        <p:spPr>
          <a:xfrm>
            <a:off x="1216152" y="3813048"/>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Silent episodes are mostly missed or caught late.</a:t>
            </a:r>
            <a:endParaRPr lang="en-US" sz="1800" dirty="0"/>
          </a:p>
        </p:txBody>
      </p:sp>
      <p:sp>
        <p:nvSpPr>
          <p:cNvPr id="16" name="Shape 14"/>
          <p:cNvSpPr/>
          <p:nvPr/>
        </p:nvSpPr>
        <p:spPr>
          <a:xfrm>
            <a:off x="6510528" y="2167128"/>
            <a:ext cx="86868" cy="86868"/>
          </a:xfrm>
          <a:prstGeom prst="ellipse">
            <a:avLst/>
          </a:prstGeom>
          <a:solidFill>
            <a:srgbClr val="0E6671"/>
          </a:solidFill>
          <a:ln w="6350">
            <a:solidFill>
              <a:srgbClr val="0E6671"/>
            </a:solidFill>
            <a:prstDash val="solid"/>
          </a:ln>
        </p:spPr>
      </p:sp>
      <p:sp>
        <p:nvSpPr>
          <p:cNvPr id="17" name="Text 15"/>
          <p:cNvSpPr txBox="1"/>
          <p:nvPr/>
        </p:nvSpPr>
        <p:spPr>
          <a:xfrm>
            <a:off x="6702552" y="2057400"/>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Precision–recall trade-off changes the alert burden.</a:t>
            </a:r>
            <a:endParaRPr lang="en-US" sz="1800" dirty="0"/>
          </a:p>
        </p:txBody>
      </p:sp>
      <p:sp>
        <p:nvSpPr>
          <p:cNvPr id="18" name="Shape 16"/>
          <p:cNvSpPr/>
          <p:nvPr/>
        </p:nvSpPr>
        <p:spPr>
          <a:xfrm>
            <a:off x="6510528" y="3044952"/>
            <a:ext cx="86868" cy="86868"/>
          </a:xfrm>
          <a:prstGeom prst="ellipse">
            <a:avLst/>
          </a:prstGeom>
          <a:solidFill>
            <a:srgbClr val="0E6671"/>
          </a:solidFill>
          <a:ln w="6350">
            <a:solidFill>
              <a:srgbClr val="0E6671"/>
            </a:solidFill>
            <a:prstDash val="solid"/>
          </a:ln>
        </p:spPr>
      </p:sp>
      <p:sp>
        <p:nvSpPr>
          <p:cNvPr id="19" name="Text 17"/>
          <p:cNvSpPr txBox="1"/>
          <p:nvPr/>
        </p:nvSpPr>
        <p:spPr>
          <a:xfrm>
            <a:off x="6702552" y="2935224"/>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No external or clinical validation.</a:t>
            </a:r>
            <a:endParaRPr lang="en-US" sz="1800" dirty="0"/>
          </a:p>
        </p:txBody>
      </p:sp>
      <p:sp>
        <p:nvSpPr>
          <p:cNvPr id="20" name="Shape 18"/>
          <p:cNvSpPr/>
          <p:nvPr/>
        </p:nvSpPr>
        <p:spPr>
          <a:xfrm>
            <a:off x="6510528" y="3922776"/>
            <a:ext cx="86868" cy="86868"/>
          </a:xfrm>
          <a:prstGeom prst="ellipse">
            <a:avLst/>
          </a:prstGeom>
          <a:solidFill>
            <a:srgbClr val="0E6671"/>
          </a:solidFill>
          <a:ln w="6350">
            <a:solidFill>
              <a:srgbClr val="0E6671"/>
            </a:solidFill>
            <a:prstDash val="solid"/>
          </a:ln>
        </p:spPr>
      </p:sp>
      <p:sp>
        <p:nvSpPr>
          <p:cNvPr id="21" name="Text 19"/>
          <p:cNvSpPr txBox="1"/>
          <p:nvPr/>
        </p:nvSpPr>
        <p:spPr>
          <a:xfrm>
            <a:off x="6702552" y="3813048"/>
            <a:ext cx="4398264" cy="621792"/>
          </a:xfrm>
          <a:prstGeom prst="rect">
            <a:avLst/>
          </a:prstGeom>
          <a:noFill/>
          <a:ln/>
        </p:spPr>
        <p:txBody>
          <a:bodyPr wrap="square" lIns="0" tIns="0" rIns="0" bIns="0" rtlCol="0" anchor="t">
            <a:normAutofit/>
          </a:bodyPr>
          <a:lstStyle/>
          <a:p>
            <a:pPr marL="0" indent="0" algn="l">
              <a:buNone/>
            </a:pPr>
            <a:r>
              <a:rPr lang="en-US" sz="1800" dirty="0">
                <a:solidFill>
                  <a:srgbClr val="172D33"/>
                </a:solidFill>
                <a:latin typeface="Calibri" pitchFamily="34" charset="0"/>
                <a:ea typeface="Calibri" pitchFamily="34" charset="-122"/>
                <a:cs typeface="Calibri" pitchFamily="34" charset="-120"/>
              </a:rPr>
              <a:t>Not for clinical use; no diagnosis or treatment advice.</a:t>
            </a:r>
            <a:endParaRPr lang="en-US" sz="1800" dirty="0"/>
          </a:p>
        </p:txBody>
      </p:sp>
      <p:sp>
        <p:nvSpPr>
          <p:cNvPr id="22" name="Shape 20"/>
          <p:cNvSpPr/>
          <p:nvPr/>
        </p:nvSpPr>
        <p:spPr>
          <a:xfrm>
            <a:off x="777240" y="5422392"/>
            <a:ext cx="10625328" cy="612648"/>
          </a:xfrm>
          <a:prstGeom prst="roundRect">
            <a:avLst>
              <a:gd name="adj" fmla="val 11940"/>
            </a:avLst>
          </a:prstGeom>
          <a:solidFill>
            <a:srgbClr val="F9EEEE"/>
          </a:solidFill>
          <a:ln w="11430">
            <a:solidFill>
              <a:srgbClr val="E7CFCF"/>
            </a:solidFill>
            <a:prstDash val="solid"/>
          </a:ln>
        </p:spPr>
      </p:sp>
      <p:sp>
        <p:nvSpPr>
          <p:cNvPr id="23" name="Text 21"/>
          <p:cNvSpPr txBox="1"/>
          <p:nvPr/>
        </p:nvSpPr>
        <p:spPr>
          <a:xfrm>
            <a:off x="960120" y="5559552"/>
            <a:ext cx="10241280" cy="329184"/>
          </a:xfrm>
          <a:prstGeom prst="rect">
            <a:avLst/>
          </a:prstGeom>
          <a:noFill/>
          <a:ln/>
        </p:spPr>
        <p:txBody>
          <a:bodyPr wrap="square" lIns="0" tIns="0" rIns="0" bIns="0" rtlCol="0" anchor="ctr">
            <a:normAutofit fontScale="92500"/>
          </a:bodyPr>
          <a:lstStyle/>
          <a:p>
            <a:pPr marL="0" indent="0" algn="ctr">
              <a:buNone/>
            </a:pPr>
            <a:r>
              <a:rPr lang="en-US" sz="1600" b="1" dirty="0">
                <a:solidFill>
                  <a:srgbClr val="8B4444"/>
                </a:solidFill>
                <a:latin typeface="Calibri" pitchFamily="34" charset="0"/>
                <a:ea typeface="Calibri" pitchFamily="34" charset="-122"/>
                <a:cs typeface="Calibri" pitchFamily="34" charset="-120"/>
              </a:rPr>
              <a:t>Synthetic data only in this prototype. Real-data use would need consent, governance, security, and applicable privacy review.</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21792" y="237744"/>
            <a:ext cx="10881360" cy="201168"/>
          </a:xfrm>
          <a:prstGeom prst="rect">
            <a:avLst/>
          </a:prstGeom>
          <a:noFill/>
          <a:ln/>
        </p:spPr>
        <p:txBody>
          <a:bodyPr wrap="square" lIns="0" tIns="0" rIns="0" bIns="0" rtlCol="0" anchor="ctr">
            <a:normAutofit/>
          </a:bodyPr>
          <a:lstStyle/>
          <a:p>
            <a:pPr marL="0" indent="0" algn="l">
              <a:buNone/>
            </a:pPr>
            <a:r>
              <a:rPr lang="en-US" sz="1000" b="1" kern="0" spc="150" dirty="0">
                <a:solidFill>
                  <a:srgbClr val="0E6671"/>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603504" y="475488"/>
            <a:ext cx="10972800" cy="502920"/>
          </a:xfrm>
          <a:prstGeom prst="rect">
            <a:avLst/>
          </a:prstGeom>
          <a:noFill/>
          <a:ln/>
        </p:spPr>
        <p:txBody>
          <a:bodyPr wrap="square" lIns="0" tIns="0" rIns="0" bIns="0" rtlCol="0" anchor="ctr">
            <a:normAutofit/>
          </a:bodyPr>
          <a:lstStyle/>
          <a:p>
            <a:pPr marL="0" indent="0" algn="l">
              <a:buNone/>
            </a:pPr>
            <a:r>
              <a:rPr lang="en-US" sz="3100" b="1" dirty="0">
                <a:solidFill>
                  <a:srgbClr val="172D33"/>
                </a:solidFill>
                <a:latin typeface="Calibri" pitchFamily="34" charset="0"/>
                <a:ea typeface="Calibri" pitchFamily="34" charset="-122"/>
                <a:cs typeface="Calibri" pitchFamily="34" charset="-120"/>
              </a:rPr>
              <a:t>Move from simulation to responsible evaluation</a:t>
            </a:r>
            <a:endParaRPr lang="en-US" sz="3100" dirty="0"/>
          </a:p>
        </p:txBody>
      </p:sp>
      <p:sp>
        <p:nvSpPr>
          <p:cNvPr id="4" name="Text 2"/>
          <p:cNvSpPr txBox="1"/>
          <p:nvPr/>
        </p:nvSpPr>
        <p:spPr>
          <a:xfrm>
            <a:off x="621792" y="996696"/>
            <a:ext cx="10789920" cy="310896"/>
          </a:xfrm>
          <a:prstGeom prst="rect">
            <a:avLst/>
          </a:prstGeom>
          <a:noFill/>
          <a:ln/>
        </p:spPr>
        <p:txBody>
          <a:bodyPr wrap="square" lIns="0" tIns="0" rIns="0" bIns="0" rtlCol="0" anchor="ctr">
            <a:normAutofit/>
          </a:bodyPr>
          <a:lstStyle/>
          <a:p>
            <a:pPr marL="0" indent="0" algn="l">
              <a:buNone/>
            </a:pPr>
            <a:r>
              <a:rPr lang="en-US" sz="1600" dirty="0">
                <a:solidFill>
                  <a:srgbClr val="586B72"/>
                </a:solidFill>
                <a:latin typeface="Calibri" pitchFamily="34" charset="0"/>
                <a:ea typeface="Calibri" pitchFamily="34" charset="-122"/>
                <a:cs typeface="Calibri" pitchFamily="34" charset="-120"/>
              </a:rPr>
              <a:t>The next milestone is validation, not a stronger claim.</a:t>
            </a:r>
            <a:endParaRPr lang="en-US" sz="1600" dirty="0"/>
          </a:p>
        </p:txBody>
      </p:sp>
      <p:sp>
        <p:nvSpPr>
          <p:cNvPr id="5" name="Shape 3"/>
          <p:cNvSpPr/>
          <p:nvPr/>
        </p:nvSpPr>
        <p:spPr>
          <a:xfrm>
            <a:off x="621792" y="1335024"/>
            <a:ext cx="658368" cy="41148"/>
          </a:xfrm>
          <a:prstGeom prst="rect">
            <a:avLst/>
          </a:prstGeom>
          <a:solidFill>
            <a:srgbClr val="0E6671"/>
          </a:solidFill>
          <a:ln w="10160">
            <a:solidFill>
              <a:srgbClr val="0E6671"/>
            </a:solidFill>
            <a:prstDash val="solid"/>
          </a:ln>
        </p:spPr>
      </p:sp>
      <p:sp>
        <p:nvSpPr>
          <p:cNvPr id="6" name="Shape 4"/>
          <p:cNvSpPr/>
          <p:nvPr/>
        </p:nvSpPr>
        <p:spPr>
          <a:xfrm>
            <a:off x="731520" y="1664208"/>
            <a:ext cx="6400800" cy="4160520"/>
          </a:xfrm>
          <a:prstGeom prst="roundRect">
            <a:avLst>
              <a:gd name="adj" fmla="val 1758"/>
            </a:avLst>
          </a:prstGeom>
          <a:solidFill>
            <a:srgbClr val="FFFFFF"/>
          </a:solidFill>
          <a:ln w="11430">
            <a:solidFill>
              <a:srgbClr val="D8E1E4"/>
            </a:solidFill>
            <a:prstDash val="solid"/>
          </a:ln>
        </p:spPr>
      </p:sp>
      <p:sp>
        <p:nvSpPr>
          <p:cNvPr id="7" name="Shape 5"/>
          <p:cNvSpPr/>
          <p:nvPr/>
        </p:nvSpPr>
        <p:spPr>
          <a:xfrm>
            <a:off x="731520" y="1664208"/>
            <a:ext cx="64008" cy="4160520"/>
          </a:xfrm>
          <a:prstGeom prst="rect">
            <a:avLst/>
          </a:prstGeom>
          <a:solidFill>
            <a:srgbClr val="0E6671"/>
          </a:solidFill>
          <a:ln w="10160">
            <a:solidFill>
              <a:srgbClr val="0E6671"/>
            </a:solidFill>
            <a:prstDash val="solid"/>
          </a:ln>
        </p:spPr>
      </p:sp>
      <p:sp>
        <p:nvSpPr>
          <p:cNvPr id="8" name="Shape 6"/>
          <p:cNvSpPr/>
          <p:nvPr/>
        </p:nvSpPr>
        <p:spPr>
          <a:xfrm>
            <a:off x="1024128" y="2066544"/>
            <a:ext cx="86868" cy="86868"/>
          </a:xfrm>
          <a:prstGeom prst="ellipse">
            <a:avLst/>
          </a:prstGeom>
          <a:solidFill>
            <a:srgbClr val="0E6671"/>
          </a:solidFill>
          <a:ln w="6350">
            <a:solidFill>
              <a:srgbClr val="0E6671"/>
            </a:solidFill>
            <a:prstDash val="solid"/>
          </a:ln>
        </p:spPr>
      </p:sp>
      <p:sp>
        <p:nvSpPr>
          <p:cNvPr id="9" name="Text 7"/>
          <p:cNvSpPr txBox="1"/>
          <p:nvPr/>
        </p:nvSpPr>
        <p:spPr>
          <a:xfrm>
            <a:off x="1216152" y="1956816"/>
            <a:ext cx="5495544" cy="530352"/>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Validate on real, consented, de-identified data with clinicians</a:t>
            </a:r>
            <a:endParaRPr lang="en-US" sz="1700" dirty="0"/>
          </a:p>
        </p:txBody>
      </p:sp>
      <p:sp>
        <p:nvSpPr>
          <p:cNvPr id="10" name="Shape 8"/>
          <p:cNvSpPr/>
          <p:nvPr/>
        </p:nvSpPr>
        <p:spPr>
          <a:xfrm>
            <a:off x="1024128" y="2761488"/>
            <a:ext cx="86868" cy="86868"/>
          </a:xfrm>
          <a:prstGeom prst="ellipse">
            <a:avLst/>
          </a:prstGeom>
          <a:solidFill>
            <a:srgbClr val="0E6671"/>
          </a:solidFill>
          <a:ln w="6350">
            <a:solidFill>
              <a:srgbClr val="0E6671"/>
            </a:solidFill>
            <a:prstDash val="solid"/>
          </a:ln>
        </p:spPr>
      </p:sp>
      <p:sp>
        <p:nvSpPr>
          <p:cNvPr id="11" name="Text 9"/>
          <p:cNvSpPr txBox="1"/>
          <p:nvPr/>
        </p:nvSpPr>
        <p:spPr>
          <a:xfrm>
            <a:off x="1216152" y="2651760"/>
            <a:ext cx="5495544" cy="530352"/>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Replace synthetic pollution with sourced CPCB / OpenAQ data</a:t>
            </a:r>
            <a:endParaRPr lang="en-US" sz="1700" dirty="0"/>
          </a:p>
        </p:txBody>
      </p:sp>
      <p:sp>
        <p:nvSpPr>
          <p:cNvPr id="12" name="Shape 10"/>
          <p:cNvSpPr/>
          <p:nvPr/>
        </p:nvSpPr>
        <p:spPr>
          <a:xfrm>
            <a:off x="1024128" y="3456432"/>
            <a:ext cx="86868" cy="86868"/>
          </a:xfrm>
          <a:prstGeom prst="ellipse">
            <a:avLst/>
          </a:prstGeom>
          <a:solidFill>
            <a:srgbClr val="0E6671"/>
          </a:solidFill>
          <a:ln w="6350">
            <a:solidFill>
              <a:srgbClr val="0E6671"/>
            </a:solidFill>
            <a:prstDash val="solid"/>
          </a:ln>
        </p:spPr>
      </p:sp>
      <p:sp>
        <p:nvSpPr>
          <p:cNvPr id="13" name="Text 11"/>
          <p:cNvSpPr txBox="1"/>
          <p:nvPr/>
        </p:nvSpPr>
        <p:spPr>
          <a:xfrm>
            <a:off x="1216152" y="3346704"/>
            <a:ext cx="5495544" cy="530352"/>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Integrate real wearable data with provenance and quality checks</a:t>
            </a:r>
            <a:endParaRPr lang="en-US" sz="1700" dirty="0"/>
          </a:p>
        </p:txBody>
      </p:sp>
      <p:sp>
        <p:nvSpPr>
          <p:cNvPr id="14" name="Shape 12"/>
          <p:cNvSpPr/>
          <p:nvPr/>
        </p:nvSpPr>
        <p:spPr>
          <a:xfrm>
            <a:off x="1024128" y="4151376"/>
            <a:ext cx="86868" cy="86868"/>
          </a:xfrm>
          <a:prstGeom prst="ellipse">
            <a:avLst/>
          </a:prstGeom>
          <a:solidFill>
            <a:srgbClr val="0E6671"/>
          </a:solidFill>
          <a:ln w="6350">
            <a:solidFill>
              <a:srgbClr val="0E6671"/>
            </a:solidFill>
            <a:prstDash val="solid"/>
          </a:ln>
        </p:spPr>
      </p:sp>
      <p:sp>
        <p:nvSpPr>
          <p:cNvPr id="15" name="Text 13"/>
          <p:cNvSpPr txBox="1"/>
          <p:nvPr/>
        </p:nvSpPr>
        <p:spPr>
          <a:xfrm>
            <a:off x="1216152" y="4041648"/>
            <a:ext cx="5495544" cy="530352"/>
          </a:xfrm>
          <a:prstGeom prst="rect">
            <a:avLst/>
          </a:prstGeom>
          <a:noFill/>
          <a:ln/>
        </p:spPr>
        <p:txBody>
          <a:bodyPr wrap="square" lIns="0" tIns="0" rIns="0" bIns="0" rtlCol="0" anchor="t">
            <a:normAutofit/>
          </a:bodyPr>
          <a:lstStyle/>
          <a:p>
            <a:pPr marL="0" indent="0" algn="l">
              <a:buNone/>
            </a:pPr>
            <a:r>
              <a:rPr lang="en-US" sz="1700" dirty="0">
                <a:solidFill>
                  <a:srgbClr val="172D33"/>
                </a:solidFill>
                <a:latin typeface="Calibri" pitchFamily="34" charset="0"/>
                <a:ea typeface="Calibri" pitchFamily="34" charset="-122"/>
                <a:cs typeface="Calibri" pitchFamily="34" charset="-120"/>
              </a:rPr>
              <a:t>Plan prospective evaluation with appropriate governance</a:t>
            </a:r>
            <a:endParaRPr lang="en-US" sz="1700" dirty="0"/>
          </a:p>
        </p:txBody>
      </p:sp>
      <p:sp>
        <p:nvSpPr>
          <p:cNvPr id="16" name="Shape 14"/>
          <p:cNvSpPr/>
          <p:nvPr/>
        </p:nvSpPr>
        <p:spPr>
          <a:xfrm>
            <a:off x="1024128" y="4846320"/>
            <a:ext cx="86868" cy="86868"/>
          </a:xfrm>
          <a:prstGeom prst="ellipse">
            <a:avLst/>
          </a:prstGeom>
          <a:solidFill>
            <a:srgbClr val="0E6671"/>
          </a:solidFill>
          <a:ln w="6350">
            <a:solidFill>
              <a:srgbClr val="0E6671"/>
            </a:solidFill>
            <a:prstDash val="solid"/>
          </a:ln>
        </p:spPr>
      </p:sp>
      <p:sp>
        <p:nvSpPr>
          <p:cNvPr id="17" name="Text 15"/>
          <p:cNvSpPr txBox="1"/>
          <p:nvPr/>
        </p:nvSpPr>
        <p:spPr>
          <a:xfrm>
            <a:off x="1216152" y="4736592"/>
            <a:ext cx="5495544" cy="530352"/>
          </a:xfrm>
          <a:prstGeom prst="rect">
            <a:avLst/>
          </a:prstGeom>
          <a:noFill/>
          <a:ln/>
        </p:spPr>
        <p:txBody>
          <a:bodyPr wrap="square" lIns="0" tIns="0" rIns="0" bIns="0" rtlCol="0" anchor="t">
            <a:normAutofit/>
          </a:bodyPr>
          <a:lstStyle/>
          <a:p>
            <a:pPr>
              <a:defRPr sz="1700">
                <a:solidFill>
                  <a:srgbClr val="111827"/>
                </a:solidFill>
              </a:defRPr>
            </a:pPr>
            <a:r>
              <a:rPr sz="1700">
                <a:solidFill>
                  <a:srgbClr val="111827"/>
                </a:solidFill>
              </a:rPr>
              <a:t>Re-test what-if consistency on larger cohorts and real data</a:t>
            </a:r>
          </a:p>
        </p:txBody>
      </p:sp>
      <p:sp>
        <p:nvSpPr>
          <p:cNvPr id="18" name="Shape 16"/>
          <p:cNvSpPr/>
          <p:nvPr/>
        </p:nvSpPr>
        <p:spPr>
          <a:xfrm>
            <a:off x="7452360" y="1664208"/>
            <a:ext cx="3977640" cy="4160520"/>
          </a:xfrm>
          <a:prstGeom prst="roundRect">
            <a:avLst>
              <a:gd name="adj" fmla="val 1839"/>
            </a:avLst>
          </a:prstGeom>
          <a:solidFill>
            <a:srgbClr val="EFF7F7"/>
          </a:solidFill>
          <a:ln w="11430">
            <a:solidFill>
              <a:srgbClr val="C5DBDE"/>
            </a:solidFill>
            <a:prstDash val="solid"/>
          </a:ln>
        </p:spPr>
      </p:sp>
      <p:sp>
        <p:nvSpPr>
          <p:cNvPr id="19" name="Text 17"/>
          <p:cNvSpPr txBox="1"/>
          <p:nvPr/>
        </p:nvSpPr>
        <p:spPr>
          <a:xfrm>
            <a:off x="7754112" y="1984248"/>
            <a:ext cx="32461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PROJECT REPOSITORY</a:t>
            </a:r>
            <a:endParaRPr lang="en-US" sz="1000" dirty="0"/>
          </a:p>
        </p:txBody>
      </p:sp>
      <p:sp>
        <p:nvSpPr>
          <p:cNvPr id="20" name="Text 18"/>
          <p:cNvSpPr txBox="1"/>
          <p:nvPr/>
        </p:nvSpPr>
        <p:spPr>
          <a:xfrm>
            <a:off x="7754112" y="2313432"/>
            <a:ext cx="3154680" cy="457200"/>
          </a:xfrm>
          <a:prstGeom prst="rect">
            <a:avLst/>
          </a:prstGeom>
          <a:noFill/>
          <a:ln/>
        </p:spPr>
        <p:txBody>
          <a:bodyPr wrap="square" lIns="0" tIns="0" rIns="0" bIns="0" rtlCol="0" anchor="ctr">
            <a:normAutofit/>
          </a:bodyPr>
          <a:lstStyle/>
          <a:p>
            <a:pPr marL="0" indent="0" algn="l">
              <a:buNone/>
            </a:pPr>
            <a:r>
              <a:rPr lang="en-US" sz="2700" b="1" dirty="0">
                <a:solidFill>
                  <a:srgbClr val="113E47"/>
                </a:solidFill>
                <a:latin typeface="Calibri" pitchFamily="34" charset="0"/>
                <a:ea typeface="Calibri" pitchFamily="34" charset="-122"/>
                <a:cs typeface="Calibri" pitchFamily="34" charset="-120"/>
              </a:rPr>
              <a:t>GitHub</a:t>
            </a:r>
            <a:endParaRPr lang="en-US" sz="2700" dirty="0"/>
          </a:p>
        </p:txBody>
      </p:sp>
      <p:sp>
        <p:nvSpPr>
          <p:cNvPr id="21" name="Text 19"/>
          <p:cNvSpPr txBox="1"/>
          <p:nvPr/>
        </p:nvSpPr>
        <p:spPr>
          <a:xfrm>
            <a:off x="7754112" y="2816352"/>
            <a:ext cx="3246120" cy="530352"/>
          </a:xfrm>
          <a:prstGeom prst="rect">
            <a:avLst/>
          </a:prstGeom>
          <a:noFill/>
          <a:ln/>
        </p:spPr>
        <p:txBody>
          <a:bodyPr wrap="square" lIns="0" tIns="0" rIns="0" bIns="0" rtlCol="0" anchor="t">
            <a:normAutofit/>
          </a:bodyPr>
          <a:lstStyle/>
          <a:p>
            <a:pPr marL="0" indent="0" algn="l">
              <a:buNone/>
            </a:pPr>
            <a:r>
              <a:rPr lang="en-US" sz="1300" b="1" dirty="0">
                <a:solidFill>
                  <a:srgbClr val="0E6671"/>
                </a:solidFill>
                <a:latin typeface="Calibri" pitchFamily="34" charset="0"/>
                <a:ea typeface="Calibri" pitchFamily="34" charset="-122"/>
                <a:cs typeface="Calibri" pitchFamily="34" charset="-120"/>
              </a:rPr>
              <a:t>github.com/dhruvishah-crypto/</a:t>
            </a:r>
            <a:endParaRPr lang="en-US" sz="1300" dirty="0"/>
          </a:p>
          <a:p>
            <a:pPr marL="0" indent="0" algn="l">
              <a:buNone/>
            </a:pPr>
            <a:r>
              <a:rPr lang="en-US" sz="1300" b="1" dirty="0">
                <a:solidFill>
                  <a:srgbClr val="0E6671"/>
                </a:solidFill>
                <a:latin typeface="Calibri" pitchFamily="34" charset="0"/>
                <a:ea typeface="Calibri" pitchFamily="34" charset="-122"/>
                <a:cs typeface="Calibri" pitchFamily="34" charset="-120"/>
              </a:rPr>
              <a:t>digital-twin-challenge</a:t>
            </a:r>
            <a:endParaRPr lang="en-US" sz="1300" dirty="0"/>
          </a:p>
        </p:txBody>
      </p:sp>
      <p:sp>
        <p:nvSpPr>
          <p:cNvPr id="22" name="Shape 20"/>
          <p:cNvSpPr/>
          <p:nvPr/>
        </p:nvSpPr>
        <p:spPr>
          <a:xfrm>
            <a:off x="7754112" y="3401568"/>
            <a:ext cx="3182112" cy="18288"/>
          </a:xfrm>
          <a:prstGeom prst="rect">
            <a:avLst/>
          </a:prstGeom>
          <a:solidFill>
            <a:srgbClr val="C0D7DA"/>
          </a:solidFill>
          <a:ln w="10160">
            <a:solidFill>
              <a:srgbClr val="C0D7DA"/>
            </a:solidFill>
            <a:prstDash val="solid"/>
          </a:ln>
        </p:spPr>
      </p:sp>
      <p:sp>
        <p:nvSpPr>
          <p:cNvPr id="23" name="Text 21"/>
          <p:cNvSpPr txBox="1"/>
          <p:nvPr/>
        </p:nvSpPr>
        <p:spPr>
          <a:xfrm>
            <a:off x="7754112" y="3694176"/>
            <a:ext cx="3017520" cy="182880"/>
          </a:xfrm>
          <a:prstGeom prst="rect">
            <a:avLst/>
          </a:prstGeom>
          <a:noFill/>
          <a:ln/>
        </p:spPr>
        <p:txBody>
          <a:bodyPr wrap="square" lIns="0" tIns="0" rIns="0" bIns="0" rtlCol="0" anchor="ctr">
            <a:normAutofit/>
          </a:bodyPr>
          <a:lstStyle/>
          <a:p>
            <a:pPr marL="0" indent="0" algn="l">
              <a:buNone/>
            </a:pPr>
            <a:r>
              <a:rPr lang="en-US" sz="1000" b="1" kern="0" spc="115" dirty="0">
                <a:solidFill>
                  <a:srgbClr val="0E6671"/>
                </a:solidFill>
                <a:latin typeface="Calibri" pitchFamily="34" charset="0"/>
                <a:ea typeface="Calibri" pitchFamily="34" charset="-122"/>
                <a:cs typeface="Calibri" pitchFamily="34" charset="-120"/>
              </a:rPr>
              <a:t>TEAM CONTACT</a:t>
            </a:r>
            <a:endParaRPr lang="en-US" sz="1000" dirty="0"/>
          </a:p>
        </p:txBody>
      </p:sp>
      <p:sp>
        <p:nvSpPr>
          <p:cNvPr id="24" name="Text 22"/>
          <p:cNvSpPr txBox="1"/>
          <p:nvPr/>
        </p:nvSpPr>
        <p:spPr>
          <a:xfrm>
            <a:off x="7754112" y="3995928"/>
            <a:ext cx="3154680" cy="502920"/>
          </a:xfrm>
          <a:prstGeom prst="rect">
            <a:avLst/>
          </a:prstGeom>
          <a:noFill/>
          <a:ln/>
        </p:spPr>
        <p:txBody>
          <a:bodyPr wrap="square" lIns="0" tIns="0" rIns="0" bIns="0" rtlCol="0" anchor="t">
            <a:normAutofit/>
          </a:bodyPr>
          <a:lstStyle/>
          <a:p>
            <a:pPr>
              <a:defRPr sz="1300" b="1">
                <a:solidFill>
                  <a:srgbClr val="0E6671"/>
                </a:solidFill>
              </a:defRPr>
            </a:pPr>
            <a:r>
              <a:rPr sz="1300" b="1">
                <a:solidFill>
                  <a:srgbClr val="0E6671"/>
                </a:solidFill>
              </a:rPr>
              <a:t>GitHub: github.com/dhruvishah-crypto</a:t>
            </a:r>
          </a:p>
        </p:txBody>
      </p:sp>
      <p:sp>
        <p:nvSpPr>
          <p:cNvPr id="25" name="Text 23"/>
          <p:cNvSpPr txBox="1"/>
          <p:nvPr/>
        </p:nvSpPr>
        <p:spPr>
          <a:xfrm>
            <a:off x="7754112" y="5074920"/>
            <a:ext cx="3108960" cy="475488"/>
          </a:xfrm>
          <a:prstGeom prst="rect">
            <a:avLst/>
          </a:prstGeom>
          <a:noFill/>
          <a:ln/>
        </p:spPr>
        <p:txBody>
          <a:bodyPr wrap="square" lIns="0" tIns="0" rIns="0" bIns="0" rtlCol="0" anchor="ctr">
            <a:normAutofit/>
          </a:bodyPr>
          <a:lstStyle/>
          <a:p>
            <a:pPr marL="0" indent="0" algn="l">
              <a:buNone/>
            </a:pPr>
            <a:r>
              <a:rPr lang="en-US" sz="2800" b="1" dirty="0">
                <a:solidFill>
                  <a:srgbClr val="0E6671"/>
                </a:solidFill>
                <a:latin typeface="Calibri" pitchFamily="34" charset="0"/>
                <a:ea typeface="Calibri" pitchFamily="34" charset="-122"/>
                <a:cs typeface="Calibri" pitchFamily="34" charset="-120"/>
              </a:rPr>
              <a:t>Thank you</a:t>
            </a:r>
            <a:endParaRPr lang="en-US" sz="2800" dirty="0"/>
          </a:p>
        </p:txBody>
      </p:sp>
      <p:sp>
        <p:nvSpPr>
          <p:cNvPr id="26" name="Text 24"/>
          <p:cNvSpPr txBox="1"/>
          <p:nvPr/>
        </p:nvSpPr>
        <p:spPr>
          <a:xfrm>
            <a:off x="822960" y="6080760"/>
            <a:ext cx="10515600" cy="237744"/>
          </a:xfrm>
          <a:prstGeom prst="rect">
            <a:avLst/>
          </a:prstGeom>
          <a:noFill/>
          <a:ln/>
        </p:spPr>
        <p:txBody>
          <a:bodyPr wrap="square" lIns="0" tIns="0" rIns="0" bIns="0" rtlCol="0" anchor="ctr">
            <a:normAutofit/>
          </a:bodyPr>
          <a:lstStyle/>
          <a:p>
            <a:pPr marL="0" indent="0" algn="ctr">
              <a:buNone/>
            </a:pPr>
            <a:r>
              <a:rPr lang="en-US" sz="1500" b="1" dirty="0">
                <a:solidFill>
                  <a:srgbClr val="586B72"/>
                </a:solidFill>
                <a:latin typeface="Calibri" pitchFamily="34" charset="0"/>
                <a:ea typeface="Calibri" pitchFamily="34" charset="-122"/>
                <a:cs typeface="Calibri" pitchFamily="34" charset="-120"/>
              </a:rPr>
              <a:t>RespiraTwin · Research prototype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21792" y="237744"/>
            <a:ext cx="10881360" cy="201168"/>
          </a:xfrm>
          <a:prstGeom prst="rect">
            <a:avLst/>
          </a:prstGeom>
          <a:noFill/>
        </p:spPr>
        <p:txBody>
          <a:bodyPr wrap="none">
            <a:spAutoFit/>
          </a:bodyPr>
          <a:lstStyle/>
          <a:p>
            <a:pPr>
              <a:defRPr sz="1000" b="1">
                <a:solidFill>
                  <a:srgbClr val="0E6671"/>
                </a:solidFill>
              </a:defRPr>
            </a:pPr>
            <a:r>
              <a:rPr sz="1000" b="1">
                <a:solidFill>
                  <a:srgbClr val="0E6671"/>
                </a:solidFill>
              </a:rPr>
              <a:t>APPENDIX</a:t>
            </a:r>
          </a:p>
        </p:txBody>
      </p:sp>
      <p:sp>
        <p:nvSpPr>
          <p:cNvPr id="3" name="TextBox 2"/>
          <p:cNvSpPr txBox="1"/>
          <p:nvPr/>
        </p:nvSpPr>
        <p:spPr>
          <a:xfrm>
            <a:off x="603504" y="475488"/>
            <a:ext cx="10972800" cy="502920"/>
          </a:xfrm>
          <a:prstGeom prst="rect">
            <a:avLst/>
          </a:prstGeom>
          <a:noFill/>
        </p:spPr>
        <p:txBody>
          <a:bodyPr wrap="none">
            <a:spAutoFit/>
          </a:bodyPr>
          <a:lstStyle/>
          <a:p>
            <a:pPr>
              <a:defRPr sz="2400" b="1">
                <a:solidFill>
                  <a:srgbClr val="111827"/>
                </a:solidFill>
              </a:defRPr>
            </a:pPr>
            <a:r>
              <a:rPr sz="2400" b="1">
                <a:solidFill>
                  <a:srgbClr val="111827"/>
                </a:solidFill>
              </a:rPr>
              <a:t>Appendix: detailed architecture</a:t>
            </a:r>
          </a:p>
        </p:txBody>
      </p:sp>
      <p:sp>
        <p:nvSpPr>
          <p:cNvPr id="4" name="TextBox 3"/>
          <p:cNvSpPr txBox="1"/>
          <p:nvPr/>
        </p:nvSpPr>
        <p:spPr>
          <a:xfrm>
            <a:off x="621792" y="996696"/>
            <a:ext cx="10789920" cy="310896"/>
          </a:xfrm>
          <a:prstGeom prst="rect">
            <a:avLst/>
          </a:prstGeom>
          <a:noFill/>
        </p:spPr>
        <p:txBody>
          <a:bodyPr wrap="none">
            <a:spAutoFit/>
          </a:bodyPr>
          <a:lstStyle/>
          <a:p>
            <a:pPr>
              <a:defRPr sz="1300">
                <a:solidFill>
                  <a:srgbClr val="475569"/>
                </a:solidFill>
              </a:defRPr>
            </a:pPr>
            <a:r>
              <a:rPr sz="1300">
                <a:solidFill>
                  <a:srgbClr val="475569"/>
                </a:solidFill>
              </a:rPr>
              <a:t>End-to-end data ingestion, rolling feature engineering, constrained forecasting, and what-if digital twin.</a:t>
            </a:r>
          </a:p>
        </p:txBody>
      </p:sp>
      <p:sp>
        <p:nvSpPr>
          <p:cNvPr id="5" name="Rectangle 4"/>
          <p:cNvSpPr/>
          <p:nvPr/>
        </p:nvSpPr>
        <p:spPr>
          <a:xfrm>
            <a:off x="621792" y="1335024"/>
            <a:ext cx="658368" cy="41148"/>
          </a:xfrm>
          <a:prstGeom prst="rect">
            <a:avLst/>
          </a:prstGeom>
          <a:solidFill>
            <a:srgbClr val="0E6671"/>
          </a:solidFill>
          <a:ln>
            <a:solidFill>
              <a:srgbClr val="0E66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1792" y="6060000"/>
            <a:ext cx="10972800" cy="260000"/>
          </a:xfrm>
          <a:prstGeom prst="rect">
            <a:avLst/>
          </a:prstGeom>
          <a:noFill/>
        </p:spPr>
        <p:txBody>
          <a:bodyPr wrap="none">
            <a:spAutoFit/>
          </a:bodyPr>
          <a:lstStyle/>
          <a:p>
            <a:pPr algn="ctr">
              <a:defRPr sz="1050">
                <a:solidFill>
                  <a:srgbClr val="64748B"/>
                </a:solidFill>
              </a:defRPr>
            </a:pPr>
            <a:r>
              <a:rPr sz="1050">
                <a:solidFill>
                  <a:srgbClr val="64748B"/>
                </a:solidFill>
              </a:rPr>
              <a:t>System architecture diagram: four-stage ingestion to what-if pipeline with 25 monotone constraints and offline training.</a:t>
            </a:r>
          </a:p>
        </p:txBody>
      </p:sp>
      <p:pic>
        <p:nvPicPr>
          <p:cNvPr id="9" name="Picture 8">
            <a:extLst>
              <a:ext uri="{FF2B5EF4-FFF2-40B4-BE49-F238E27FC236}">
                <a16:creationId xmlns:a16="http://schemas.microsoft.com/office/drawing/2014/main" id="{DF22E6C0-0D21-F376-25F5-7F676F191754}"/>
              </a:ext>
            </a:extLst>
          </p:cNvPr>
          <p:cNvPicPr>
            <a:picLocks noChangeAspect="1"/>
          </p:cNvPicPr>
          <p:nvPr/>
        </p:nvPicPr>
        <p:blipFill>
          <a:blip r:embed="rId3"/>
          <a:stretch>
            <a:fillRect/>
          </a:stretch>
        </p:blipFill>
        <p:spPr>
          <a:xfrm>
            <a:off x="621792" y="1403604"/>
            <a:ext cx="9540132" cy="4999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4171</Words>
  <Application>Microsoft Office PowerPoint</Application>
  <PresentationFormat>Widescreen</PresentationFormat>
  <Paragraphs>262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RespiraTwin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RespiraTwin: An Asthma Digital Twin for Early Warning</dc:title>
  <dc:subject>Happiest Health Digital Twin Challenge 2026</dc:subject>
  <dc:creator>RespiraTwin Team</dc:creator>
  <cp:lastModifiedBy>amita shah</cp:lastModifiedBy>
  <cp:revision>5</cp:revision>
  <dcterms:created xsi:type="dcterms:W3CDTF">2026-10-20T06:29:59Z</dcterms:created>
  <dcterms:modified xsi:type="dcterms:W3CDTF">2026-10-20T11:10:29Z</dcterms:modified>
</cp:coreProperties>
</file>